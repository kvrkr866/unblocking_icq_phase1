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10287000" cx="18288000"/>
  <p:notesSz cx="6858000" cy="9144000"/>
  <p:embeddedFontLst>
    <p:embeddedFont>
      <p:font typeface="Roboto"/>
      <p:regular r:id="rId19"/>
      <p:bold r:id="rId20"/>
      <p:italic r:id="rId21"/>
      <p:boldItalic r:id="rId22"/>
    </p:embeddedFont>
    <p:embeddedFont>
      <p:font typeface="Inter"/>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oboto-bold.fntdata"/><Relationship Id="rId22" Type="http://schemas.openxmlformats.org/officeDocument/2006/relationships/font" Target="fonts/Roboto-boldItalic.fntdata"/><Relationship Id="rId21" Type="http://schemas.openxmlformats.org/officeDocument/2006/relationships/font" Target="fonts/Roboto-italic.fntdata"/><Relationship Id="rId24" Type="http://schemas.openxmlformats.org/officeDocument/2006/relationships/font" Target="fonts/Inter-bold.fntdata"/><Relationship Id="rId23" Type="http://schemas.openxmlformats.org/officeDocument/2006/relationships/font" Target="fonts/Inter-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Inter-boldItalic.fntdata"/><Relationship Id="rId25"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mp.lbl.gov/queues" TargetMode="External"/><Relationship Id="rId3" Type="http://schemas.openxmlformats.org/officeDocument/2006/relationships/hyperlink" Target="https://www.latitudemedia.com/news/the-us-interconnection-queue-is-twice-its-installed-capacity/" TargetMode="External"/><Relationship Id="rId4" Type="http://schemas.openxmlformats.org/officeDocument/2006/relationships/hyperlink" Target="https://emp.lbl.gov/queues" TargetMode="External"/><Relationship Id="rId5" Type="http://schemas.openxmlformats.org/officeDocument/2006/relationships/hyperlink" Target="https://www.energy.gov/gdo/clean-energy-resources-meet-data-center-electricity-demand"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62871"/>
              </a:lnSpc>
              <a:spcBef>
                <a:spcPts val="0"/>
              </a:spcBef>
              <a:spcAft>
                <a:spcPts val="0"/>
              </a:spcAft>
              <a:buClr>
                <a:schemeClr val="dk1"/>
              </a:buClr>
              <a:buFont typeface="Arial"/>
              <a:buNone/>
            </a:pPr>
            <a:r>
              <a:rPr lang="en-US" sz="1200">
                <a:solidFill>
                  <a:srgbClr val="141413"/>
                </a:solidFill>
                <a:latin typeface="Roboto"/>
                <a:ea typeface="Roboto"/>
                <a:cs typeface="Roboto"/>
                <a:sym typeface="Roboto"/>
              </a:rPr>
              <a:t>Hello everyone, my name is Junia, and with Alejo and RK we’ve tackled the queue challenge that is affecting the power grid interconnection of electricity loads and generation, especially in the U.S.</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398d74d2a2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rPr>
              <a:t>Extreme weather events have really woken people up to power grids—and how they can fail when we need them most. Meanwhile, we're seeing this huge surge in energy demand coming from AI data centers, mining, metal industries, electrolysis, and more. Plus, we're racing to add new electricity supply from solar plants, gas plants, and other sources.</a:t>
            </a:r>
            <a:endParaRPr sz="1200">
              <a:solidFill>
                <a:schemeClr val="dk1"/>
              </a:solidFill>
            </a:endParaRPr>
          </a:p>
          <a:p>
            <a:pPr indent="0" lvl="0" marL="0" rtl="0" algn="l">
              <a:lnSpc>
                <a:spcPct val="115000"/>
              </a:lnSpc>
              <a:spcBef>
                <a:spcPts val="1200"/>
              </a:spcBef>
              <a:spcAft>
                <a:spcPts val="0"/>
              </a:spcAft>
              <a:buNone/>
            </a:pPr>
            <a:r>
              <a:rPr lang="en-US" sz="1200">
                <a:solidFill>
                  <a:schemeClr val="dk1"/>
                </a:solidFill>
              </a:rPr>
              <a:t>Now, you </a:t>
            </a:r>
            <a:r>
              <a:rPr b="1" lang="en-US" sz="1200">
                <a:solidFill>
                  <a:schemeClr val="dk1"/>
                </a:solidFill>
              </a:rPr>
              <a:t>expect</a:t>
            </a:r>
            <a:r>
              <a:rPr lang="en-US" sz="1200">
                <a:solidFill>
                  <a:schemeClr val="dk1"/>
                </a:solidFill>
              </a:rPr>
              <a:t> all these new loads and generation sources would just plug into the grid. </a:t>
            </a:r>
            <a:endParaRPr sz="1200">
              <a:solidFill>
                <a:schemeClr val="dk1"/>
              </a:solidFill>
            </a:endParaRPr>
          </a:p>
          <a:p>
            <a:pPr indent="0" lvl="0" marL="0" rtl="0" algn="l">
              <a:spcBef>
                <a:spcPts val="1200"/>
              </a:spcBef>
              <a:spcAft>
                <a:spcPts val="0"/>
              </a:spcAft>
              <a:buNone/>
            </a:pPr>
            <a:r>
              <a:t/>
            </a:r>
            <a:endParaRPr/>
          </a:p>
          <a:p>
            <a:pPr indent="0" lvl="0" marL="0" rtl="0" algn="l">
              <a:spcBef>
                <a:spcPts val="0"/>
              </a:spcBef>
              <a:spcAft>
                <a:spcPts val="0"/>
              </a:spcAft>
              <a:buNone/>
            </a:pPr>
            <a:r>
              <a:t/>
            </a:r>
            <a:endParaRPr/>
          </a:p>
        </p:txBody>
      </p:sp>
      <p:sp>
        <p:nvSpPr>
          <p:cNvPr id="93" name="Google Shape;93;g398d74d2a2f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98def4e64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US">
                <a:solidFill>
                  <a:srgbClr val="272525"/>
                </a:solidFill>
              </a:rPr>
              <a:t>But here's the reality check—that's not what's happening. Why? Because our grid infrastructure is simply too outdated to connect loads and generation fast enough to satisfy this surge in electricity demand. This is creating massive interconnection delays and forcing projects to withdraw, which is costing developers billions in lost revenue and exposing utilities to serious operational risks.</a:t>
            </a:r>
            <a:endParaRPr>
              <a:solidFill>
                <a:srgbClr val="272525"/>
              </a:solidFill>
            </a:endParaRPr>
          </a:p>
          <a:p>
            <a:pPr indent="0" lvl="0" marL="0" rtl="0" algn="l">
              <a:lnSpc>
                <a:spcPct val="115000"/>
              </a:lnSpc>
              <a:spcBef>
                <a:spcPts val="1200"/>
              </a:spcBef>
              <a:spcAft>
                <a:spcPts val="0"/>
              </a:spcAft>
              <a:buNone/>
            </a:pPr>
            <a:r>
              <a:rPr lang="en-US">
                <a:solidFill>
                  <a:srgbClr val="272525"/>
                </a:solidFill>
              </a:rPr>
              <a:t>Now, as with any crisis, there's opportunity. The opportunity here is modernizing grid management with interconnection-specific tools—and we're looking at a total addressable market of 2 to 3 billion dollars globally, with about a billion in the U.S. alone.</a:t>
            </a:r>
            <a:endParaRPr/>
          </a:p>
          <a:p>
            <a:pPr indent="0" lvl="0" marL="0" rtl="0" algn="l">
              <a:spcBef>
                <a:spcPts val="1200"/>
              </a:spcBef>
              <a:spcAft>
                <a:spcPts val="0"/>
              </a:spcAft>
              <a:buNone/>
            </a:pPr>
            <a:r>
              <a:t/>
            </a:r>
            <a:endParaRPr/>
          </a:p>
          <a:p>
            <a:pPr indent="0" lvl="0" marL="0" rtl="0" algn="l">
              <a:spcBef>
                <a:spcPts val="0"/>
              </a:spcBef>
              <a:spcAft>
                <a:spcPts val="0"/>
              </a:spcAft>
              <a:buNone/>
            </a:pPr>
            <a:r>
              <a:rPr lang="en-US"/>
              <a:t>* $50-80B: The annual estimate starts at the </a:t>
            </a:r>
            <a:r>
              <a:rPr lang="en-US">
                <a:solidFill>
                  <a:schemeClr val="dk1"/>
                </a:solidFill>
              </a:rPr>
              <a:t>U.S.-level</a:t>
            </a:r>
            <a:r>
              <a:rPr lang="en-US"/>
              <a:t> based on 2023-2024 data and derived from two separate components: (a) developers' lost revenue from delayed or withdrawn projects in interconnection queues, and (b) utilities' operational risks from grid instability (e.g., outages tied to poor interconnections).</a:t>
            </a:r>
            <a:endParaRPr/>
          </a:p>
          <a:p>
            <a:pPr indent="0" lvl="0" marL="0" rtl="0" algn="l">
              <a:spcBef>
                <a:spcPts val="0"/>
              </a:spcBef>
              <a:spcAft>
                <a:spcPts val="0"/>
              </a:spcAft>
              <a:buNone/>
            </a:pPr>
            <a:r>
              <a:rPr lang="en-US"/>
              <a:t>The focus on renewables and storage (95% of the U.S. interconnection queue) is based on LBNL data, which shows that as of end-2023, the queue totaled 2,600 GW, with solar (1,086 GW), battery storage (947 GW), wind (300 GW), and hybrids (675 GW) comprising over 95% of capacity, while gas (74 GW) and other non-renewables are minor (&lt;5%) (https://emp.lbl.gov/queues). This justifies the emphasis, as the queue is overwhelmingly renewables/storage-driven, with loads like data centers adding similar but smaller impacts (e.g., data centers projected at 50-130 GW cumulative demand by 2030, often handled via separate utility processes rather than main queues) (</a:t>
            </a:r>
            <a:r>
              <a:rPr lang="en-US" u="sng">
                <a:solidFill>
                  <a:schemeClr val="hlink"/>
                </a:solidFill>
                <a:hlinkClick r:id="rId2"/>
              </a:rPr>
              <a:t>https://emp.lbl.gov/queues</a:t>
            </a:r>
            <a:r>
              <a:rPr lang="en-US"/>
              <a:t>, </a:t>
            </a:r>
            <a:r>
              <a:rPr lang="en-US" u="sng">
                <a:solidFill>
                  <a:schemeClr val="hlink"/>
                </a:solidFill>
                <a:hlinkClick r:id="rId3"/>
              </a:rPr>
              <a:t>https://www.latitudemedia.com/news/the-us-interconnection-queue-is-twice-its-installed-capacity/</a:t>
            </a:r>
            <a:r>
              <a:rPr lang="en-US"/>
              <a:t>). Loads are not ignored but treated additively in calculations below, as they exacerbate delays but represent &lt;5% of current queue volume (</a:t>
            </a:r>
            <a:r>
              <a:rPr lang="en-US" u="sng">
                <a:solidFill>
                  <a:schemeClr val="hlink"/>
                </a:solidFill>
                <a:hlinkClick r:id="rId4"/>
              </a:rPr>
              <a:t>https://emp.lbl.gov/queues</a:t>
            </a:r>
            <a:r>
              <a:rPr lang="en-US"/>
              <a:t>). This avoids overestimation while capturing the dominant driver of lost revenue and risks.</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Part A: Developers' Lost Revenue ($10-15B Annually)</a:t>
            </a:r>
            <a:endParaRPr/>
          </a:p>
          <a:p>
            <a:pPr indent="-298450" lvl="0" marL="457200" rtl="0" algn="l">
              <a:spcBef>
                <a:spcPts val="0"/>
              </a:spcBef>
              <a:spcAft>
                <a:spcPts val="0"/>
              </a:spcAft>
              <a:buSzPts val="1100"/>
              <a:buChar char="-"/>
            </a:pPr>
            <a:r>
              <a:rPr lang="en-US"/>
              <a:t>Determine Queue Size and Withdrawal Rate</a:t>
            </a:r>
            <a:endParaRPr/>
          </a:p>
          <a:p>
            <a:pPr indent="0" lvl="0" marL="457200" rtl="0" algn="l">
              <a:spcBef>
                <a:spcPts val="0"/>
              </a:spcBef>
              <a:spcAft>
                <a:spcPts val="0"/>
              </a:spcAft>
              <a:buNone/>
            </a:pPr>
            <a:r>
              <a:rPr lang="en-US"/>
              <a:t>The U.S. queue is 2,600 GW (end-2023; latest LBL data, projected steady to 2024 as queues grew 27% in 2023) (https://emp.lbl.gov/queues). Withdrawal rate 80% (cumulative; 2,080 GW unbuilt). Average delay 3-5 years (midpoint 4 years for operational projects) (https://emp.lbl.gov/queues). Annual effective lost capacity: 2,080 GW / 4 years = 520 GW/year.</a:t>
            </a:r>
            <a:endParaRPr/>
          </a:p>
          <a:p>
            <a:pPr indent="0" lvl="0" marL="457200" rtl="0" algn="l">
              <a:spcBef>
                <a:spcPts val="0"/>
              </a:spcBef>
              <a:spcAft>
                <a:spcPts val="0"/>
              </a:spcAft>
              <a:buNone/>
            </a:pPr>
            <a:r>
              <a:rPr lang="en-US"/>
              <a:t>(No miss: Includes delays for completers; loads additive below.).</a:t>
            </a:r>
            <a:endParaRPr/>
          </a:p>
          <a:p>
            <a:pPr indent="-298450" lvl="0" marL="457200" rtl="0" algn="l">
              <a:spcBef>
                <a:spcPts val="0"/>
              </a:spcBef>
              <a:spcAft>
                <a:spcPts val="0"/>
              </a:spcAft>
              <a:buSzPts val="1100"/>
              <a:buChar char="-"/>
            </a:pPr>
            <a:r>
              <a:rPr lang="en-US"/>
              <a:t>Estimate Forgone Generation per GW</a:t>
            </a:r>
            <a:endParaRPr/>
          </a:p>
          <a:p>
            <a:pPr indent="0" lvl="0" marL="457200" rtl="0" algn="l">
              <a:spcBef>
                <a:spcPts val="0"/>
              </a:spcBef>
              <a:spcAft>
                <a:spcPts val="0"/>
              </a:spcAft>
              <a:buNone/>
            </a:pPr>
            <a:r>
              <a:rPr lang="en-US"/>
              <a:t>Average renewable LCOE (levelized cost of energy, proxy for revenue potential) is $30-50/MWh for solar/wind average. Capacity factor 20-30% (e.g., solar 24.9%, wind 35.4% average) </a:t>
            </a:r>
            <a:r>
              <a:rPr lang="en-US">
                <a:solidFill>
                  <a:schemeClr val="dk1"/>
                </a:solidFill>
              </a:rPr>
              <a:t>(https://emp.lbl.gov/cost-power-interruptions)</a:t>
            </a:r>
            <a:r>
              <a:rPr lang="en-US"/>
              <a:t>. Annual generation per GW: 8,760 hours/year * 20-30% = 1,752-2,628 effective full-load hours per year. For a 1 GW plant, the annual energy output is those effective hours * 1 GW = 1,752 GWh to 2,628 GWh. Revenue per GW/year: 1,752-2,628 GWh * $30-50/MWh = $52.56-131.4 M/GW/year. LCOE approximates wholesale revenue; capacity factor adjusts for real output. Delays (3-5 years) multiply this forgone amount. Per GW lost over 4 years average: $210-525M/GW total, or $52-131M/GW/year annualized.</a:t>
            </a:r>
            <a:endParaRPr/>
          </a:p>
          <a:p>
            <a:pPr indent="-298450" lvl="0" marL="457200" rtl="0" algn="l">
              <a:spcBef>
                <a:spcPts val="0"/>
              </a:spcBef>
              <a:spcAft>
                <a:spcPts val="0"/>
              </a:spcAft>
              <a:buSzPts val="1100"/>
              <a:buChar char="-"/>
            </a:pPr>
            <a:r>
              <a:rPr lang="en-US"/>
              <a:t>Scale to </a:t>
            </a:r>
            <a:r>
              <a:rPr b="1" lang="en-US"/>
              <a:t>Total Lost Revenue</a:t>
            </a:r>
            <a:r>
              <a:rPr lang="en-US"/>
              <a:t>:</a:t>
            </a:r>
            <a:endParaRPr/>
          </a:p>
          <a:p>
            <a:pPr indent="0" lvl="0" marL="457200" rtl="0" algn="l">
              <a:spcBef>
                <a:spcPts val="0"/>
              </a:spcBef>
              <a:spcAft>
                <a:spcPts val="0"/>
              </a:spcAft>
              <a:buNone/>
            </a:pPr>
            <a:r>
              <a:rPr lang="en-US"/>
              <a:t>Annual lost capacity ~520 GW/year * $52-131M/GW/year = $27-68B/year base. Conservative adjustment: Attribute 50% (standard reasoning step in market impact calculations when reports provide qualitative emphasis like “most con</a:t>
            </a:r>
            <a:r>
              <a:rPr lang="en-US">
                <a:solidFill>
                  <a:schemeClr val="dk1"/>
                </a:solidFill>
              </a:rPr>
              <a:t>sequential” “major bottleneck” to</a:t>
            </a:r>
            <a:r>
              <a:rPr lang="en-US" sz="1200"/>
              <a:t> </a:t>
            </a:r>
            <a:r>
              <a:rPr lang="en-US"/>
              <a:t>interconnection delays in this case) (https://www.cfr.org/article/us-interconnection-challenge-why-renewables-are-stuck-line). </a:t>
            </a:r>
            <a:r>
              <a:rPr b="1" lang="en-US"/>
              <a:t>Result: $13.65-34.15B/year; midpoint $10-15B.</a:t>
            </a:r>
            <a:r>
              <a:rPr lang="en-US"/>
              <a:t> </a:t>
            </a:r>
            <a:endParaRPr/>
          </a:p>
          <a:p>
            <a:pPr indent="-298450" lvl="0" marL="457200" rtl="0" algn="l">
              <a:spcBef>
                <a:spcPts val="0"/>
              </a:spcBef>
              <a:spcAft>
                <a:spcPts val="0"/>
              </a:spcAft>
              <a:buSzPts val="1100"/>
              <a:buChar char="-"/>
            </a:pPr>
            <a:r>
              <a:rPr b="1" lang="en-US"/>
              <a:t>Additive for AI/Data Center Loads</a:t>
            </a:r>
            <a:r>
              <a:rPr lang="en-US"/>
              <a:t>:</a:t>
            </a:r>
            <a:endParaRPr/>
          </a:p>
          <a:p>
            <a:pPr indent="0" lvl="0" marL="457200" rtl="0" algn="l">
              <a:spcBef>
                <a:spcPts val="0"/>
              </a:spcBef>
              <a:spcAft>
                <a:spcPts val="0"/>
              </a:spcAft>
              <a:buNone/>
            </a:pPr>
            <a:r>
              <a:rPr lang="en-US"/>
              <a:t>Projected 50 GW new capacity (mid-range to 2030; not in main queue). 2-year delay (typical for large loads). Revenue loss/site (100 MW): $50/MWh 8,322 hours/year (95% utilization) * 2 years = $83.22M/site (rounded $100M). Scaled: 500 sites (50 GW / 100 MW) * $100M = $50B total; annualized </a:t>
            </a:r>
            <a:r>
              <a:rPr b="1" lang="en-US"/>
              <a:t>~$5B/year</a:t>
            </a:r>
            <a:r>
              <a:rPr lang="en-US"/>
              <a:t>. Origin of 50 GW: DOE says that EPRI estimates that data centers could grow to consume up to 9% of U.S. electricity generation annually by 2030, up from 4% of total load in 2023 (</a:t>
            </a:r>
            <a:r>
              <a:rPr lang="en-US" u="sng">
                <a:solidFill>
                  <a:schemeClr val="hlink"/>
                </a:solidFill>
                <a:hlinkClick r:id="rId5"/>
              </a:rPr>
              <a:t>https://www.energy.gov/gdo/clean-energy-resources-meet-data-center-electricity-demand</a:t>
            </a:r>
            <a:r>
              <a:rPr lang="en-US"/>
              <a:t>). So I calculated that data center annual consumption is 9% of U.S. annual electricity generation 4,243 TWh (EIA 2023 data) ~382 TWh/year. Data centers operate at high utilization (95% capacity factor), so equivalent average load is ~382 TWh / (8,760 hours/year * 0.95) ≈ 46 GW &gt;&gt; 50 GW. </a:t>
            </a:r>
            <a:endParaRPr/>
          </a:p>
          <a:p>
            <a:pPr indent="0" lvl="0" marL="457200" rtl="0" algn="l">
              <a:spcBef>
                <a:spcPts val="0"/>
              </a:spcBef>
              <a:spcAft>
                <a:spcPts val="0"/>
              </a:spcAft>
              <a:buNone/>
            </a:pPr>
            <a:r>
              <a:t/>
            </a:r>
            <a:endParaRPr/>
          </a:p>
          <a:p>
            <a:pPr indent="0" lvl="0" marL="0" rtl="0" algn="l">
              <a:spcBef>
                <a:spcPts val="0"/>
              </a:spcBef>
              <a:spcAft>
                <a:spcPts val="0"/>
              </a:spcAft>
              <a:buNone/>
            </a:pPr>
            <a:r>
              <a:rPr lang="en-US"/>
              <a:t>Part B: Utilities' Operational Risks ($5-10B Annually)</a:t>
            </a:r>
            <a:endParaRPr>
              <a:solidFill>
                <a:schemeClr val="dk1"/>
              </a:solidFill>
            </a:endParaRPr>
          </a:p>
          <a:p>
            <a:pPr indent="-298450" lvl="0" marL="457200" rtl="0" algn="l">
              <a:spcBef>
                <a:spcPts val="0"/>
              </a:spcBef>
              <a:spcAft>
                <a:spcPts val="0"/>
              </a:spcAft>
              <a:buClr>
                <a:schemeClr val="dk1"/>
              </a:buClr>
              <a:buSzPts val="1100"/>
              <a:buChar char="-"/>
            </a:pPr>
            <a:r>
              <a:rPr lang="en-US">
                <a:solidFill>
                  <a:schemeClr val="dk1"/>
                </a:solidFill>
              </a:rPr>
              <a:t>Identify Outage Frequency and Cost per Event</a:t>
            </a:r>
            <a:endParaRPr>
              <a:solidFill>
                <a:schemeClr val="dk1"/>
              </a:solidFill>
            </a:endParaRPr>
          </a:p>
          <a:p>
            <a:pPr indent="0" lvl="0" marL="457200" rtl="0" algn="l">
              <a:spcBef>
                <a:spcPts val="0"/>
              </a:spcBef>
              <a:spcAft>
                <a:spcPts val="0"/>
              </a:spcAft>
              <a:buNone/>
            </a:pPr>
            <a:r>
              <a:rPr lang="en-US">
                <a:solidFill>
                  <a:schemeClr val="dk1"/>
                </a:solidFill>
              </a:rPr>
              <a:t>U.S. has </a:t>
            </a:r>
            <a:r>
              <a:rPr b="1" lang="en-US">
                <a:solidFill>
                  <a:schemeClr val="dk1"/>
                </a:solidFill>
              </a:rPr>
              <a:t>5-10 major power outages/year</a:t>
            </a:r>
            <a:r>
              <a:rPr lang="en-US">
                <a:solidFill>
                  <a:schemeClr val="dk1"/>
                </a:solidFill>
              </a:rPr>
              <a:t> causing sustained interruptions (e.g., &gt;1 hour, affecting &gt;100,000 customers). Attribute to Interconnection Risks</a:t>
            </a:r>
            <a:endParaRPr>
              <a:solidFill>
                <a:schemeClr val="dk1"/>
              </a:solidFill>
            </a:endParaRPr>
          </a:p>
          <a:p>
            <a:pPr indent="457200" lvl="0" marL="0" rtl="0" algn="l">
              <a:spcBef>
                <a:spcPts val="0"/>
              </a:spcBef>
              <a:spcAft>
                <a:spcPts val="0"/>
              </a:spcAft>
              <a:buNone/>
            </a:pPr>
            <a:r>
              <a:rPr b="1" lang="en-US">
                <a:solidFill>
                  <a:schemeClr val="dk1"/>
                </a:solidFill>
              </a:rPr>
              <a:t>Annual total outage costs: 5-10 major events * $500M-1B = $2.5-10B base.</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US">
                <a:solidFill>
                  <a:schemeClr val="dk1"/>
                </a:solidFill>
              </a:rPr>
              <a:t>Total Combined Estimate: Developers $10-15B (core queue-based) + $5B (AI additive) + utilities $5-10B = $15-25B annually U.S.</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US">
                <a:solidFill>
                  <a:schemeClr val="dk1"/>
                </a:solidFill>
              </a:rPr>
              <a:t>$2-3B: </a:t>
            </a:r>
            <a:r>
              <a:rPr lang="en-US"/>
              <a:t>Quantification of the 'Niche' (Power Grid Interconnection Market) in Dollars</a:t>
            </a:r>
            <a:endParaRPr/>
          </a:p>
          <a:p>
            <a:pPr indent="-298450" lvl="0" marL="457200" rtl="0" algn="l">
              <a:spcBef>
                <a:spcPts val="0"/>
              </a:spcBef>
              <a:spcAft>
                <a:spcPts val="0"/>
              </a:spcAft>
              <a:buSzPts val="1100"/>
              <a:buChar char="●"/>
            </a:pPr>
            <a:r>
              <a:rPr lang="en-US"/>
              <a:t>Global smart grid market: $73.8B (MarketsandMarkets 2024 forecast from 2023 $61.6B at 20% CAGR)</a:t>
            </a:r>
            <a:endParaRPr/>
          </a:p>
          <a:p>
            <a:pPr indent="-298450" lvl="0" marL="457200" rtl="0" algn="l">
              <a:spcBef>
                <a:spcPts val="0"/>
              </a:spcBef>
              <a:spcAft>
                <a:spcPts val="0"/>
              </a:spcAft>
              <a:buSzPts val="1100"/>
              <a:buChar char="●"/>
            </a:pPr>
            <a:r>
              <a:rPr lang="en-US"/>
              <a:t>Software/services share: 28% ($20.66B; MarketsandMarkets average for analytics/consulting).</a:t>
            </a:r>
            <a:endParaRPr/>
          </a:p>
          <a:p>
            <a:pPr indent="-298450" lvl="0" marL="457200" rtl="0" algn="l">
              <a:spcBef>
                <a:spcPts val="0"/>
              </a:spcBef>
              <a:spcAft>
                <a:spcPts val="0"/>
              </a:spcAft>
              <a:buSzPts val="1100"/>
              <a:buChar char="●"/>
            </a:pPr>
            <a:r>
              <a:rPr lang="en-US"/>
              <a:t>Interconnection subset: 12% of software/services ($2.48B; MarketsandMarkets allocation for "transmission optimization/renewable integration").</a:t>
            </a:r>
            <a:endParaRPr/>
          </a:p>
          <a:p>
            <a:pPr indent="-298450" lvl="0" marL="457200" rtl="0" algn="l">
              <a:spcBef>
                <a:spcPts val="0"/>
              </a:spcBef>
              <a:spcAft>
                <a:spcPts val="0"/>
              </a:spcAft>
              <a:buSzPts val="1100"/>
              <a:buChar char="●"/>
            </a:pPr>
            <a:r>
              <a:rPr lang="en-US"/>
              <a:t>U.S. share: 32% of global ($794M; MarketsandMarkets geographic split).</a:t>
            </a:r>
            <a:endParaRPr/>
          </a:p>
          <a:p>
            <a:pPr indent="457200" lvl="0" marL="0" rtl="0" algn="l">
              <a:spcBef>
                <a:spcPts val="0"/>
              </a:spcBef>
              <a:spcAft>
                <a:spcPts val="0"/>
              </a:spcAft>
              <a:buClr>
                <a:schemeClr val="dk1"/>
              </a:buClr>
              <a:buSzPts val="1100"/>
              <a:buFont typeface="Arial"/>
              <a:buNone/>
            </a:pPr>
            <a:r>
              <a:rPr lang="en-US"/>
              <a:t>“Step-by-Step Reasoning for U.S. Smart Grid Software Market Size ($3.5-4.5B in 2024) and Interconnection Niche Subset ($800-900M)”</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n-US">
                <a:solidFill>
                  <a:srgbClr val="272525"/>
                </a:solidFill>
              </a:rPr>
              <a:t>Notes: </a:t>
            </a:r>
            <a:endParaRPr>
              <a:solidFill>
                <a:srgbClr val="272525"/>
              </a:solidFill>
            </a:endParaRPr>
          </a:p>
          <a:p>
            <a:pPr indent="0" lvl="0" marL="0" rtl="0" algn="l">
              <a:spcBef>
                <a:spcPts val="0"/>
              </a:spcBef>
              <a:spcAft>
                <a:spcPts val="0"/>
              </a:spcAft>
              <a:buClr>
                <a:schemeClr val="dk1"/>
              </a:buClr>
              <a:buSzPts val="1100"/>
              <a:buFont typeface="Arial"/>
              <a:buNone/>
            </a:pPr>
            <a:r>
              <a:t/>
            </a:r>
            <a:endParaRPr>
              <a:solidFill>
                <a:srgbClr val="272525"/>
              </a:solidFill>
            </a:endParaRPr>
          </a:p>
          <a:p>
            <a:pPr indent="0" lvl="0" marL="0" rtl="0" algn="l">
              <a:spcBef>
                <a:spcPts val="0"/>
              </a:spcBef>
              <a:spcAft>
                <a:spcPts val="0"/>
              </a:spcAft>
              <a:buClr>
                <a:schemeClr val="dk1"/>
              </a:buClr>
              <a:buSzPts val="1100"/>
              <a:buFont typeface="Arial"/>
              <a:buNone/>
            </a:pPr>
            <a:r>
              <a:rPr lang="en-US">
                <a:solidFill>
                  <a:srgbClr val="272525"/>
                </a:solidFill>
              </a:rPr>
              <a:t>The 80%</a:t>
            </a:r>
            <a:r>
              <a:rPr b="1" lang="en-US">
                <a:solidFill>
                  <a:srgbClr val="272525"/>
                </a:solidFill>
              </a:rPr>
              <a:t> </a:t>
            </a:r>
            <a:r>
              <a:rPr lang="en-US">
                <a:solidFill>
                  <a:srgbClr val="272525"/>
                </a:solidFill>
              </a:rPr>
              <a:t>withdrawal rate is cumulative over a project's life cycle (3-5 years average duration in queue), not annual. Annually, withdrawals represent ~8-27% of the queue it's the total dropout over the full lifespan of a project in the queue, which typically lasts 3-5 years from entry to decision.</a:t>
            </a:r>
            <a:endParaRPr>
              <a:solidFill>
                <a:srgbClr val="272525"/>
              </a:solidFill>
            </a:endParaRPr>
          </a:p>
          <a:p>
            <a:pPr indent="0" lvl="0" marL="0" rtl="0" algn="l">
              <a:spcBef>
                <a:spcPts val="0"/>
              </a:spcBef>
              <a:spcAft>
                <a:spcPts val="0"/>
              </a:spcAft>
              <a:buClr>
                <a:schemeClr val="dk1"/>
              </a:buClr>
              <a:buSzPts val="1100"/>
              <a:buFont typeface="Arial"/>
              <a:buNone/>
            </a:pPr>
            <a:r>
              <a:t/>
            </a:r>
            <a:endParaRPr>
              <a:solidFill>
                <a:srgbClr val="272525"/>
              </a:solidFill>
            </a:endParaRPr>
          </a:p>
          <a:p>
            <a:pPr indent="0" lvl="0" marL="0" rtl="0" algn="l">
              <a:spcBef>
                <a:spcPts val="0"/>
              </a:spcBef>
              <a:spcAft>
                <a:spcPts val="0"/>
              </a:spcAft>
              <a:buClr>
                <a:schemeClr val="dk1"/>
              </a:buClr>
              <a:buSzPts val="1100"/>
              <a:buFont typeface="Arial"/>
              <a:buNone/>
            </a:pPr>
            <a:r>
              <a:rPr lang="en-US">
                <a:solidFill>
                  <a:srgbClr val="272525"/>
                </a:solidFill>
              </a:rPr>
              <a:t>The addressable business potential refers to the annual revenue opportunity for providers of interconnection-specific services, software, tools, and consulting (e.g., feasibility studies, system impact analyses, compliance modeling, queue management platforms). This is equivalently the annual spend by customers (developers, utilities, RTOs/ISOs) on these items. </a:t>
            </a:r>
            <a:r>
              <a:rPr i="1" lang="en-US">
                <a:solidFill>
                  <a:srgbClr val="272525"/>
                </a:solidFill>
              </a:rPr>
              <a:t>It excludes physical grid upgrades (e.g., new lines or substations) and post-interconnection operations.</a:t>
            </a:r>
            <a:endParaRPr>
              <a:solidFill>
                <a:srgbClr val="272525"/>
              </a:solidFill>
            </a:endParaRPr>
          </a:p>
          <a:p>
            <a:pPr indent="0" lvl="0" marL="0" rtl="0" algn="l">
              <a:spcBef>
                <a:spcPts val="0"/>
              </a:spcBef>
              <a:spcAft>
                <a:spcPts val="0"/>
              </a:spcAft>
              <a:buClr>
                <a:schemeClr val="dk1"/>
              </a:buClr>
              <a:buSzPts val="1100"/>
              <a:buFont typeface="Arial"/>
              <a:buNone/>
            </a:pPr>
            <a:r>
              <a:t/>
            </a:r>
            <a:endParaRPr i="1">
              <a:solidFill>
                <a:srgbClr val="272525"/>
              </a:solidFill>
            </a:endParaRPr>
          </a:p>
          <a:p>
            <a:pPr indent="0" lvl="0" marL="0" rtl="0" algn="l">
              <a:spcBef>
                <a:spcPts val="0"/>
              </a:spcBef>
              <a:spcAft>
                <a:spcPts val="0"/>
              </a:spcAft>
              <a:buClr>
                <a:schemeClr val="dk1"/>
              </a:buClr>
              <a:buSzPts val="1100"/>
              <a:buFont typeface="Arial"/>
              <a:buNone/>
            </a:pPr>
            <a:r>
              <a:rPr lang="en-US">
                <a:solidFill>
                  <a:srgbClr val="272525"/>
                </a:solidFill>
              </a:rPr>
              <a:t>Turnover is the annual rate (45%) of change or activity in the queue, calculated as (annual GW of additions + advancements + withdrawals + completions) / total end-of-year queue GW * 100%</a:t>
            </a:r>
            <a:endParaRPr>
              <a:solidFill>
                <a:srgbClr val="272525"/>
              </a:solidFill>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6" name="Google Shape;106;g398def4e646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98d74d2a2f_0_2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g398d74d2a2f_0_2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98d74d2a2f_0_1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98d74d2a2f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a1507f86c0_0_1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a1507f86c0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1507f86c0_0_1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1507f86c0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1507f86c0_0_1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1507f86c0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1507f86c0_0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1507f86c0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98d74d2a2f_0_2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98d74d2a2f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98d74d2a2f_0_1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98d74d2a2f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a1507f86c0_0_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3a1507f86c0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98d74d2a2f_0_19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98d74d2a2f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26.png"/><Relationship Id="rId6" Type="http://schemas.openxmlformats.org/officeDocument/2006/relationships/image" Target="../media/image2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5.png"/><Relationship Id="rId6" Type="http://schemas.openxmlformats.org/officeDocument/2006/relationships/image" Target="../media/image6.png"/><Relationship Id="rId7"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8.png"/><Relationship Id="rId5" Type="http://schemas.openxmlformats.org/officeDocument/2006/relationships/hyperlink" Target="https://github.com/kvrkr866/unblocking_icq_phase1/blob/main/capstone16_evals_n_metrics.xlsx"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5.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21.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7.jpg"/><Relationship Id="rId4" Type="http://schemas.openxmlformats.org/officeDocument/2006/relationships/image" Target="../media/image28.jpg"/><Relationship Id="rId5" Type="http://schemas.openxmlformats.org/officeDocument/2006/relationships/image" Target="../media/image18.png"/><Relationship Id="rId6" Type="http://schemas.openxmlformats.org/officeDocument/2006/relationships/image" Target="../media/image12.png"/><Relationship Id="rId7" Type="http://schemas.openxmlformats.org/officeDocument/2006/relationships/image" Target="../media/image14.png"/><Relationship Id="rId8"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5" name="Google Shape;85;p13"/>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6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86" name="Google Shape;86;p13"/>
          <p:cNvPicPr preferRelativeResize="0"/>
          <p:nvPr/>
        </p:nvPicPr>
        <p:blipFill rotWithShape="1">
          <a:blip r:embed="rId3">
            <a:alphaModFix/>
          </a:blip>
          <a:srcRect b="11801" l="0" r="0" t="31945"/>
          <a:stretch/>
        </p:blipFill>
        <p:spPr>
          <a:xfrm>
            <a:off x="0" y="0"/>
            <a:ext cx="18288000" cy="10286999"/>
          </a:xfrm>
          <a:prstGeom prst="rect">
            <a:avLst/>
          </a:prstGeom>
          <a:noFill/>
          <a:ln>
            <a:noFill/>
          </a:ln>
        </p:spPr>
      </p:pic>
      <p:sp>
        <p:nvSpPr>
          <p:cNvPr id="87" name="Google Shape;87;p13"/>
          <p:cNvSpPr txBox="1"/>
          <p:nvPr/>
        </p:nvSpPr>
        <p:spPr>
          <a:xfrm>
            <a:off x="9071326" y="6795500"/>
            <a:ext cx="7967700" cy="2599800"/>
          </a:xfrm>
          <a:prstGeom prst="rect">
            <a:avLst/>
          </a:prstGeom>
          <a:noFill/>
          <a:ln>
            <a:noFill/>
          </a:ln>
        </p:spPr>
        <p:txBody>
          <a:bodyPr anchorCtr="0" anchor="t" bIns="0" lIns="0" spcFirstLastPara="1" rIns="0" wrap="square" tIns="0">
            <a:spAutoFit/>
          </a:bodyPr>
          <a:lstStyle/>
          <a:p>
            <a:pPr indent="0" lvl="0" marL="0" marR="0" rtl="0" algn="l">
              <a:lnSpc>
                <a:spcPct val="124721"/>
              </a:lnSpc>
              <a:spcBef>
                <a:spcPts val="0"/>
              </a:spcBef>
              <a:spcAft>
                <a:spcPts val="0"/>
              </a:spcAft>
              <a:buNone/>
            </a:pPr>
            <a:r>
              <a:rPr b="1" lang="en-US" sz="3562">
                <a:solidFill>
                  <a:schemeClr val="lt1"/>
                </a:solidFill>
                <a:latin typeface="Inter"/>
                <a:ea typeface="Inter"/>
                <a:cs typeface="Inter"/>
                <a:sym typeface="Inter"/>
              </a:rPr>
              <a:t>Unlocking the Grid Interconnection Q</a:t>
            </a:r>
            <a:r>
              <a:rPr b="1" lang="en-US" sz="3562">
                <a:solidFill>
                  <a:schemeClr val="lt1"/>
                </a:solidFill>
                <a:latin typeface="Inter"/>
                <a:ea typeface="Inter"/>
                <a:cs typeface="Inter"/>
                <a:sym typeface="Inter"/>
              </a:rPr>
              <a:t>ueue with AI</a:t>
            </a:r>
            <a:endParaRPr b="1" sz="3562">
              <a:solidFill>
                <a:schemeClr val="lt1"/>
              </a:solidFill>
              <a:latin typeface="Inter"/>
              <a:ea typeface="Inter"/>
              <a:cs typeface="Inter"/>
              <a:sym typeface="Inter"/>
            </a:endParaRPr>
          </a:p>
          <a:p>
            <a:pPr indent="0" lvl="0" marL="0" marR="0" rtl="0" algn="l">
              <a:lnSpc>
                <a:spcPct val="124721"/>
              </a:lnSpc>
              <a:spcBef>
                <a:spcPts val="0"/>
              </a:spcBef>
              <a:spcAft>
                <a:spcPts val="0"/>
              </a:spcAft>
              <a:buNone/>
            </a:pPr>
            <a:r>
              <a:t/>
            </a:r>
            <a:endParaRPr b="1" sz="3562">
              <a:solidFill>
                <a:schemeClr val="lt1"/>
              </a:solidFill>
              <a:latin typeface="Inter"/>
              <a:ea typeface="Inter"/>
              <a:cs typeface="Inter"/>
              <a:sym typeface="Inter"/>
            </a:endParaRPr>
          </a:p>
          <a:p>
            <a:pPr indent="0" lvl="0" marL="0" marR="0" rtl="0" algn="l">
              <a:lnSpc>
                <a:spcPct val="124721"/>
              </a:lnSpc>
              <a:spcBef>
                <a:spcPts val="0"/>
              </a:spcBef>
              <a:spcAft>
                <a:spcPts val="0"/>
              </a:spcAft>
              <a:buNone/>
            </a:pPr>
            <a:r>
              <a:rPr b="1" lang="en-US" sz="3562">
                <a:solidFill>
                  <a:schemeClr val="lt1"/>
                </a:solidFill>
                <a:latin typeface="Inter"/>
                <a:ea typeface="Inter"/>
                <a:cs typeface="Inter"/>
                <a:sym typeface="Inter"/>
              </a:rPr>
              <a:t>Alejo, Junia, RK</a:t>
            </a:r>
            <a:endParaRPr b="1" sz="3562">
              <a:solidFill>
                <a:schemeClr val="lt1"/>
              </a:solidFill>
              <a:latin typeface="Inter"/>
              <a:ea typeface="Inter"/>
              <a:cs typeface="Inter"/>
              <a:sym typeface="Inter"/>
            </a:endParaRPr>
          </a:p>
        </p:txBody>
      </p:sp>
      <p:sp>
        <p:nvSpPr>
          <p:cNvPr id="88" name="Google Shape;88;p13"/>
          <p:cNvSpPr txBox="1"/>
          <p:nvPr/>
        </p:nvSpPr>
        <p:spPr>
          <a:xfrm>
            <a:off x="5321875" y="6540877"/>
            <a:ext cx="8039100" cy="336600"/>
          </a:xfrm>
          <a:prstGeom prst="rect">
            <a:avLst/>
          </a:prstGeom>
          <a:noFill/>
          <a:ln>
            <a:noFill/>
          </a:ln>
        </p:spPr>
        <p:txBody>
          <a:bodyPr anchorCtr="0" anchor="t" bIns="0" lIns="0" spcFirstLastPara="1" rIns="0" wrap="square" tIns="0">
            <a:spAutoFit/>
          </a:bodyPr>
          <a:lstStyle/>
          <a:p>
            <a:pPr indent="0" lvl="0" marL="0" marR="0" rtl="0" algn="l">
              <a:lnSpc>
                <a:spcPct val="162871"/>
              </a:lnSpc>
              <a:spcBef>
                <a:spcPts val="0"/>
              </a:spcBef>
              <a:spcAft>
                <a:spcPts val="0"/>
              </a:spcAft>
              <a:buNone/>
            </a:pPr>
            <a:r>
              <a:t/>
            </a:r>
            <a:endParaRPr sz="2187">
              <a:solidFill>
                <a:schemeClr val="lt1"/>
              </a:solidFill>
              <a:latin typeface="Inter"/>
              <a:ea typeface="Inter"/>
              <a:cs typeface="Inter"/>
              <a:sym typeface="Inter"/>
            </a:endParaRPr>
          </a:p>
        </p:txBody>
      </p:sp>
      <p:sp>
        <p:nvSpPr>
          <p:cNvPr id="89" name="Google Shape;89;p1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90" name="Google Shape;90;p13"/>
          <p:cNvSpPr txBox="1"/>
          <p:nvPr/>
        </p:nvSpPr>
        <p:spPr>
          <a:xfrm>
            <a:off x="16571020" y="9481928"/>
            <a:ext cx="1453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00">
                <a:solidFill>
                  <a:schemeClr val="lt1"/>
                </a:solidFill>
                <a:latin typeface="Calibri"/>
                <a:ea typeface="Calibri"/>
                <a:cs typeface="Calibri"/>
                <a:sym typeface="Calibri"/>
              </a:rPr>
              <a:t>Team 16</a:t>
            </a:r>
            <a:endParaRPr i="1" sz="21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14"/>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6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6" name="Google Shape;96;p14"/>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7" name="Google Shape;97;p14"/>
          <p:cNvSpPr txBox="1"/>
          <p:nvPr/>
        </p:nvSpPr>
        <p:spPr>
          <a:xfrm>
            <a:off x="838127" y="732900"/>
            <a:ext cx="15924900" cy="615600"/>
          </a:xfrm>
          <a:prstGeom prst="rect">
            <a:avLst/>
          </a:prstGeom>
          <a:noFill/>
          <a:ln>
            <a:noFill/>
          </a:ln>
        </p:spPr>
        <p:txBody>
          <a:bodyPr anchorCtr="0" anchor="t" bIns="0" lIns="0" spcFirstLastPara="1" rIns="0" wrap="square" tIns="0">
            <a:spAutoFit/>
          </a:bodyPr>
          <a:lstStyle/>
          <a:p>
            <a:pPr indent="0" lvl="0" marL="0" marR="0" rtl="0" algn="l">
              <a:lnSpc>
                <a:spcPct val="124721"/>
              </a:lnSpc>
              <a:spcBef>
                <a:spcPts val="0"/>
              </a:spcBef>
              <a:spcAft>
                <a:spcPts val="0"/>
              </a:spcAft>
              <a:buNone/>
            </a:pPr>
            <a:r>
              <a:rPr b="1" lang="en-US" sz="4000">
                <a:latin typeface="Inter"/>
                <a:ea typeface="Inter"/>
                <a:cs typeface="Inter"/>
                <a:sym typeface="Inter"/>
              </a:rPr>
              <a:t>Boost of Interconnection Requests </a:t>
            </a:r>
            <a:r>
              <a:rPr b="1" lang="en-US" sz="4000">
                <a:highlight>
                  <a:srgbClr val="FFFF00"/>
                </a:highlight>
                <a:latin typeface="Inter"/>
                <a:ea typeface="Inter"/>
                <a:cs typeface="Inter"/>
                <a:sym typeface="Inter"/>
              </a:rPr>
              <a:t>(IR) </a:t>
            </a:r>
            <a:r>
              <a:rPr b="1" lang="en-US" sz="4000">
                <a:latin typeface="Inter"/>
                <a:ea typeface="Inter"/>
                <a:cs typeface="Inter"/>
                <a:sym typeface="Inter"/>
              </a:rPr>
              <a:t>to the Power Grid</a:t>
            </a:r>
            <a:endParaRPr sz="4000"/>
          </a:p>
        </p:txBody>
      </p:sp>
      <p:pic>
        <p:nvPicPr>
          <p:cNvPr id="98" name="Google Shape;98;p14"/>
          <p:cNvPicPr preferRelativeResize="0"/>
          <p:nvPr/>
        </p:nvPicPr>
        <p:blipFill>
          <a:blip r:embed="rId3">
            <a:alphaModFix/>
          </a:blip>
          <a:stretch>
            <a:fillRect/>
          </a:stretch>
        </p:blipFill>
        <p:spPr>
          <a:xfrm>
            <a:off x="10586705" y="3356859"/>
            <a:ext cx="5493550" cy="5493550"/>
          </a:xfrm>
          <a:prstGeom prst="rect">
            <a:avLst/>
          </a:prstGeom>
          <a:noFill/>
          <a:ln>
            <a:noFill/>
          </a:ln>
        </p:spPr>
      </p:pic>
      <p:sp>
        <p:nvSpPr>
          <p:cNvPr id="99" name="Google Shape;99;p14"/>
          <p:cNvSpPr txBox="1"/>
          <p:nvPr/>
        </p:nvSpPr>
        <p:spPr>
          <a:xfrm>
            <a:off x="10586699" y="2286627"/>
            <a:ext cx="7138500" cy="1011900"/>
          </a:xfrm>
          <a:prstGeom prst="rect">
            <a:avLst/>
          </a:prstGeom>
          <a:noFill/>
          <a:ln>
            <a:noFill/>
          </a:ln>
        </p:spPr>
        <p:txBody>
          <a:bodyPr anchorCtr="0" anchor="t" bIns="91425" lIns="91425" spcFirstLastPara="1" rIns="91425" wrap="square" tIns="91425">
            <a:spAutoFit/>
          </a:bodyPr>
          <a:lstStyle/>
          <a:p>
            <a:pPr indent="0" lvl="0" marL="0" rtl="0" algn="l">
              <a:lnSpc>
                <a:spcPct val="98958"/>
              </a:lnSpc>
              <a:spcBef>
                <a:spcPts val="0"/>
              </a:spcBef>
              <a:spcAft>
                <a:spcPts val="0"/>
              </a:spcAft>
              <a:buNone/>
            </a:pPr>
            <a:r>
              <a:t/>
            </a:r>
            <a:endParaRPr sz="2400">
              <a:solidFill>
                <a:srgbClr val="272525"/>
              </a:solidFill>
              <a:latin typeface="Inter"/>
              <a:ea typeface="Inter"/>
              <a:cs typeface="Inter"/>
              <a:sym typeface="Inter"/>
            </a:endParaRPr>
          </a:p>
          <a:p>
            <a:pPr indent="0" lvl="0" marL="0" rtl="0" algn="l">
              <a:spcBef>
                <a:spcPts val="0"/>
              </a:spcBef>
              <a:spcAft>
                <a:spcPts val="0"/>
              </a:spcAft>
              <a:buNone/>
            </a:pPr>
            <a:r>
              <a:rPr lang="en-US" sz="3000">
                <a:solidFill>
                  <a:srgbClr val="272525"/>
                </a:solidFill>
                <a:latin typeface="Inter"/>
                <a:ea typeface="Inter"/>
                <a:cs typeface="Inter"/>
                <a:sym typeface="Inter"/>
              </a:rPr>
              <a:t>Expectation:</a:t>
            </a:r>
            <a:endParaRPr sz="700"/>
          </a:p>
        </p:txBody>
      </p:sp>
      <p:pic>
        <p:nvPicPr>
          <p:cNvPr id="100" name="Google Shape;100;p14"/>
          <p:cNvPicPr preferRelativeResize="0"/>
          <p:nvPr/>
        </p:nvPicPr>
        <p:blipFill>
          <a:blip r:embed="rId4">
            <a:alphaModFix/>
          </a:blip>
          <a:stretch>
            <a:fillRect/>
          </a:stretch>
        </p:blipFill>
        <p:spPr>
          <a:xfrm>
            <a:off x="636166" y="2625603"/>
            <a:ext cx="8622901" cy="6467176"/>
          </a:xfrm>
          <a:prstGeom prst="rect">
            <a:avLst/>
          </a:prstGeom>
          <a:noFill/>
          <a:ln>
            <a:noFill/>
          </a:ln>
        </p:spPr>
      </p:pic>
      <p:sp>
        <p:nvSpPr>
          <p:cNvPr id="101" name="Google Shape;101;p14"/>
          <p:cNvSpPr txBox="1"/>
          <p:nvPr/>
        </p:nvSpPr>
        <p:spPr>
          <a:xfrm>
            <a:off x="16571020" y="9481928"/>
            <a:ext cx="1453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00">
                <a:solidFill>
                  <a:srgbClr val="888888"/>
                </a:solidFill>
                <a:latin typeface="Calibri"/>
                <a:ea typeface="Calibri"/>
                <a:cs typeface="Calibri"/>
                <a:sym typeface="Calibri"/>
              </a:rPr>
              <a:t>Team 16</a:t>
            </a:r>
            <a:endParaRPr i="1" sz="2100">
              <a:solidFill>
                <a:srgbClr val="888888"/>
              </a:solidFill>
              <a:latin typeface="Calibri"/>
              <a:ea typeface="Calibri"/>
              <a:cs typeface="Calibri"/>
              <a:sym typeface="Calibri"/>
            </a:endParaRPr>
          </a:p>
        </p:txBody>
      </p:sp>
      <p:pic>
        <p:nvPicPr>
          <p:cNvPr id="102" name="Google Shape;102;p14" title="Screenshot 2025-11-07 at 3.46.35 PM.png"/>
          <p:cNvPicPr preferRelativeResize="0"/>
          <p:nvPr/>
        </p:nvPicPr>
        <p:blipFill>
          <a:blip r:embed="rId5">
            <a:alphaModFix/>
          </a:blip>
          <a:stretch>
            <a:fillRect/>
          </a:stretch>
        </p:blipFill>
        <p:spPr>
          <a:xfrm>
            <a:off x="2450606" y="7193226"/>
            <a:ext cx="2254574" cy="2911476"/>
          </a:xfrm>
          <a:prstGeom prst="rect">
            <a:avLst/>
          </a:prstGeom>
          <a:noFill/>
          <a:ln>
            <a:noFill/>
          </a:ln>
        </p:spPr>
      </p:pic>
      <p:pic>
        <p:nvPicPr>
          <p:cNvPr id="103" name="Google Shape;103;p14" title="Screenshot 2025-11-07 at 3.51.37 PM.png"/>
          <p:cNvPicPr preferRelativeResize="0"/>
          <p:nvPr/>
        </p:nvPicPr>
        <p:blipFill rotWithShape="1">
          <a:blip r:embed="rId6">
            <a:alphaModFix/>
          </a:blip>
          <a:srcRect b="34717" l="0" r="0" t="0"/>
          <a:stretch/>
        </p:blipFill>
        <p:spPr>
          <a:xfrm>
            <a:off x="4744167" y="8130200"/>
            <a:ext cx="3317674" cy="17141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5"/>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6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09" name="Google Shape;109;p15"/>
          <p:cNvSpPr/>
          <p:nvPr/>
        </p:nvSpPr>
        <p:spPr>
          <a:xfrm>
            <a:off x="0" y="0"/>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0" name="Google Shape;110;p15"/>
          <p:cNvSpPr txBox="1"/>
          <p:nvPr/>
        </p:nvSpPr>
        <p:spPr>
          <a:xfrm>
            <a:off x="838125" y="732900"/>
            <a:ext cx="16867800" cy="615600"/>
          </a:xfrm>
          <a:prstGeom prst="rect">
            <a:avLst/>
          </a:prstGeom>
          <a:noFill/>
          <a:ln>
            <a:noFill/>
          </a:ln>
        </p:spPr>
        <p:txBody>
          <a:bodyPr anchorCtr="0" anchor="t" bIns="0" lIns="0" spcFirstLastPara="1" rIns="0" wrap="square" tIns="0">
            <a:spAutoFit/>
          </a:bodyPr>
          <a:lstStyle/>
          <a:p>
            <a:pPr indent="0" lvl="0" marL="0" marR="0" rtl="0" algn="l">
              <a:lnSpc>
                <a:spcPct val="124721"/>
              </a:lnSpc>
              <a:spcBef>
                <a:spcPts val="0"/>
              </a:spcBef>
              <a:spcAft>
                <a:spcPts val="0"/>
              </a:spcAft>
              <a:buNone/>
            </a:pPr>
            <a:r>
              <a:rPr b="1" lang="en-US" sz="4000">
                <a:solidFill>
                  <a:srgbClr val="000000"/>
                </a:solidFill>
                <a:latin typeface="Inter"/>
                <a:ea typeface="Inter"/>
                <a:cs typeface="Inter"/>
                <a:sym typeface="Inter"/>
              </a:rPr>
              <a:t>Interconnection Queue </a:t>
            </a:r>
            <a:r>
              <a:rPr b="1" lang="en-US" sz="4000">
                <a:latin typeface="Inter"/>
                <a:ea typeface="Inter"/>
                <a:cs typeface="Inter"/>
                <a:sym typeface="Inter"/>
              </a:rPr>
              <a:t>Costs the Global Economy $50-80B per Year</a:t>
            </a:r>
            <a:endParaRPr sz="4000"/>
          </a:p>
        </p:txBody>
      </p:sp>
      <p:sp>
        <p:nvSpPr>
          <p:cNvPr id="111" name="Google Shape;111;p15"/>
          <p:cNvSpPr txBox="1"/>
          <p:nvPr/>
        </p:nvSpPr>
        <p:spPr>
          <a:xfrm>
            <a:off x="8918536" y="2860989"/>
            <a:ext cx="8536500" cy="7220400"/>
          </a:xfrm>
          <a:prstGeom prst="rect">
            <a:avLst/>
          </a:prstGeom>
          <a:noFill/>
          <a:ln>
            <a:noFill/>
          </a:ln>
        </p:spPr>
        <p:txBody>
          <a:bodyPr anchorCtr="0" anchor="t" bIns="0" lIns="0" spcFirstLastPara="1" rIns="0" wrap="square" tIns="0">
            <a:spAutoFit/>
          </a:bodyPr>
          <a:lstStyle/>
          <a:p>
            <a:pPr indent="0" lvl="0" marL="0" rtl="0" algn="l">
              <a:lnSpc>
                <a:spcPct val="98958"/>
              </a:lnSpc>
              <a:spcBef>
                <a:spcPts val="0"/>
              </a:spcBef>
              <a:spcAft>
                <a:spcPts val="0"/>
              </a:spcAft>
              <a:buSzPts val="1100"/>
              <a:buNone/>
            </a:pPr>
            <a:r>
              <a:t/>
            </a:r>
            <a:endParaRPr sz="2400">
              <a:solidFill>
                <a:srgbClr val="272525"/>
              </a:solidFill>
              <a:latin typeface="Inter"/>
              <a:ea typeface="Inter"/>
              <a:cs typeface="Inter"/>
              <a:sym typeface="Inter"/>
            </a:endParaRPr>
          </a:p>
          <a:p>
            <a:pPr indent="0" lvl="0" marL="0" rtl="0" algn="l">
              <a:spcBef>
                <a:spcPts val="0"/>
              </a:spcBef>
              <a:spcAft>
                <a:spcPts val="0"/>
              </a:spcAft>
              <a:buSzPts val="1100"/>
              <a:buNone/>
            </a:pPr>
            <a:r>
              <a:t/>
            </a:r>
            <a:endParaRPr sz="2000">
              <a:solidFill>
                <a:srgbClr val="272525"/>
              </a:solidFill>
              <a:latin typeface="Inter"/>
              <a:ea typeface="Inter"/>
              <a:cs typeface="Inter"/>
              <a:sym typeface="Inter"/>
            </a:endParaRPr>
          </a:p>
          <a:p>
            <a:pPr indent="0" lvl="0" marL="0" rtl="0" algn="l">
              <a:spcBef>
                <a:spcPts val="0"/>
              </a:spcBef>
              <a:spcAft>
                <a:spcPts val="0"/>
              </a:spcAft>
              <a:buSzPts val="1100"/>
              <a:buNone/>
            </a:pPr>
            <a:r>
              <a:t/>
            </a:r>
            <a:endParaRPr sz="2400">
              <a:solidFill>
                <a:srgbClr val="272525"/>
              </a:solidFill>
              <a:latin typeface="Inter"/>
              <a:ea typeface="Inter"/>
              <a:cs typeface="Inter"/>
              <a:sym typeface="Inter"/>
            </a:endParaRPr>
          </a:p>
          <a:p>
            <a:pPr indent="0" lvl="0" marL="0" rtl="0" algn="l">
              <a:spcBef>
                <a:spcPts val="0"/>
              </a:spcBef>
              <a:spcAft>
                <a:spcPts val="0"/>
              </a:spcAft>
              <a:buSzPts val="1100"/>
              <a:buNone/>
            </a:pPr>
            <a:r>
              <a:t/>
            </a:r>
            <a:endParaRPr sz="2400">
              <a:solidFill>
                <a:srgbClr val="272525"/>
              </a:solidFill>
              <a:latin typeface="Inter"/>
              <a:ea typeface="Inter"/>
              <a:cs typeface="Inter"/>
              <a:sym typeface="Inter"/>
            </a:endParaRPr>
          </a:p>
          <a:p>
            <a:pPr indent="0" lvl="0" marL="0" rtl="0" algn="l">
              <a:lnSpc>
                <a:spcPct val="98958"/>
              </a:lnSpc>
              <a:spcBef>
                <a:spcPts val="0"/>
              </a:spcBef>
              <a:spcAft>
                <a:spcPts val="0"/>
              </a:spcAft>
              <a:buSzPts val="1100"/>
              <a:buNone/>
            </a:pPr>
            <a:r>
              <a:rPr b="1" lang="en-US" sz="4600">
                <a:solidFill>
                  <a:srgbClr val="272525"/>
                </a:solidFill>
                <a:latin typeface="Inter"/>
                <a:ea typeface="Inter"/>
                <a:cs typeface="Inter"/>
                <a:sym typeface="Inter"/>
              </a:rPr>
              <a:t>$2-3B</a:t>
            </a:r>
            <a:r>
              <a:rPr b="1" baseline="30000" lang="en-US" sz="4600">
                <a:solidFill>
                  <a:srgbClr val="272525"/>
                </a:solidFill>
                <a:latin typeface="Inter"/>
                <a:ea typeface="Inter"/>
                <a:cs typeface="Inter"/>
                <a:sym typeface="Inter"/>
              </a:rPr>
              <a:t>*</a:t>
            </a:r>
            <a:r>
              <a:rPr b="1" lang="en-US" sz="4600">
                <a:solidFill>
                  <a:srgbClr val="272525"/>
                </a:solidFill>
                <a:latin typeface="Inter"/>
                <a:ea typeface="Inter"/>
                <a:cs typeface="Inter"/>
                <a:sym typeface="Inter"/>
              </a:rPr>
              <a:t>addressable business potential </a:t>
            </a:r>
            <a:endParaRPr b="1" sz="4600">
              <a:solidFill>
                <a:srgbClr val="272525"/>
              </a:solidFill>
              <a:latin typeface="Inter"/>
              <a:ea typeface="Inter"/>
              <a:cs typeface="Inter"/>
              <a:sym typeface="Inter"/>
            </a:endParaRPr>
          </a:p>
          <a:p>
            <a:pPr indent="0" lvl="0" marL="0" rtl="0" algn="l">
              <a:lnSpc>
                <a:spcPct val="98958"/>
              </a:lnSpc>
              <a:spcBef>
                <a:spcPts val="0"/>
              </a:spcBef>
              <a:spcAft>
                <a:spcPts val="0"/>
              </a:spcAft>
              <a:buSzPts val="1100"/>
              <a:buNone/>
            </a:pPr>
            <a:r>
              <a:rPr lang="en-US" sz="2300">
                <a:solidFill>
                  <a:srgbClr val="272525"/>
                </a:solidFill>
                <a:latin typeface="Inter"/>
                <a:ea typeface="Inter"/>
                <a:cs typeface="Inter"/>
                <a:sym typeface="Inter"/>
              </a:rPr>
              <a:t>The annual global revenue opportu</a:t>
            </a:r>
            <a:r>
              <a:rPr lang="en-US" sz="2300">
                <a:solidFill>
                  <a:srgbClr val="272525"/>
                </a:solidFill>
                <a:latin typeface="Inter"/>
                <a:ea typeface="Inter"/>
                <a:cs typeface="Inter"/>
                <a:sym typeface="Inter"/>
              </a:rPr>
              <a:t>nity f</a:t>
            </a:r>
            <a:r>
              <a:rPr lang="en-US" sz="2300">
                <a:solidFill>
                  <a:srgbClr val="272525"/>
                </a:solidFill>
                <a:latin typeface="Inter"/>
                <a:ea typeface="Inter"/>
                <a:cs typeface="Inter"/>
                <a:sym typeface="Inter"/>
              </a:rPr>
              <a:t>or providers of interconnection-specific services and tools (e.g., feasibility studies, system impact analyses, compliance modeling, queue management platforms)</a:t>
            </a:r>
            <a:endParaRPr sz="2300">
              <a:solidFill>
                <a:srgbClr val="272525"/>
              </a:solidFill>
              <a:latin typeface="Inter"/>
              <a:ea typeface="Inter"/>
              <a:cs typeface="Inter"/>
              <a:sym typeface="Inter"/>
            </a:endParaRPr>
          </a:p>
          <a:p>
            <a:pPr indent="0" lvl="0" marL="0" rtl="0" algn="l">
              <a:lnSpc>
                <a:spcPct val="98958"/>
              </a:lnSpc>
              <a:spcBef>
                <a:spcPts val="0"/>
              </a:spcBef>
              <a:spcAft>
                <a:spcPts val="0"/>
              </a:spcAft>
              <a:buSzPts val="1100"/>
              <a:buNone/>
            </a:pPr>
            <a:r>
              <a:rPr b="1" lang="en-US" sz="4700">
                <a:solidFill>
                  <a:srgbClr val="272525"/>
                </a:solidFill>
                <a:latin typeface="Inter"/>
                <a:ea typeface="Inter"/>
                <a:cs typeface="Inter"/>
                <a:sym typeface="Inter"/>
              </a:rPr>
              <a:t>U.S. $800-900M</a:t>
            </a:r>
            <a:r>
              <a:rPr b="1" baseline="30000" lang="en-US" sz="4600">
                <a:solidFill>
                  <a:srgbClr val="272525"/>
                </a:solidFill>
                <a:latin typeface="Inter"/>
                <a:ea typeface="Inter"/>
                <a:cs typeface="Inter"/>
                <a:sym typeface="Inter"/>
              </a:rPr>
              <a:t>*</a:t>
            </a:r>
            <a:endParaRPr b="1" sz="4700">
              <a:solidFill>
                <a:srgbClr val="272525"/>
              </a:solidFill>
              <a:latin typeface="Inter"/>
              <a:ea typeface="Inter"/>
              <a:cs typeface="Inter"/>
              <a:sym typeface="Inter"/>
            </a:endParaRPr>
          </a:p>
          <a:p>
            <a:pPr indent="0" lvl="0" marL="0" rtl="0" algn="l">
              <a:spcBef>
                <a:spcPts val="0"/>
              </a:spcBef>
              <a:spcAft>
                <a:spcPts val="0"/>
              </a:spcAft>
              <a:buSzPts val="1100"/>
              <a:buNone/>
            </a:pPr>
            <a:r>
              <a:t/>
            </a:r>
            <a:endParaRPr sz="2400">
              <a:solidFill>
                <a:srgbClr val="272525"/>
              </a:solidFill>
              <a:latin typeface="Inter"/>
              <a:ea typeface="Inter"/>
              <a:cs typeface="Inter"/>
              <a:sym typeface="Inter"/>
            </a:endParaRPr>
          </a:p>
          <a:p>
            <a:pPr indent="0" lvl="0" marL="0" rtl="0" algn="l">
              <a:spcBef>
                <a:spcPts val="0"/>
              </a:spcBef>
              <a:spcAft>
                <a:spcPts val="0"/>
              </a:spcAft>
              <a:buSzPts val="1100"/>
              <a:buNone/>
            </a:pPr>
            <a:r>
              <a:t/>
            </a:r>
            <a:endParaRPr sz="1100">
              <a:solidFill>
                <a:srgbClr val="272525"/>
              </a:solidFill>
            </a:endParaRPr>
          </a:p>
          <a:p>
            <a:pPr indent="0" lvl="0" marL="0" rtl="0" algn="l">
              <a:lnSpc>
                <a:spcPct val="98958"/>
              </a:lnSpc>
              <a:spcBef>
                <a:spcPts val="0"/>
              </a:spcBef>
              <a:spcAft>
                <a:spcPts val="0"/>
              </a:spcAft>
              <a:buClr>
                <a:schemeClr val="dk1"/>
              </a:buClr>
              <a:buSzPts val="1100"/>
              <a:buFont typeface="Arial"/>
              <a:buNone/>
            </a:pPr>
            <a:r>
              <a:t/>
            </a:r>
            <a:endParaRPr sz="2400">
              <a:solidFill>
                <a:srgbClr val="272525"/>
              </a:solidFill>
              <a:latin typeface="Inter"/>
              <a:ea typeface="Inter"/>
              <a:cs typeface="Inter"/>
              <a:sym typeface="Inter"/>
            </a:endParaRPr>
          </a:p>
          <a:p>
            <a:pPr indent="0" lvl="0" marL="0" rtl="0" algn="l">
              <a:lnSpc>
                <a:spcPct val="98958"/>
              </a:lnSpc>
              <a:spcBef>
                <a:spcPts val="0"/>
              </a:spcBef>
              <a:spcAft>
                <a:spcPts val="0"/>
              </a:spcAft>
              <a:buSzPts val="1100"/>
              <a:buNone/>
            </a:pPr>
            <a:r>
              <a:t/>
            </a:r>
            <a:endParaRPr sz="2400">
              <a:solidFill>
                <a:srgbClr val="272525"/>
              </a:solidFill>
              <a:latin typeface="Inter"/>
              <a:ea typeface="Inter"/>
              <a:cs typeface="Inter"/>
              <a:sym typeface="Inter"/>
            </a:endParaRPr>
          </a:p>
          <a:p>
            <a:pPr indent="0" lvl="0" marL="0" marR="0" rtl="0" algn="l">
              <a:lnSpc>
                <a:spcPct val="98958"/>
              </a:lnSpc>
              <a:spcBef>
                <a:spcPts val="0"/>
              </a:spcBef>
              <a:spcAft>
                <a:spcPts val="0"/>
              </a:spcAft>
              <a:buNone/>
            </a:pPr>
            <a:r>
              <a:t/>
            </a:r>
            <a:endParaRPr sz="2400">
              <a:solidFill>
                <a:srgbClr val="272525"/>
              </a:solidFill>
              <a:latin typeface="Inter"/>
              <a:ea typeface="Inter"/>
              <a:cs typeface="Inter"/>
              <a:sym typeface="Inter"/>
            </a:endParaRPr>
          </a:p>
          <a:p>
            <a:pPr indent="0" lvl="0" marL="0" marR="0" rtl="0" algn="l">
              <a:lnSpc>
                <a:spcPct val="98958"/>
              </a:lnSpc>
              <a:spcBef>
                <a:spcPts val="0"/>
              </a:spcBef>
              <a:spcAft>
                <a:spcPts val="0"/>
              </a:spcAft>
              <a:buNone/>
            </a:pPr>
            <a:r>
              <a:t/>
            </a:r>
            <a:endParaRPr sz="2400">
              <a:solidFill>
                <a:srgbClr val="272525"/>
              </a:solidFill>
              <a:latin typeface="Inter"/>
              <a:ea typeface="Inter"/>
              <a:cs typeface="Inter"/>
              <a:sym typeface="Inter"/>
            </a:endParaRPr>
          </a:p>
          <a:p>
            <a:pPr indent="0" lvl="0" marL="0" marR="0" rtl="0" algn="l">
              <a:lnSpc>
                <a:spcPct val="126734"/>
              </a:lnSpc>
              <a:spcBef>
                <a:spcPts val="0"/>
              </a:spcBef>
              <a:spcAft>
                <a:spcPts val="0"/>
              </a:spcAft>
              <a:buNone/>
            </a:pPr>
            <a:r>
              <a:t/>
            </a:r>
            <a:endParaRPr b="1" sz="1874">
              <a:solidFill>
                <a:srgbClr val="000000"/>
              </a:solidFill>
              <a:latin typeface="Inter"/>
              <a:ea typeface="Inter"/>
              <a:cs typeface="Inter"/>
              <a:sym typeface="Inter"/>
            </a:endParaRPr>
          </a:p>
        </p:txBody>
      </p:sp>
      <p:pic>
        <p:nvPicPr>
          <p:cNvPr id="112" name="Google Shape;112;p15"/>
          <p:cNvPicPr preferRelativeResize="0"/>
          <p:nvPr/>
        </p:nvPicPr>
        <p:blipFill>
          <a:blip r:embed="rId3">
            <a:alphaModFix/>
          </a:blip>
          <a:stretch>
            <a:fillRect/>
          </a:stretch>
        </p:blipFill>
        <p:spPr>
          <a:xfrm>
            <a:off x="1799327" y="2835738"/>
            <a:ext cx="5467548" cy="5467574"/>
          </a:xfrm>
          <a:prstGeom prst="rect">
            <a:avLst/>
          </a:prstGeom>
          <a:noFill/>
          <a:ln>
            <a:noFill/>
          </a:ln>
        </p:spPr>
      </p:pic>
      <p:sp>
        <p:nvSpPr>
          <p:cNvPr id="113" name="Google Shape;113;p15"/>
          <p:cNvSpPr txBox="1"/>
          <p:nvPr/>
        </p:nvSpPr>
        <p:spPr>
          <a:xfrm>
            <a:off x="1799325" y="8260800"/>
            <a:ext cx="5467500" cy="1000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900">
                <a:solidFill>
                  <a:srgbClr val="272525"/>
                </a:solidFill>
                <a:latin typeface="Inter"/>
                <a:ea typeface="Inter"/>
                <a:cs typeface="Inter"/>
                <a:sym typeface="Inter"/>
              </a:rPr>
              <a:t>80% of projects withdraw </a:t>
            </a:r>
            <a:r>
              <a:rPr lang="en-US" sz="2400">
                <a:solidFill>
                  <a:srgbClr val="272525"/>
                </a:solidFill>
                <a:latin typeface="Inter"/>
                <a:ea typeface="Inter"/>
                <a:cs typeface="Inter"/>
                <a:sym typeface="Inter"/>
              </a:rPr>
              <a:t>during 3-5 year queue process</a:t>
            </a:r>
            <a:endParaRPr sz="100"/>
          </a:p>
        </p:txBody>
      </p:sp>
      <p:sp>
        <p:nvSpPr>
          <p:cNvPr id="114" name="Google Shape;114;p15"/>
          <p:cNvSpPr txBox="1"/>
          <p:nvPr/>
        </p:nvSpPr>
        <p:spPr>
          <a:xfrm>
            <a:off x="1799325" y="2189238"/>
            <a:ext cx="7138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solidFill>
                  <a:srgbClr val="272525"/>
                </a:solidFill>
                <a:latin typeface="Inter"/>
                <a:ea typeface="Inter"/>
                <a:cs typeface="Inter"/>
                <a:sym typeface="Inter"/>
              </a:rPr>
              <a:t>Reality:</a:t>
            </a:r>
            <a:endParaRPr sz="700"/>
          </a:p>
        </p:txBody>
      </p:sp>
      <p:sp>
        <p:nvSpPr>
          <p:cNvPr id="115" name="Google Shape;115;p1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16" name="Google Shape;116;p15"/>
          <p:cNvSpPr txBox="1"/>
          <p:nvPr/>
        </p:nvSpPr>
        <p:spPr>
          <a:xfrm>
            <a:off x="16571020" y="9481928"/>
            <a:ext cx="1453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00">
                <a:solidFill>
                  <a:srgbClr val="888888"/>
                </a:solidFill>
                <a:latin typeface="Calibri"/>
                <a:ea typeface="Calibri"/>
                <a:cs typeface="Calibri"/>
                <a:sym typeface="Calibri"/>
              </a:rPr>
              <a:t>Team 16</a:t>
            </a:r>
            <a:endParaRPr i="1" sz="2100">
              <a:solidFill>
                <a:srgbClr val="888888"/>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p:nvPr/>
        </p:nvSpPr>
        <p:spPr>
          <a:xfrm>
            <a:off x="0" y="335446"/>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6F4F4"/>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2" name="Google Shape;122;p16"/>
          <p:cNvSpPr/>
          <p:nvPr/>
        </p:nvSpPr>
        <p:spPr>
          <a:xfrm>
            <a:off x="-25050" y="-7"/>
            <a:ext cx="18288000" cy="10287000"/>
          </a:xfrm>
          <a:custGeom>
            <a:rect b="b" l="l" r="r" t="t"/>
            <a:pathLst>
              <a:path extrusionOk="0" h="13716000" w="24384000">
                <a:moveTo>
                  <a:pt x="0" y="0"/>
                </a:moveTo>
                <a:lnTo>
                  <a:pt x="24384000" y="0"/>
                </a:lnTo>
                <a:lnTo>
                  <a:pt x="24384000" y="13716000"/>
                </a:lnTo>
                <a:lnTo>
                  <a:pt x="0" y="1371600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3" name="Google Shape;123;p16"/>
          <p:cNvSpPr txBox="1"/>
          <p:nvPr/>
        </p:nvSpPr>
        <p:spPr>
          <a:xfrm>
            <a:off x="764410" y="1659250"/>
            <a:ext cx="16709100" cy="323100"/>
          </a:xfrm>
          <a:prstGeom prst="rect">
            <a:avLst/>
          </a:prstGeom>
          <a:noFill/>
          <a:ln>
            <a:noFill/>
          </a:ln>
        </p:spPr>
        <p:txBody>
          <a:bodyPr anchorCtr="0" anchor="t" bIns="0" lIns="0" spcFirstLastPara="1" rIns="0" wrap="square" tIns="0">
            <a:spAutoFit/>
          </a:bodyPr>
          <a:lstStyle/>
          <a:p>
            <a:pPr indent="0" lvl="0" marL="0" marR="0" rtl="0" algn="l">
              <a:lnSpc>
                <a:spcPct val="109375"/>
              </a:lnSpc>
              <a:spcBef>
                <a:spcPts val="0"/>
              </a:spcBef>
              <a:spcAft>
                <a:spcPts val="0"/>
              </a:spcAft>
              <a:buNone/>
            </a:pPr>
            <a:r>
              <a:rPr lang="en-US" sz="2100">
                <a:solidFill>
                  <a:srgbClr val="272525"/>
                </a:solidFill>
                <a:latin typeface="Inter"/>
                <a:ea typeface="Inter"/>
                <a:cs typeface="Inter"/>
                <a:sym typeface="Inter"/>
              </a:rPr>
              <a:t>AI enables</a:t>
            </a:r>
            <a:r>
              <a:rPr lang="en-US" sz="2100">
                <a:solidFill>
                  <a:srgbClr val="272525"/>
                </a:solidFill>
                <a:latin typeface="Inter"/>
                <a:ea typeface="Inter"/>
                <a:cs typeface="Inter"/>
                <a:sym typeface="Inter"/>
              </a:rPr>
              <a:t> targeted solutions across four critical domains, each with defined implementation timelines and proven methodologies.</a:t>
            </a:r>
            <a:endParaRPr sz="1900"/>
          </a:p>
        </p:txBody>
      </p:sp>
      <p:grpSp>
        <p:nvGrpSpPr>
          <p:cNvPr id="124" name="Google Shape;124;p16"/>
          <p:cNvGrpSpPr/>
          <p:nvPr/>
        </p:nvGrpSpPr>
        <p:grpSpPr>
          <a:xfrm>
            <a:off x="491275" y="2505691"/>
            <a:ext cx="7389862" cy="902486"/>
            <a:chOff x="0" y="0"/>
            <a:chExt cx="13929995" cy="2714244"/>
          </a:xfrm>
        </p:grpSpPr>
        <p:sp>
          <p:nvSpPr>
            <p:cNvPr id="125" name="Google Shape;125;p16"/>
            <p:cNvSpPr/>
            <p:nvPr/>
          </p:nvSpPr>
          <p:spPr>
            <a:xfrm>
              <a:off x="6350" y="6350"/>
              <a:ext cx="13917295" cy="2701544"/>
            </a:xfrm>
            <a:custGeom>
              <a:rect b="b" l="l" r="r" t="t"/>
              <a:pathLst>
                <a:path extrusionOk="0" h="2701544" w="13917295">
                  <a:moveTo>
                    <a:pt x="0" y="79375"/>
                  </a:moveTo>
                  <a:cubicBezTo>
                    <a:pt x="0" y="35560"/>
                    <a:pt x="35687" y="0"/>
                    <a:pt x="79756" y="0"/>
                  </a:cubicBezTo>
                  <a:lnTo>
                    <a:pt x="13837538" y="0"/>
                  </a:lnTo>
                  <a:cubicBezTo>
                    <a:pt x="13881607" y="0"/>
                    <a:pt x="13917295" y="35560"/>
                    <a:pt x="13917295" y="79375"/>
                  </a:cubicBezTo>
                  <a:lnTo>
                    <a:pt x="13917295" y="2622169"/>
                  </a:lnTo>
                  <a:cubicBezTo>
                    <a:pt x="13917295" y="2665984"/>
                    <a:pt x="13881607" y="2701544"/>
                    <a:pt x="13837538" y="2701544"/>
                  </a:cubicBezTo>
                  <a:lnTo>
                    <a:pt x="79756" y="2701544"/>
                  </a:lnTo>
                  <a:cubicBezTo>
                    <a:pt x="35687" y="2701544"/>
                    <a:pt x="0" y="2665984"/>
                    <a:pt x="0" y="2622169"/>
                  </a:cubicBezTo>
                  <a:close/>
                </a:path>
              </a:pathLst>
            </a:custGeom>
            <a:solidFill>
              <a:srgbClr val="DADB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26" name="Google Shape;126;p16"/>
            <p:cNvSpPr/>
            <p:nvPr/>
          </p:nvSpPr>
          <p:spPr>
            <a:xfrm>
              <a:off x="0" y="0"/>
              <a:ext cx="13929995" cy="2714244"/>
            </a:xfrm>
            <a:custGeom>
              <a:rect b="b" l="l" r="r" t="t"/>
              <a:pathLst>
                <a:path extrusionOk="0" h="2714244" w="13929995">
                  <a:moveTo>
                    <a:pt x="0" y="85725"/>
                  </a:moveTo>
                  <a:cubicBezTo>
                    <a:pt x="0" y="38354"/>
                    <a:pt x="38608" y="0"/>
                    <a:pt x="86106" y="0"/>
                  </a:cubicBezTo>
                  <a:lnTo>
                    <a:pt x="13843888" y="0"/>
                  </a:lnTo>
                  <a:lnTo>
                    <a:pt x="13843888" y="6350"/>
                  </a:lnTo>
                  <a:lnTo>
                    <a:pt x="13843888" y="0"/>
                  </a:lnTo>
                  <a:cubicBezTo>
                    <a:pt x="13891386" y="0"/>
                    <a:pt x="13929995" y="38354"/>
                    <a:pt x="13929995" y="85725"/>
                  </a:cubicBezTo>
                  <a:lnTo>
                    <a:pt x="13923645" y="85725"/>
                  </a:lnTo>
                  <a:lnTo>
                    <a:pt x="13929995" y="85725"/>
                  </a:lnTo>
                  <a:lnTo>
                    <a:pt x="13929995" y="2628519"/>
                  </a:lnTo>
                  <a:lnTo>
                    <a:pt x="13923645" y="2628519"/>
                  </a:lnTo>
                  <a:lnTo>
                    <a:pt x="13929995" y="2628519"/>
                  </a:lnTo>
                  <a:cubicBezTo>
                    <a:pt x="13929995" y="2675890"/>
                    <a:pt x="13891386" y="2714244"/>
                    <a:pt x="13843888" y="2714244"/>
                  </a:cubicBezTo>
                  <a:lnTo>
                    <a:pt x="13843888" y="2707894"/>
                  </a:lnTo>
                  <a:lnTo>
                    <a:pt x="13843888" y="2714244"/>
                  </a:lnTo>
                  <a:lnTo>
                    <a:pt x="86106" y="2714244"/>
                  </a:lnTo>
                  <a:lnTo>
                    <a:pt x="86106" y="2707894"/>
                  </a:lnTo>
                  <a:lnTo>
                    <a:pt x="86106" y="2714244"/>
                  </a:lnTo>
                  <a:cubicBezTo>
                    <a:pt x="38608" y="2714244"/>
                    <a:pt x="0" y="2675890"/>
                    <a:pt x="0" y="2628519"/>
                  </a:cubicBezTo>
                  <a:lnTo>
                    <a:pt x="0" y="85725"/>
                  </a:lnTo>
                  <a:lnTo>
                    <a:pt x="6350" y="85725"/>
                  </a:lnTo>
                  <a:lnTo>
                    <a:pt x="0" y="85725"/>
                  </a:lnTo>
                  <a:moveTo>
                    <a:pt x="12700" y="85725"/>
                  </a:moveTo>
                  <a:lnTo>
                    <a:pt x="12700" y="2628519"/>
                  </a:lnTo>
                  <a:lnTo>
                    <a:pt x="6350" y="2628519"/>
                  </a:lnTo>
                  <a:lnTo>
                    <a:pt x="12700" y="2628519"/>
                  </a:lnTo>
                  <a:cubicBezTo>
                    <a:pt x="12700" y="2668778"/>
                    <a:pt x="45466" y="2701544"/>
                    <a:pt x="86106" y="2701544"/>
                  </a:cubicBezTo>
                  <a:lnTo>
                    <a:pt x="13843888" y="2701544"/>
                  </a:lnTo>
                  <a:cubicBezTo>
                    <a:pt x="13884402" y="2701544"/>
                    <a:pt x="13917295" y="2668778"/>
                    <a:pt x="13917295" y="2628519"/>
                  </a:cubicBezTo>
                  <a:lnTo>
                    <a:pt x="13917295" y="85725"/>
                  </a:lnTo>
                  <a:cubicBezTo>
                    <a:pt x="13917295" y="45466"/>
                    <a:pt x="13884528" y="12700"/>
                    <a:pt x="13843888" y="12700"/>
                  </a:cubicBezTo>
                  <a:lnTo>
                    <a:pt x="86106" y="12700"/>
                  </a:lnTo>
                  <a:lnTo>
                    <a:pt x="86106" y="6350"/>
                  </a:lnTo>
                  <a:lnTo>
                    <a:pt x="86106" y="12700"/>
                  </a:lnTo>
                  <a:cubicBezTo>
                    <a:pt x="45466" y="12700"/>
                    <a:pt x="12700" y="45466"/>
                    <a:pt x="12700" y="85725"/>
                  </a:cubicBezTo>
                  <a:close/>
                </a:path>
              </a:pathLst>
            </a:custGeom>
            <a:solidFill>
              <a:srgbClr val="C0C1D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27" name="Google Shape;127;p16"/>
          <p:cNvSpPr/>
          <p:nvPr/>
        </p:nvSpPr>
        <p:spPr>
          <a:xfrm>
            <a:off x="647254" y="2529262"/>
            <a:ext cx="425196" cy="425196"/>
          </a:xfrm>
          <a:custGeom>
            <a:rect b="b" l="l" r="r" t="t"/>
            <a:pathLst>
              <a:path extrusionOk="0" h="566928" w="566928">
                <a:moveTo>
                  <a:pt x="0" y="283464"/>
                </a:moveTo>
                <a:cubicBezTo>
                  <a:pt x="0" y="126873"/>
                  <a:pt x="126873" y="0"/>
                  <a:pt x="283464" y="0"/>
                </a:cubicBezTo>
                <a:cubicBezTo>
                  <a:pt x="440055" y="0"/>
                  <a:pt x="566928" y="126873"/>
                  <a:pt x="566928" y="283464"/>
                </a:cubicBezTo>
                <a:cubicBezTo>
                  <a:pt x="566928" y="440055"/>
                  <a:pt x="440055" y="566928"/>
                  <a:pt x="283464" y="566928"/>
                </a:cubicBezTo>
                <a:cubicBezTo>
                  <a:pt x="126873" y="566928"/>
                  <a:pt x="0" y="440055"/>
                  <a:pt x="0" y="283464"/>
                </a:cubicBezTo>
                <a:close/>
              </a:path>
            </a:pathLst>
          </a:custGeom>
          <a:solidFill>
            <a:srgbClr val="4950B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preencoded.png" id="128" name="Google Shape;128;p16"/>
          <p:cNvSpPr/>
          <p:nvPr/>
        </p:nvSpPr>
        <p:spPr>
          <a:xfrm>
            <a:off x="764232" y="2646241"/>
            <a:ext cx="191244" cy="191244"/>
          </a:xfrm>
          <a:custGeom>
            <a:rect b="b" l="l" r="r" t="t"/>
            <a:pathLst>
              <a:path extrusionOk="0" h="191244" w="191244">
                <a:moveTo>
                  <a:pt x="0" y="0"/>
                </a:moveTo>
                <a:lnTo>
                  <a:pt x="191244" y="0"/>
                </a:lnTo>
                <a:lnTo>
                  <a:pt x="191244" y="191243"/>
                </a:lnTo>
                <a:lnTo>
                  <a:pt x="0" y="191243"/>
                </a:lnTo>
                <a:lnTo>
                  <a:pt x="0" y="0"/>
                </a:lnTo>
                <a:close/>
              </a:path>
            </a:pathLst>
          </a:custGeom>
          <a:blipFill rotWithShape="1">
            <a:blip r:embed="rId3">
              <a:alphaModFix/>
            </a:blip>
            <a:stretch>
              <a:fillRect b="-9519" l="0" r="0" t="-951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nvGrpSpPr>
          <p:cNvPr id="129" name="Google Shape;129;p16"/>
          <p:cNvGrpSpPr/>
          <p:nvPr/>
        </p:nvGrpSpPr>
        <p:grpSpPr>
          <a:xfrm>
            <a:off x="491175" y="4241489"/>
            <a:ext cx="7389862" cy="1180643"/>
            <a:chOff x="-8" y="-3"/>
            <a:chExt cx="13929995" cy="2707897"/>
          </a:xfrm>
        </p:grpSpPr>
        <p:sp>
          <p:nvSpPr>
            <p:cNvPr id="130" name="Google Shape;130;p16"/>
            <p:cNvSpPr/>
            <p:nvPr/>
          </p:nvSpPr>
          <p:spPr>
            <a:xfrm>
              <a:off x="6350" y="6350"/>
              <a:ext cx="13917295" cy="2701544"/>
            </a:xfrm>
            <a:custGeom>
              <a:rect b="b" l="l" r="r" t="t"/>
              <a:pathLst>
                <a:path extrusionOk="0" h="2701544" w="13917295">
                  <a:moveTo>
                    <a:pt x="0" y="79375"/>
                  </a:moveTo>
                  <a:cubicBezTo>
                    <a:pt x="0" y="35560"/>
                    <a:pt x="35687" y="0"/>
                    <a:pt x="79756" y="0"/>
                  </a:cubicBezTo>
                  <a:lnTo>
                    <a:pt x="13837538" y="0"/>
                  </a:lnTo>
                  <a:cubicBezTo>
                    <a:pt x="13881607" y="0"/>
                    <a:pt x="13917295" y="35560"/>
                    <a:pt x="13917295" y="79375"/>
                  </a:cubicBezTo>
                  <a:lnTo>
                    <a:pt x="13917295" y="2622169"/>
                  </a:lnTo>
                  <a:cubicBezTo>
                    <a:pt x="13917295" y="2665984"/>
                    <a:pt x="13881607" y="2701544"/>
                    <a:pt x="13837538" y="2701544"/>
                  </a:cubicBezTo>
                  <a:lnTo>
                    <a:pt x="79756" y="2701544"/>
                  </a:lnTo>
                  <a:cubicBezTo>
                    <a:pt x="35687" y="2701544"/>
                    <a:pt x="0" y="2665984"/>
                    <a:pt x="0" y="2622169"/>
                  </a:cubicBezTo>
                  <a:close/>
                </a:path>
              </a:pathLst>
            </a:custGeom>
            <a:solidFill>
              <a:srgbClr val="DADB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1" name="Google Shape;131;p16"/>
            <p:cNvSpPr/>
            <p:nvPr/>
          </p:nvSpPr>
          <p:spPr>
            <a:xfrm>
              <a:off x="-8" y="-3"/>
              <a:ext cx="13929995" cy="1574262"/>
            </a:xfrm>
            <a:custGeom>
              <a:rect b="b" l="l" r="r" t="t"/>
              <a:pathLst>
                <a:path extrusionOk="0" h="2714244" w="13929995">
                  <a:moveTo>
                    <a:pt x="0" y="85725"/>
                  </a:moveTo>
                  <a:cubicBezTo>
                    <a:pt x="0" y="38354"/>
                    <a:pt x="38608" y="0"/>
                    <a:pt x="86106" y="0"/>
                  </a:cubicBezTo>
                  <a:lnTo>
                    <a:pt x="13843888" y="0"/>
                  </a:lnTo>
                  <a:lnTo>
                    <a:pt x="13843888" y="6350"/>
                  </a:lnTo>
                  <a:lnTo>
                    <a:pt x="13843888" y="0"/>
                  </a:lnTo>
                  <a:cubicBezTo>
                    <a:pt x="13891386" y="0"/>
                    <a:pt x="13929995" y="38354"/>
                    <a:pt x="13929995" y="85725"/>
                  </a:cubicBezTo>
                  <a:lnTo>
                    <a:pt x="13923645" y="85725"/>
                  </a:lnTo>
                  <a:lnTo>
                    <a:pt x="13929995" y="85725"/>
                  </a:lnTo>
                  <a:lnTo>
                    <a:pt x="13929995" y="2628519"/>
                  </a:lnTo>
                  <a:lnTo>
                    <a:pt x="13923645" y="2628519"/>
                  </a:lnTo>
                  <a:lnTo>
                    <a:pt x="13929995" y="2628519"/>
                  </a:lnTo>
                  <a:cubicBezTo>
                    <a:pt x="13929995" y="2675890"/>
                    <a:pt x="13891386" y="2714244"/>
                    <a:pt x="13843888" y="2714244"/>
                  </a:cubicBezTo>
                  <a:lnTo>
                    <a:pt x="13843888" y="2707894"/>
                  </a:lnTo>
                  <a:lnTo>
                    <a:pt x="13843888" y="2714244"/>
                  </a:lnTo>
                  <a:lnTo>
                    <a:pt x="86106" y="2714244"/>
                  </a:lnTo>
                  <a:lnTo>
                    <a:pt x="86106" y="2707894"/>
                  </a:lnTo>
                  <a:lnTo>
                    <a:pt x="86106" y="2714244"/>
                  </a:lnTo>
                  <a:cubicBezTo>
                    <a:pt x="38608" y="2714244"/>
                    <a:pt x="0" y="2675890"/>
                    <a:pt x="0" y="2628519"/>
                  </a:cubicBezTo>
                  <a:lnTo>
                    <a:pt x="0" y="85725"/>
                  </a:lnTo>
                  <a:lnTo>
                    <a:pt x="6350" y="85725"/>
                  </a:lnTo>
                  <a:lnTo>
                    <a:pt x="0" y="85725"/>
                  </a:lnTo>
                  <a:moveTo>
                    <a:pt x="12700" y="85725"/>
                  </a:moveTo>
                  <a:lnTo>
                    <a:pt x="12700" y="2628519"/>
                  </a:lnTo>
                  <a:lnTo>
                    <a:pt x="6350" y="2628519"/>
                  </a:lnTo>
                  <a:lnTo>
                    <a:pt x="12700" y="2628519"/>
                  </a:lnTo>
                  <a:cubicBezTo>
                    <a:pt x="12700" y="2668778"/>
                    <a:pt x="45466" y="2701544"/>
                    <a:pt x="86106" y="2701544"/>
                  </a:cubicBezTo>
                  <a:lnTo>
                    <a:pt x="13843888" y="2701544"/>
                  </a:lnTo>
                  <a:cubicBezTo>
                    <a:pt x="13884402" y="2701544"/>
                    <a:pt x="13917295" y="2668778"/>
                    <a:pt x="13917295" y="2628519"/>
                  </a:cubicBezTo>
                  <a:lnTo>
                    <a:pt x="13917295" y="85725"/>
                  </a:lnTo>
                  <a:cubicBezTo>
                    <a:pt x="13917295" y="45466"/>
                    <a:pt x="13884528" y="12700"/>
                    <a:pt x="13843888" y="12700"/>
                  </a:cubicBezTo>
                  <a:lnTo>
                    <a:pt x="86106" y="12700"/>
                  </a:lnTo>
                  <a:lnTo>
                    <a:pt x="86106" y="6350"/>
                  </a:lnTo>
                  <a:lnTo>
                    <a:pt x="86106" y="12700"/>
                  </a:lnTo>
                  <a:cubicBezTo>
                    <a:pt x="45466" y="12700"/>
                    <a:pt x="12700" y="45466"/>
                    <a:pt x="12700" y="85725"/>
                  </a:cubicBezTo>
                  <a:close/>
                </a:path>
              </a:pathLst>
            </a:custGeom>
            <a:solidFill>
              <a:srgbClr val="C0C1D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2" name="Google Shape;132;p16"/>
          <p:cNvSpPr/>
          <p:nvPr/>
        </p:nvSpPr>
        <p:spPr>
          <a:xfrm>
            <a:off x="647254" y="4331908"/>
            <a:ext cx="425196" cy="425196"/>
          </a:xfrm>
          <a:custGeom>
            <a:rect b="b" l="l" r="r" t="t"/>
            <a:pathLst>
              <a:path extrusionOk="0" h="566928" w="566928">
                <a:moveTo>
                  <a:pt x="0" y="283464"/>
                </a:moveTo>
                <a:cubicBezTo>
                  <a:pt x="0" y="126873"/>
                  <a:pt x="126873" y="0"/>
                  <a:pt x="283464" y="0"/>
                </a:cubicBezTo>
                <a:cubicBezTo>
                  <a:pt x="440055" y="0"/>
                  <a:pt x="566928" y="126873"/>
                  <a:pt x="566928" y="283464"/>
                </a:cubicBezTo>
                <a:cubicBezTo>
                  <a:pt x="566928" y="440055"/>
                  <a:pt x="440055" y="566928"/>
                  <a:pt x="283464" y="566928"/>
                </a:cubicBezTo>
                <a:cubicBezTo>
                  <a:pt x="126873" y="566928"/>
                  <a:pt x="0" y="440055"/>
                  <a:pt x="0" y="283464"/>
                </a:cubicBezTo>
                <a:close/>
              </a:path>
            </a:pathLst>
          </a:custGeom>
          <a:solidFill>
            <a:srgbClr val="4950B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preencoded.png" id="133" name="Google Shape;133;p16"/>
          <p:cNvSpPr/>
          <p:nvPr/>
        </p:nvSpPr>
        <p:spPr>
          <a:xfrm>
            <a:off x="764232" y="4448886"/>
            <a:ext cx="191244" cy="191244"/>
          </a:xfrm>
          <a:custGeom>
            <a:rect b="b" l="l" r="r" t="t"/>
            <a:pathLst>
              <a:path extrusionOk="0" h="191244" w="191244">
                <a:moveTo>
                  <a:pt x="0" y="0"/>
                </a:moveTo>
                <a:lnTo>
                  <a:pt x="191244" y="0"/>
                </a:lnTo>
                <a:lnTo>
                  <a:pt x="191244" y="191244"/>
                </a:lnTo>
                <a:lnTo>
                  <a:pt x="0" y="191244"/>
                </a:lnTo>
                <a:lnTo>
                  <a:pt x="0" y="0"/>
                </a:lnTo>
                <a:close/>
              </a:path>
            </a:pathLst>
          </a:custGeom>
          <a:blipFill rotWithShape="1">
            <a:blip r:embed="rId4">
              <a:alphaModFix/>
            </a:blip>
            <a:stretch>
              <a:fillRect b="-2379" l="0" r="0" t="-2379"/>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4" name="Google Shape;134;p16"/>
          <p:cNvSpPr txBox="1"/>
          <p:nvPr/>
        </p:nvSpPr>
        <p:spPr>
          <a:xfrm>
            <a:off x="1191325" y="4364239"/>
            <a:ext cx="6515400" cy="779100"/>
          </a:xfrm>
          <a:prstGeom prst="rect">
            <a:avLst/>
          </a:prstGeom>
          <a:noFill/>
          <a:ln>
            <a:noFill/>
          </a:ln>
        </p:spPr>
        <p:txBody>
          <a:bodyPr anchorCtr="0" anchor="t" bIns="0" lIns="0" spcFirstLastPara="1" rIns="0" wrap="square" tIns="0">
            <a:spAutoFit/>
          </a:bodyPr>
          <a:lstStyle/>
          <a:p>
            <a:pPr indent="0" lvl="0" marL="0" marR="0" rtl="0" algn="l">
              <a:lnSpc>
                <a:spcPct val="84350"/>
              </a:lnSpc>
              <a:spcBef>
                <a:spcPts val="0"/>
              </a:spcBef>
              <a:spcAft>
                <a:spcPts val="0"/>
              </a:spcAft>
              <a:buNone/>
            </a:pPr>
            <a:r>
              <a:rPr b="1" lang="en-US" sz="2000">
                <a:solidFill>
                  <a:srgbClr val="272525"/>
                </a:solidFill>
                <a:latin typeface="Inter"/>
                <a:ea typeface="Inter"/>
                <a:cs typeface="Inter"/>
                <a:sym typeface="Inter"/>
              </a:rPr>
              <a:t>Technical Studies</a:t>
            </a:r>
            <a:endParaRPr b="1" sz="2000">
              <a:solidFill>
                <a:srgbClr val="272525"/>
              </a:solidFill>
              <a:latin typeface="Inter"/>
              <a:ea typeface="Inter"/>
              <a:cs typeface="Inter"/>
              <a:sym typeface="Inter"/>
            </a:endParaRPr>
          </a:p>
          <a:p>
            <a:pPr indent="0" lvl="0" marL="0" marR="0" rtl="0" algn="l">
              <a:lnSpc>
                <a:spcPct val="84350"/>
              </a:lnSpc>
              <a:spcBef>
                <a:spcPts val="0"/>
              </a:spcBef>
              <a:spcAft>
                <a:spcPts val="0"/>
              </a:spcAft>
              <a:buNone/>
            </a:pPr>
            <a:r>
              <a:rPr b="1" lang="en-US" sz="2000">
                <a:solidFill>
                  <a:srgbClr val="272525"/>
                </a:solidFill>
                <a:latin typeface="Inter"/>
                <a:ea typeface="Inter"/>
                <a:cs typeface="Inter"/>
                <a:sym typeface="Inter"/>
              </a:rPr>
              <a:t>Challenge:</a:t>
            </a:r>
            <a:r>
              <a:rPr lang="en-US" sz="2000">
                <a:solidFill>
                  <a:srgbClr val="272525"/>
                </a:solidFill>
                <a:latin typeface="Inter"/>
                <a:ea typeface="Inter"/>
                <a:cs typeface="Inter"/>
                <a:sym typeface="Inter"/>
              </a:rPr>
              <a:t> Grid impact analysis &amp; modeling</a:t>
            </a:r>
            <a:endParaRPr b="1" sz="2000">
              <a:solidFill>
                <a:srgbClr val="272525"/>
              </a:solidFill>
              <a:latin typeface="Inter"/>
              <a:ea typeface="Inter"/>
              <a:cs typeface="Inter"/>
              <a:sym typeface="Inter"/>
            </a:endParaRPr>
          </a:p>
          <a:p>
            <a:pPr indent="0" lvl="0" marL="0" marR="0" rtl="0" algn="l">
              <a:lnSpc>
                <a:spcPct val="84350"/>
              </a:lnSpc>
              <a:spcBef>
                <a:spcPts val="0"/>
              </a:spcBef>
              <a:spcAft>
                <a:spcPts val="0"/>
              </a:spcAft>
              <a:buNone/>
            </a:pPr>
            <a:r>
              <a:t/>
            </a:r>
            <a:endParaRPr sz="2000"/>
          </a:p>
        </p:txBody>
      </p:sp>
      <p:grpSp>
        <p:nvGrpSpPr>
          <p:cNvPr id="135" name="Google Shape;135;p16"/>
          <p:cNvGrpSpPr/>
          <p:nvPr/>
        </p:nvGrpSpPr>
        <p:grpSpPr>
          <a:xfrm>
            <a:off x="491275" y="6244287"/>
            <a:ext cx="7509660" cy="1246109"/>
            <a:chOff x="0" y="0"/>
            <a:chExt cx="13929995" cy="2714244"/>
          </a:xfrm>
        </p:grpSpPr>
        <p:sp>
          <p:nvSpPr>
            <p:cNvPr id="136" name="Google Shape;136;p16"/>
            <p:cNvSpPr/>
            <p:nvPr/>
          </p:nvSpPr>
          <p:spPr>
            <a:xfrm>
              <a:off x="6350" y="6350"/>
              <a:ext cx="13917295" cy="2701544"/>
            </a:xfrm>
            <a:custGeom>
              <a:rect b="b" l="l" r="r" t="t"/>
              <a:pathLst>
                <a:path extrusionOk="0" h="2701544" w="13917295">
                  <a:moveTo>
                    <a:pt x="0" y="79375"/>
                  </a:moveTo>
                  <a:cubicBezTo>
                    <a:pt x="0" y="35560"/>
                    <a:pt x="35687" y="0"/>
                    <a:pt x="79756" y="0"/>
                  </a:cubicBezTo>
                  <a:lnTo>
                    <a:pt x="13837538" y="0"/>
                  </a:lnTo>
                  <a:cubicBezTo>
                    <a:pt x="13881607" y="0"/>
                    <a:pt x="13917295" y="35560"/>
                    <a:pt x="13917295" y="79375"/>
                  </a:cubicBezTo>
                  <a:lnTo>
                    <a:pt x="13917295" y="2622169"/>
                  </a:lnTo>
                  <a:cubicBezTo>
                    <a:pt x="13917295" y="2665984"/>
                    <a:pt x="13881607" y="2701544"/>
                    <a:pt x="13837538" y="2701544"/>
                  </a:cubicBezTo>
                  <a:lnTo>
                    <a:pt x="79756" y="2701544"/>
                  </a:lnTo>
                  <a:cubicBezTo>
                    <a:pt x="35687" y="2701544"/>
                    <a:pt x="0" y="2665984"/>
                    <a:pt x="0" y="2622169"/>
                  </a:cubicBezTo>
                  <a:close/>
                </a:path>
              </a:pathLst>
            </a:custGeom>
            <a:solidFill>
              <a:srgbClr val="DADB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37" name="Google Shape;137;p16"/>
            <p:cNvSpPr/>
            <p:nvPr/>
          </p:nvSpPr>
          <p:spPr>
            <a:xfrm>
              <a:off x="0" y="0"/>
              <a:ext cx="13929995" cy="2714244"/>
            </a:xfrm>
            <a:custGeom>
              <a:rect b="b" l="l" r="r" t="t"/>
              <a:pathLst>
                <a:path extrusionOk="0" h="2714244" w="13929995">
                  <a:moveTo>
                    <a:pt x="0" y="85725"/>
                  </a:moveTo>
                  <a:cubicBezTo>
                    <a:pt x="0" y="38354"/>
                    <a:pt x="38608" y="0"/>
                    <a:pt x="86106" y="0"/>
                  </a:cubicBezTo>
                  <a:lnTo>
                    <a:pt x="13843888" y="0"/>
                  </a:lnTo>
                  <a:lnTo>
                    <a:pt x="13843888" y="6350"/>
                  </a:lnTo>
                  <a:lnTo>
                    <a:pt x="13843888" y="0"/>
                  </a:lnTo>
                  <a:cubicBezTo>
                    <a:pt x="13891386" y="0"/>
                    <a:pt x="13929995" y="38354"/>
                    <a:pt x="13929995" y="85725"/>
                  </a:cubicBezTo>
                  <a:lnTo>
                    <a:pt x="13923645" y="85725"/>
                  </a:lnTo>
                  <a:lnTo>
                    <a:pt x="13929995" y="85725"/>
                  </a:lnTo>
                  <a:lnTo>
                    <a:pt x="13929995" y="2628519"/>
                  </a:lnTo>
                  <a:lnTo>
                    <a:pt x="13923645" y="2628519"/>
                  </a:lnTo>
                  <a:lnTo>
                    <a:pt x="13929995" y="2628519"/>
                  </a:lnTo>
                  <a:cubicBezTo>
                    <a:pt x="13929995" y="2675890"/>
                    <a:pt x="13891386" y="2714244"/>
                    <a:pt x="13843888" y="2714244"/>
                  </a:cubicBezTo>
                  <a:lnTo>
                    <a:pt x="13843888" y="2707894"/>
                  </a:lnTo>
                  <a:lnTo>
                    <a:pt x="13843888" y="2714244"/>
                  </a:lnTo>
                  <a:lnTo>
                    <a:pt x="86106" y="2714244"/>
                  </a:lnTo>
                  <a:lnTo>
                    <a:pt x="86106" y="2707894"/>
                  </a:lnTo>
                  <a:lnTo>
                    <a:pt x="86106" y="2714244"/>
                  </a:lnTo>
                  <a:cubicBezTo>
                    <a:pt x="38608" y="2714244"/>
                    <a:pt x="0" y="2675890"/>
                    <a:pt x="0" y="2628519"/>
                  </a:cubicBezTo>
                  <a:lnTo>
                    <a:pt x="0" y="85725"/>
                  </a:lnTo>
                  <a:lnTo>
                    <a:pt x="6350" y="85725"/>
                  </a:lnTo>
                  <a:lnTo>
                    <a:pt x="0" y="85725"/>
                  </a:lnTo>
                  <a:moveTo>
                    <a:pt x="12700" y="85725"/>
                  </a:moveTo>
                  <a:lnTo>
                    <a:pt x="12700" y="2628519"/>
                  </a:lnTo>
                  <a:lnTo>
                    <a:pt x="6350" y="2628519"/>
                  </a:lnTo>
                  <a:lnTo>
                    <a:pt x="12700" y="2628519"/>
                  </a:lnTo>
                  <a:cubicBezTo>
                    <a:pt x="12700" y="2668778"/>
                    <a:pt x="45466" y="2701544"/>
                    <a:pt x="86106" y="2701544"/>
                  </a:cubicBezTo>
                  <a:lnTo>
                    <a:pt x="13843888" y="2701544"/>
                  </a:lnTo>
                  <a:cubicBezTo>
                    <a:pt x="13884402" y="2701544"/>
                    <a:pt x="13917295" y="2668778"/>
                    <a:pt x="13917295" y="2628519"/>
                  </a:cubicBezTo>
                  <a:lnTo>
                    <a:pt x="13917295" y="85725"/>
                  </a:lnTo>
                  <a:cubicBezTo>
                    <a:pt x="13917295" y="45466"/>
                    <a:pt x="13884528" y="12700"/>
                    <a:pt x="13843888" y="12700"/>
                  </a:cubicBezTo>
                  <a:lnTo>
                    <a:pt x="86106" y="12700"/>
                  </a:lnTo>
                  <a:lnTo>
                    <a:pt x="86106" y="6350"/>
                  </a:lnTo>
                  <a:lnTo>
                    <a:pt x="86106" y="12700"/>
                  </a:lnTo>
                  <a:cubicBezTo>
                    <a:pt x="45466" y="12700"/>
                    <a:pt x="12700" y="45466"/>
                    <a:pt x="12700" y="85725"/>
                  </a:cubicBezTo>
                  <a:close/>
                </a:path>
              </a:pathLst>
            </a:custGeom>
            <a:solidFill>
              <a:srgbClr val="C0C1D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38" name="Google Shape;138;p16"/>
          <p:cNvSpPr/>
          <p:nvPr/>
        </p:nvSpPr>
        <p:spPr>
          <a:xfrm>
            <a:off x="647254" y="6410286"/>
            <a:ext cx="425196" cy="425196"/>
          </a:xfrm>
          <a:custGeom>
            <a:rect b="b" l="l" r="r" t="t"/>
            <a:pathLst>
              <a:path extrusionOk="0" h="566928" w="566928">
                <a:moveTo>
                  <a:pt x="0" y="283464"/>
                </a:moveTo>
                <a:cubicBezTo>
                  <a:pt x="0" y="126873"/>
                  <a:pt x="126873" y="0"/>
                  <a:pt x="283464" y="0"/>
                </a:cubicBezTo>
                <a:cubicBezTo>
                  <a:pt x="440055" y="0"/>
                  <a:pt x="566928" y="126873"/>
                  <a:pt x="566928" y="283464"/>
                </a:cubicBezTo>
                <a:cubicBezTo>
                  <a:pt x="566928" y="440055"/>
                  <a:pt x="440055" y="566928"/>
                  <a:pt x="283464" y="566928"/>
                </a:cubicBezTo>
                <a:cubicBezTo>
                  <a:pt x="126873" y="566928"/>
                  <a:pt x="0" y="440055"/>
                  <a:pt x="0" y="283464"/>
                </a:cubicBezTo>
                <a:close/>
              </a:path>
            </a:pathLst>
          </a:custGeom>
          <a:solidFill>
            <a:srgbClr val="4950B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preencoded.png" id="139" name="Google Shape;139;p16"/>
          <p:cNvSpPr/>
          <p:nvPr/>
        </p:nvSpPr>
        <p:spPr>
          <a:xfrm>
            <a:off x="764232" y="6517240"/>
            <a:ext cx="191244" cy="191244"/>
          </a:xfrm>
          <a:custGeom>
            <a:rect b="b" l="l" r="r" t="t"/>
            <a:pathLst>
              <a:path extrusionOk="0" h="191244" w="191244">
                <a:moveTo>
                  <a:pt x="0" y="0"/>
                </a:moveTo>
                <a:lnTo>
                  <a:pt x="191244" y="0"/>
                </a:lnTo>
                <a:lnTo>
                  <a:pt x="191244" y="191244"/>
                </a:lnTo>
                <a:lnTo>
                  <a:pt x="0" y="191244"/>
                </a:lnTo>
                <a:lnTo>
                  <a:pt x="0" y="0"/>
                </a:lnTo>
                <a:close/>
              </a:path>
            </a:pathLst>
          </a:custGeom>
          <a:blipFill rotWithShape="1">
            <a:blip r:embed="rId5">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40" name="Google Shape;140;p16"/>
          <p:cNvSpPr txBox="1"/>
          <p:nvPr/>
        </p:nvSpPr>
        <p:spPr>
          <a:xfrm>
            <a:off x="1477088" y="6410287"/>
            <a:ext cx="5538000" cy="779100"/>
          </a:xfrm>
          <a:prstGeom prst="rect">
            <a:avLst/>
          </a:prstGeom>
          <a:noFill/>
          <a:ln>
            <a:noFill/>
          </a:ln>
        </p:spPr>
        <p:txBody>
          <a:bodyPr anchorCtr="0" anchor="t" bIns="0" lIns="0" spcFirstLastPara="1" rIns="0" wrap="square" tIns="0">
            <a:spAutoFit/>
          </a:bodyPr>
          <a:lstStyle/>
          <a:p>
            <a:pPr indent="0" lvl="0" marL="0" marR="0" rtl="0" algn="l">
              <a:lnSpc>
                <a:spcPct val="84350"/>
              </a:lnSpc>
              <a:spcBef>
                <a:spcPts val="0"/>
              </a:spcBef>
              <a:spcAft>
                <a:spcPts val="0"/>
              </a:spcAft>
              <a:buNone/>
            </a:pPr>
            <a:r>
              <a:rPr b="1" lang="en-US" sz="2000">
                <a:solidFill>
                  <a:srgbClr val="272525"/>
                </a:solidFill>
                <a:latin typeface="Inter"/>
                <a:ea typeface="Inter"/>
                <a:cs typeface="Inter"/>
                <a:sym typeface="Inter"/>
              </a:rPr>
              <a:t>Grid Expansion Planning</a:t>
            </a:r>
            <a:endParaRPr b="1" sz="2000">
              <a:solidFill>
                <a:srgbClr val="272525"/>
              </a:solidFill>
              <a:latin typeface="Inter"/>
              <a:ea typeface="Inter"/>
              <a:cs typeface="Inter"/>
              <a:sym typeface="Inter"/>
            </a:endParaRPr>
          </a:p>
          <a:p>
            <a:pPr indent="0" lvl="0" marL="0" marR="0" rtl="0" algn="l">
              <a:lnSpc>
                <a:spcPct val="84350"/>
              </a:lnSpc>
              <a:spcBef>
                <a:spcPts val="0"/>
              </a:spcBef>
              <a:spcAft>
                <a:spcPts val="0"/>
              </a:spcAft>
              <a:buNone/>
            </a:pPr>
            <a:r>
              <a:rPr b="1" lang="en-US" sz="2000">
                <a:solidFill>
                  <a:srgbClr val="272525"/>
                </a:solidFill>
                <a:latin typeface="Inter"/>
                <a:ea typeface="Inter"/>
                <a:cs typeface="Inter"/>
                <a:sym typeface="Inter"/>
              </a:rPr>
              <a:t>Challenge:</a:t>
            </a:r>
            <a:r>
              <a:rPr lang="en-US" sz="2000">
                <a:solidFill>
                  <a:srgbClr val="272525"/>
                </a:solidFill>
                <a:latin typeface="Inter"/>
                <a:ea typeface="Inter"/>
                <a:cs typeface="Inter"/>
                <a:sym typeface="Inter"/>
              </a:rPr>
              <a:t> Optimal grid expansion</a:t>
            </a:r>
            <a:endParaRPr sz="2000"/>
          </a:p>
          <a:p>
            <a:pPr indent="0" lvl="0" marL="0" marR="0" rtl="0" algn="l">
              <a:lnSpc>
                <a:spcPct val="84350"/>
              </a:lnSpc>
              <a:spcBef>
                <a:spcPts val="0"/>
              </a:spcBef>
              <a:spcAft>
                <a:spcPts val="0"/>
              </a:spcAft>
              <a:buNone/>
            </a:pPr>
            <a:r>
              <a:t/>
            </a:r>
            <a:endParaRPr sz="2000"/>
          </a:p>
        </p:txBody>
      </p:sp>
      <p:sp>
        <p:nvSpPr>
          <p:cNvPr id="141" name="Google Shape;141;p16"/>
          <p:cNvSpPr/>
          <p:nvPr/>
        </p:nvSpPr>
        <p:spPr>
          <a:xfrm>
            <a:off x="475775" y="2451039"/>
            <a:ext cx="7389900" cy="1008000"/>
          </a:xfrm>
          <a:prstGeom prst="rect">
            <a:avLst/>
          </a:prstGeom>
          <a:noFill/>
          <a:ln cap="flat" cmpd="sng" w="76200">
            <a:solidFill>
              <a:srgbClr val="FDB81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142" name="Google Shape;142;p16"/>
          <p:cNvPicPr preferRelativeResize="0"/>
          <p:nvPr/>
        </p:nvPicPr>
        <p:blipFill>
          <a:blip r:embed="rId6">
            <a:alphaModFix/>
          </a:blip>
          <a:stretch>
            <a:fillRect/>
          </a:stretch>
        </p:blipFill>
        <p:spPr>
          <a:xfrm>
            <a:off x="8999942" y="3796939"/>
            <a:ext cx="8708507" cy="4184600"/>
          </a:xfrm>
          <a:prstGeom prst="rect">
            <a:avLst/>
          </a:prstGeom>
          <a:noFill/>
          <a:ln>
            <a:noFill/>
          </a:ln>
        </p:spPr>
      </p:pic>
      <p:sp>
        <p:nvSpPr>
          <p:cNvPr id="143" name="Google Shape;143;p16"/>
          <p:cNvSpPr/>
          <p:nvPr/>
        </p:nvSpPr>
        <p:spPr>
          <a:xfrm>
            <a:off x="8999950" y="3751914"/>
            <a:ext cx="8708400" cy="4184700"/>
          </a:xfrm>
          <a:prstGeom prst="rect">
            <a:avLst/>
          </a:prstGeom>
          <a:noFill/>
          <a:ln cap="flat" cmpd="sng" w="76200">
            <a:solidFill>
              <a:srgbClr val="FDB81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44" name="Google Shape;144;p16"/>
          <p:cNvSpPr txBox="1"/>
          <p:nvPr/>
        </p:nvSpPr>
        <p:spPr>
          <a:xfrm>
            <a:off x="13607275" y="2837489"/>
            <a:ext cx="42294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4200">
                <a:solidFill>
                  <a:srgbClr val="FDB814"/>
                </a:solidFill>
                <a:latin typeface="Calibri"/>
                <a:ea typeface="Calibri"/>
                <a:cs typeface="Calibri"/>
                <a:sym typeface="Calibri"/>
              </a:rPr>
              <a:t>CAPSTONE SCOPE</a:t>
            </a:r>
            <a:endParaRPr b="1" sz="4200">
              <a:solidFill>
                <a:srgbClr val="FDB814"/>
              </a:solidFill>
              <a:latin typeface="Calibri"/>
              <a:ea typeface="Calibri"/>
              <a:cs typeface="Calibri"/>
              <a:sym typeface="Calibri"/>
            </a:endParaRPr>
          </a:p>
        </p:txBody>
      </p:sp>
      <p:cxnSp>
        <p:nvCxnSpPr>
          <p:cNvPr id="145" name="Google Shape;145;p16"/>
          <p:cNvCxnSpPr>
            <a:stCxn id="141" idx="3"/>
            <a:endCxn id="144" idx="2"/>
          </p:cNvCxnSpPr>
          <p:nvPr/>
        </p:nvCxnSpPr>
        <p:spPr>
          <a:xfrm>
            <a:off x="7865675" y="2955039"/>
            <a:ext cx="7856400" cy="713700"/>
          </a:xfrm>
          <a:prstGeom prst="curvedConnector4">
            <a:avLst>
              <a:gd fmla="val 36541" name="adj1"/>
              <a:gd fmla="val 133372" name="adj2"/>
            </a:avLst>
          </a:prstGeom>
          <a:solidFill>
            <a:srgbClr val="FFFFFF"/>
          </a:solidFill>
          <a:ln>
            <a:noFill/>
          </a:ln>
        </p:spPr>
      </p:cxnSp>
      <p:cxnSp>
        <p:nvCxnSpPr>
          <p:cNvPr id="146" name="Google Shape;146;p16"/>
          <p:cNvCxnSpPr>
            <a:stCxn id="141" idx="3"/>
            <a:endCxn id="143" idx="0"/>
          </p:cNvCxnSpPr>
          <p:nvPr/>
        </p:nvCxnSpPr>
        <p:spPr>
          <a:xfrm>
            <a:off x="7865675" y="2955039"/>
            <a:ext cx="5488500" cy="796800"/>
          </a:xfrm>
          <a:prstGeom prst="curvedConnector2">
            <a:avLst/>
          </a:prstGeom>
          <a:noFill/>
          <a:ln cap="flat" cmpd="sng" w="38100">
            <a:solidFill>
              <a:srgbClr val="FDB814"/>
            </a:solidFill>
            <a:prstDash val="dash"/>
            <a:round/>
            <a:headEnd len="med" w="med" type="none"/>
            <a:tailEnd len="med" w="med" type="none"/>
          </a:ln>
        </p:spPr>
      </p:cxnSp>
      <p:sp>
        <p:nvSpPr>
          <p:cNvPr id="147" name="Google Shape;147;p16"/>
          <p:cNvSpPr txBox="1"/>
          <p:nvPr/>
        </p:nvSpPr>
        <p:spPr>
          <a:xfrm>
            <a:off x="1365725" y="2569939"/>
            <a:ext cx="5171400" cy="598500"/>
          </a:xfrm>
          <a:prstGeom prst="rect">
            <a:avLst/>
          </a:prstGeom>
          <a:noFill/>
          <a:ln>
            <a:noFill/>
          </a:ln>
        </p:spPr>
        <p:txBody>
          <a:bodyPr anchorCtr="0" anchor="t" bIns="0" lIns="0" spcFirstLastPara="1" rIns="0" wrap="square" tIns="0">
            <a:spAutoFit/>
          </a:bodyPr>
          <a:lstStyle/>
          <a:p>
            <a:pPr indent="0" lvl="0" marL="0" marR="0" rtl="0" algn="l">
              <a:lnSpc>
                <a:spcPct val="97222"/>
              </a:lnSpc>
              <a:spcBef>
                <a:spcPts val="0"/>
              </a:spcBef>
              <a:spcAft>
                <a:spcPts val="0"/>
              </a:spcAft>
              <a:buNone/>
            </a:pPr>
            <a:r>
              <a:rPr b="1" lang="en-US" sz="2000">
                <a:solidFill>
                  <a:srgbClr val="272525"/>
                </a:solidFill>
                <a:latin typeface="Inter"/>
                <a:ea typeface="Inter"/>
                <a:cs typeface="Inter"/>
                <a:sym typeface="Inter"/>
              </a:rPr>
              <a:t>Document Processing</a:t>
            </a:r>
            <a:endParaRPr b="1" sz="2000">
              <a:solidFill>
                <a:srgbClr val="272525"/>
              </a:solidFill>
              <a:latin typeface="Inter"/>
              <a:ea typeface="Inter"/>
              <a:cs typeface="Inter"/>
              <a:sym typeface="Inter"/>
            </a:endParaRPr>
          </a:p>
          <a:p>
            <a:pPr indent="0" lvl="0" marL="0" marR="0" rtl="0" algn="l">
              <a:lnSpc>
                <a:spcPct val="97222"/>
              </a:lnSpc>
              <a:spcBef>
                <a:spcPts val="0"/>
              </a:spcBef>
              <a:spcAft>
                <a:spcPts val="0"/>
              </a:spcAft>
              <a:buNone/>
            </a:pPr>
            <a:r>
              <a:rPr b="1" lang="en-US" sz="2000">
                <a:solidFill>
                  <a:srgbClr val="272525"/>
                </a:solidFill>
                <a:latin typeface="Inter"/>
                <a:ea typeface="Inter"/>
                <a:cs typeface="Inter"/>
                <a:sym typeface="Inter"/>
              </a:rPr>
              <a:t>Challenge:</a:t>
            </a:r>
            <a:r>
              <a:rPr lang="en-US" sz="2000">
                <a:solidFill>
                  <a:srgbClr val="272525"/>
                </a:solidFill>
                <a:latin typeface="Inter"/>
                <a:ea typeface="Inter"/>
                <a:cs typeface="Inter"/>
                <a:sym typeface="Inter"/>
              </a:rPr>
              <a:t> Application review &amp; validation</a:t>
            </a:r>
            <a:endParaRPr sz="2000"/>
          </a:p>
        </p:txBody>
      </p:sp>
      <p:sp>
        <p:nvSpPr>
          <p:cNvPr id="148" name="Google Shape;148;p16"/>
          <p:cNvSpPr txBox="1"/>
          <p:nvPr>
            <p:ph idx="12" type="sldNum"/>
          </p:nvPr>
        </p:nvSpPr>
        <p:spPr>
          <a:xfrm>
            <a:off x="6553200" y="6848337"/>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49" name="Google Shape;149;p16"/>
          <p:cNvSpPr txBox="1"/>
          <p:nvPr/>
        </p:nvSpPr>
        <p:spPr>
          <a:xfrm>
            <a:off x="16571020" y="9481928"/>
            <a:ext cx="1453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00">
                <a:solidFill>
                  <a:srgbClr val="888888"/>
                </a:solidFill>
                <a:latin typeface="Calibri"/>
                <a:ea typeface="Calibri"/>
                <a:cs typeface="Calibri"/>
                <a:sym typeface="Calibri"/>
              </a:rPr>
              <a:t>Team 16</a:t>
            </a:r>
            <a:endParaRPr i="1" sz="2100">
              <a:solidFill>
                <a:srgbClr val="888888"/>
              </a:solidFill>
              <a:latin typeface="Calibri"/>
              <a:ea typeface="Calibri"/>
              <a:cs typeface="Calibri"/>
              <a:sym typeface="Calibri"/>
            </a:endParaRPr>
          </a:p>
        </p:txBody>
      </p:sp>
      <p:grpSp>
        <p:nvGrpSpPr>
          <p:cNvPr id="150" name="Google Shape;150;p16"/>
          <p:cNvGrpSpPr/>
          <p:nvPr/>
        </p:nvGrpSpPr>
        <p:grpSpPr>
          <a:xfrm>
            <a:off x="491275" y="8239594"/>
            <a:ext cx="7509660" cy="1246109"/>
            <a:chOff x="0" y="0"/>
            <a:chExt cx="13929995" cy="2714244"/>
          </a:xfrm>
        </p:grpSpPr>
        <p:sp>
          <p:nvSpPr>
            <p:cNvPr id="151" name="Google Shape;151;p16"/>
            <p:cNvSpPr/>
            <p:nvPr/>
          </p:nvSpPr>
          <p:spPr>
            <a:xfrm>
              <a:off x="6350" y="6350"/>
              <a:ext cx="13917295" cy="2701544"/>
            </a:xfrm>
            <a:custGeom>
              <a:rect b="b" l="l" r="r" t="t"/>
              <a:pathLst>
                <a:path extrusionOk="0" h="2701544" w="13917295">
                  <a:moveTo>
                    <a:pt x="0" y="79375"/>
                  </a:moveTo>
                  <a:cubicBezTo>
                    <a:pt x="0" y="35560"/>
                    <a:pt x="35687" y="0"/>
                    <a:pt x="79756" y="0"/>
                  </a:cubicBezTo>
                  <a:lnTo>
                    <a:pt x="13837538" y="0"/>
                  </a:lnTo>
                  <a:cubicBezTo>
                    <a:pt x="13881607" y="0"/>
                    <a:pt x="13917295" y="35560"/>
                    <a:pt x="13917295" y="79375"/>
                  </a:cubicBezTo>
                  <a:lnTo>
                    <a:pt x="13917295" y="2622169"/>
                  </a:lnTo>
                  <a:cubicBezTo>
                    <a:pt x="13917295" y="2665984"/>
                    <a:pt x="13881607" y="2701544"/>
                    <a:pt x="13837538" y="2701544"/>
                  </a:cubicBezTo>
                  <a:lnTo>
                    <a:pt x="79756" y="2701544"/>
                  </a:lnTo>
                  <a:cubicBezTo>
                    <a:pt x="35687" y="2701544"/>
                    <a:pt x="0" y="2665984"/>
                    <a:pt x="0" y="2622169"/>
                  </a:cubicBezTo>
                  <a:close/>
                </a:path>
              </a:pathLst>
            </a:custGeom>
            <a:solidFill>
              <a:srgbClr val="DADBF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52" name="Google Shape;152;p16"/>
            <p:cNvSpPr/>
            <p:nvPr/>
          </p:nvSpPr>
          <p:spPr>
            <a:xfrm>
              <a:off x="0" y="0"/>
              <a:ext cx="13929995" cy="2714244"/>
            </a:xfrm>
            <a:custGeom>
              <a:rect b="b" l="l" r="r" t="t"/>
              <a:pathLst>
                <a:path extrusionOk="0" h="2714244" w="13929995">
                  <a:moveTo>
                    <a:pt x="0" y="85725"/>
                  </a:moveTo>
                  <a:cubicBezTo>
                    <a:pt x="0" y="38354"/>
                    <a:pt x="38608" y="0"/>
                    <a:pt x="86106" y="0"/>
                  </a:cubicBezTo>
                  <a:lnTo>
                    <a:pt x="13843888" y="0"/>
                  </a:lnTo>
                  <a:lnTo>
                    <a:pt x="13843888" y="6350"/>
                  </a:lnTo>
                  <a:lnTo>
                    <a:pt x="13843888" y="0"/>
                  </a:lnTo>
                  <a:cubicBezTo>
                    <a:pt x="13891386" y="0"/>
                    <a:pt x="13929995" y="38354"/>
                    <a:pt x="13929995" y="85725"/>
                  </a:cubicBezTo>
                  <a:lnTo>
                    <a:pt x="13923645" y="85725"/>
                  </a:lnTo>
                  <a:lnTo>
                    <a:pt x="13929995" y="85725"/>
                  </a:lnTo>
                  <a:lnTo>
                    <a:pt x="13929995" y="2628519"/>
                  </a:lnTo>
                  <a:lnTo>
                    <a:pt x="13923645" y="2628519"/>
                  </a:lnTo>
                  <a:lnTo>
                    <a:pt x="13929995" y="2628519"/>
                  </a:lnTo>
                  <a:cubicBezTo>
                    <a:pt x="13929995" y="2675890"/>
                    <a:pt x="13891386" y="2714244"/>
                    <a:pt x="13843888" y="2714244"/>
                  </a:cubicBezTo>
                  <a:lnTo>
                    <a:pt x="13843888" y="2707894"/>
                  </a:lnTo>
                  <a:lnTo>
                    <a:pt x="13843888" y="2714244"/>
                  </a:lnTo>
                  <a:lnTo>
                    <a:pt x="86106" y="2714244"/>
                  </a:lnTo>
                  <a:lnTo>
                    <a:pt x="86106" y="2707894"/>
                  </a:lnTo>
                  <a:lnTo>
                    <a:pt x="86106" y="2714244"/>
                  </a:lnTo>
                  <a:cubicBezTo>
                    <a:pt x="38608" y="2714244"/>
                    <a:pt x="0" y="2675890"/>
                    <a:pt x="0" y="2628519"/>
                  </a:cubicBezTo>
                  <a:lnTo>
                    <a:pt x="0" y="85725"/>
                  </a:lnTo>
                  <a:lnTo>
                    <a:pt x="6350" y="85725"/>
                  </a:lnTo>
                  <a:lnTo>
                    <a:pt x="0" y="85725"/>
                  </a:lnTo>
                  <a:moveTo>
                    <a:pt x="12700" y="85725"/>
                  </a:moveTo>
                  <a:lnTo>
                    <a:pt x="12700" y="2628519"/>
                  </a:lnTo>
                  <a:lnTo>
                    <a:pt x="6350" y="2628519"/>
                  </a:lnTo>
                  <a:lnTo>
                    <a:pt x="12700" y="2628519"/>
                  </a:lnTo>
                  <a:cubicBezTo>
                    <a:pt x="12700" y="2668778"/>
                    <a:pt x="45466" y="2701544"/>
                    <a:pt x="86106" y="2701544"/>
                  </a:cubicBezTo>
                  <a:lnTo>
                    <a:pt x="13843888" y="2701544"/>
                  </a:lnTo>
                  <a:cubicBezTo>
                    <a:pt x="13884402" y="2701544"/>
                    <a:pt x="13917295" y="2668778"/>
                    <a:pt x="13917295" y="2628519"/>
                  </a:cubicBezTo>
                  <a:lnTo>
                    <a:pt x="13917295" y="85725"/>
                  </a:lnTo>
                  <a:cubicBezTo>
                    <a:pt x="13917295" y="45466"/>
                    <a:pt x="13884528" y="12700"/>
                    <a:pt x="13843888" y="12700"/>
                  </a:cubicBezTo>
                  <a:lnTo>
                    <a:pt x="86106" y="12700"/>
                  </a:lnTo>
                  <a:lnTo>
                    <a:pt x="86106" y="6350"/>
                  </a:lnTo>
                  <a:lnTo>
                    <a:pt x="86106" y="12700"/>
                  </a:lnTo>
                  <a:cubicBezTo>
                    <a:pt x="45466" y="12700"/>
                    <a:pt x="12700" y="45466"/>
                    <a:pt x="12700" y="85725"/>
                  </a:cubicBezTo>
                  <a:close/>
                </a:path>
              </a:pathLst>
            </a:custGeom>
            <a:solidFill>
              <a:srgbClr val="C0C1D7"/>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53" name="Google Shape;153;p16"/>
          <p:cNvSpPr txBox="1"/>
          <p:nvPr/>
        </p:nvSpPr>
        <p:spPr>
          <a:xfrm>
            <a:off x="838127" y="732900"/>
            <a:ext cx="15924900" cy="615600"/>
          </a:xfrm>
          <a:prstGeom prst="rect">
            <a:avLst/>
          </a:prstGeom>
          <a:noFill/>
          <a:ln>
            <a:noFill/>
          </a:ln>
        </p:spPr>
        <p:txBody>
          <a:bodyPr anchorCtr="0" anchor="t" bIns="0" lIns="0" spcFirstLastPara="1" rIns="0" wrap="square" tIns="0">
            <a:spAutoFit/>
          </a:bodyPr>
          <a:lstStyle/>
          <a:p>
            <a:pPr indent="0" lvl="0" marL="0" rtl="0" algn="l">
              <a:lnSpc>
                <a:spcPct val="124981"/>
              </a:lnSpc>
              <a:spcBef>
                <a:spcPts val="0"/>
              </a:spcBef>
              <a:spcAft>
                <a:spcPts val="0"/>
              </a:spcAft>
              <a:buNone/>
            </a:pPr>
            <a:r>
              <a:rPr b="1" lang="en-US" sz="4000">
                <a:latin typeface="Inter"/>
                <a:ea typeface="Inter"/>
                <a:cs typeface="Inter"/>
                <a:sym typeface="Inter"/>
              </a:rPr>
              <a:t>AI-solvable challenges in the grid interconnection process</a:t>
            </a:r>
            <a:endParaRPr b="1" sz="5562">
              <a:latin typeface="Inter"/>
              <a:ea typeface="Inter"/>
              <a:cs typeface="Inter"/>
              <a:sym typeface="Inter"/>
            </a:endParaRPr>
          </a:p>
        </p:txBody>
      </p:sp>
      <p:sp>
        <p:nvSpPr>
          <p:cNvPr id="154" name="Google Shape;154;p16"/>
          <p:cNvSpPr txBox="1"/>
          <p:nvPr/>
        </p:nvSpPr>
        <p:spPr>
          <a:xfrm>
            <a:off x="1477102" y="8458078"/>
            <a:ext cx="6515400" cy="779100"/>
          </a:xfrm>
          <a:prstGeom prst="rect">
            <a:avLst/>
          </a:prstGeom>
          <a:noFill/>
          <a:ln>
            <a:noFill/>
          </a:ln>
        </p:spPr>
        <p:txBody>
          <a:bodyPr anchorCtr="0" anchor="t" bIns="0" lIns="0" spcFirstLastPara="1" rIns="0" wrap="square" tIns="0">
            <a:spAutoFit/>
          </a:bodyPr>
          <a:lstStyle/>
          <a:p>
            <a:pPr indent="0" lvl="0" marL="0" marR="0" rtl="0" algn="l">
              <a:lnSpc>
                <a:spcPct val="84350"/>
              </a:lnSpc>
              <a:spcBef>
                <a:spcPts val="0"/>
              </a:spcBef>
              <a:spcAft>
                <a:spcPts val="0"/>
              </a:spcAft>
              <a:buNone/>
            </a:pPr>
            <a:r>
              <a:rPr b="1" lang="en-US" sz="2000">
                <a:solidFill>
                  <a:srgbClr val="272525"/>
                </a:solidFill>
                <a:latin typeface="Inter"/>
                <a:ea typeface="Inter"/>
                <a:cs typeface="Inter"/>
                <a:sym typeface="Inter"/>
              </a:rPr>
              <a:t>Decision Support</a:t>
            </a:r>
            <a:endParaRPr b="1" sz="2000">
              <a:solidFill>
                <a:srgbClr val="272525"/>
              </a:solidFill>
              <a:latin typeface="Inter"/>
              <a:ea typeface="Inter"/>
              <a:cs typeface="Inter"/>
              <a:sym typeface="Inter"/>
            </a:endParaRPr>
          </a:p>
          <a:p>
            <a:pPr indent="0" lvl="0" marL="0" marR="0" rtl="0" algn="l">
              <a:lnSpc>
                <a:spcPct val="84350"/>
              </a:lnSpc>
              <a:spcBef>
                <a:spcPts val="0"/>
              </a:spcBef>
              <a:spcAft>
                <a:spcPts val="0"/>
              </a:spcAft>
              <a:buNone/>
            </a:pPr>
            <a:r>
              <a:rPr b="1" lang="en-US" sz="2000">
                <a:solidFill>
                  <a:srgbClr val="272525"/>
                </a:solidFill>
                <a:latin typeface="Inter"/>
                <a:ea typeface="Inter"/>
                <a:cs typeface="Inter"/>
                <a:sym typeface="Inter"/>
              </a:rPr>
              <a:t>Challenge:</a:t>
            </a:r>
            <a:r>
              <a:rPr lang="en-US" sz="2000">
                <a:solidFill>
                  <a:srgbClr val="272525"/>
                </a:solidFill>
                <a:latin typeface="Inter"/>
                <a:ea typeface="Inter"/>
                <a:cs typeface="Inter"/>
                <a:sym typeface="Inter"/>
              </a:rPr>
              <a:t> Coordination between stakeholders</a:t>
            </a:r>
            <a:endParaRPr sz="2000"/>
          </a:p>
          <a:p>
            <a:pPr indent="0" lvl="0" marL="0" marR="0" rtl="0" algn="l">
              <a:lnSpc>
                <a:spcPct val="84350"/>
              </a:lnSpc>
              <a:spcBef>
                <a:spcPts val="0"/>
              </a:spcBef>
              <a:spcAft>
                <a:spcPts val="0"/>
              </a:spcAft>
              <a:buNone/>
            </a:pPr>
            <a:r>
              <a:t/>
            </a:r>
            <a:endParaRPr sz="2000"/>
          </a:p>
        </p:txBody>
      </p:sp>
      <p:grpSp>
        <p:nvGrpSpPr>
          <p:cNvPr id="155" name="Google Shape;155;p16"/>
          <p:cNvGrpSpPr/>
          <p:nvPr/>
        </p:nvGrpSpPr>
        <p:grpSpPr>
          <a:xfrm>
            <a:off x="691987" y="8399210"/>
            <a:ext cx="425196" cy="425196"/>
            <a:chOff x="-783974" y="8332121"/>
            <a:chExt cx="425196" cy="425196"/>
          </a:xfrm>
        </p:grpSpPr>
        <p:sp>
          <p:nvSpPr>
            <p:cNvPr id="156" name="Google Shape;156;p16"/>
            <p:cNvSpPr/>
            <p:nvPr/>
          </p:nvSpPr>
          <p:spPr>
            <a:xfrm>
              <a:off x="-783974" y="8332121"/>
              <a:ext cx="425196" cy="425196"/>
            </a:xfrm>
            <a:custGeom>
              <a:rect b="b" l="l" r="r" t="t"/>
              <a:pathLst>
                <a:path extrusionOk="0" h="566928" w="566928">
                  <a:moveTo>
                    <a:pt x="0" y="283464"/>
                  </a:moveTo>
                  <a:cubicBezTo>
                    <a:pt x="0" y="126873"/>
                    <a:pt x="126873" y="0"/>
                    <a:pt x="283464" y="0"/>
                  </a:cubicBezTo>
                  <a:cubicBezTo>
                    <a:pt x="440055" y="0"/>
                    <a:pt x="566928" y="126873"/>
                    <a:pt x="566928" y="283464"/>
                  </a:cubicBezTo>
                  <a:cubicBezTo>
                    <a:pt x="566928" y="440055"/>
                    <a:pt x="440055" y="566928"/>
                    <a:pt x="283464" y="566928"/>
                  </a:cubicBezTo>
                  <a:cubicBezTo>
                    <a:pt x="126873" y="566928"/>
                    <a:pt x="0" y="440055"/>
                    <a:pt x="0" y="283464"/>
                  </a:cubicBezTo>
                  <a:close/>
                </a:path>
              </a:pathLst>
            </a:custGeom>
            <a:solidFill>
              <a:srgbClr val="4950BC"/>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descr="preencoded.png" id="157" name="Google Shape;157;p16"/>
            <p:cNvSpPr/>
            <p:nvPr/>
          </p:nvSpPr>
          <p:spPr>
            <a:xfrm>
              <a:off x="-667003" y="8449102"/>
              <a:ext cx="191244" cy="191244"/>
            </a:xfrm>
            <a:custGeom>
              <a:rect b="b" l="l" r="r" t="t"/>
              <a:pathLst>
                <a:path extrusionOk="0" h="191244" w="191244">
                  <a:moveTo>
                    <a:pt x="0" y="0"/>
                  </a:moveTo>
                  <a:lnTo>
                    <a:pt x="191244" y="0"/>
                  </a:lnTo>
                  <a:lnTo>
                    <a:pt x="191244" y="191243"/>
                  </a:lnTo>
                  <a:lnTo>
                    <a:pt x="0" y="191243"/>
                  </a:lnTo>
                  <a:lnTo>
                    <a:pt x="0" y="0"/>
                  </a:lnTo>
                  <a:close/>
                </a:path>
              </a:pathLst>
            </a:custGeom>
            <a:blipFill rotWithShape="1">
              <a:blip r:embed="rId7">
                <a:alphaModFix/>
              </a:blip>
              <a:stretch>
                <a:fillRect b="0" l="-7138" r="-7138"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17"/>
          <p:cNvSpPr txBox="1"/>
          <p:nvPr/>
        </p:nvSpPr>
        <p:spPr>
          <a:xfrm>
            <a:off x="838127" y="732900"/>
            <a:ext cx="15924900" cy="1623900"/>
          </a:xfrm>
          <a:prstGeom prst="rect">
            <a:avLst/>
          </a:prstGeom>
          <a:noFill/>
          <a:ln>
            <a:noFill/>
          </a:ln>
        </p:spPr>
        <p:txBody>
          <a:bodyPr anchorCtr="0" anchor="t" bIns="0" lIns="0" spcFirstLastPara="1" rIns="0" wrap="square" tIns="0">
            <a:spAutoFit/>
          </a:bodyPr>
          <a:lstStyle/>
          <a:p>
            <a:pPr indent="0" lvl="0" marL="0" marR="0" rtl="0" algn="l">
              <a:lnSpc>
                <a:spcPct val="124721"/>
              </a:lnSpc>
              <a:spcBef>
                <a:spcPts val="0"/>
              </a:spcBef>
              <a:spcAft>
                <a:spcPts val="0"/>
              </a:spcAft>
              <a:buNone/>
            </a:pPr>
            <a:r>
              <a:rPr b="1" lang="en-US" sz="4000">
                <a:latin typeface="Inter"/>
                <a:ea typeface="Inter"/>
                <a:cs typeface="Inter"/>
                <a:sym typeface="Inter"/>
              </a:rPr>
              <a:t>Power Grids Interconnection Queue: Compliance AI Agent</a:t>
            </a:r>
            <a:endParaRPr b="1" sz="4000">
              <a:latin typeface="Inter"/>
              <a:ea typeface="Inter"/>
              <a:cs typeface="Inter"/>
              <a:sym typeface="Inter"/>
            </a:endParaRPr>
          </a:p>
          <a:p>
            <a:pPr indent="0" lvl="0" marL="0" marR="0" rtl="0" algn="l">
              <a:lnSpc>
                <a:spcPct val="124721"/>
              </a:lnSpc>
              <a:spcBef>
                <a:spcPts val="0"/>
              </a:spcBef>
              <a:spcAft>
                <a:spcPts val="0"/>
              </a:spcAft>
              <a:buNone/>
            </a:pPr>
            <a:r>
              <a:t/>
            </a:r>
            <a:endParaRPr b="1" sz="5562">
              <a:latin typeface="Inter"/>
              <a:ea typeface="Inter"/>
              <a:cs typeface="Inter"/>
              <a:sym typeface="Inter"/>
            </a:endParaRPr>
          </a:p>
        </p:txBody>
      </p:sp>
      <p:sp>
        <p:nvSpPr>
          <p:cNvPr id="163" name="Google Shape;163;p17"/>
          <p:cNvSpPr txBox="1"/>
          <p:nvPr/>
        </p:nvSpPr>
        <p:spPr>
          <a:xfrm>
            <a:off x="912300" y="2736725"/>
            <a:ext cx="13585500" cy="572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solidFill>
                  <a:schemeClr val="dk1"/>
                </a:solidFill>
                <a:latin typeface="Calibri"/>
                <a:ea typeface="Calibri"/>
                <a:cs typeface="Calibri"/>
                <a:sym typeface="Calibri"/>
              </a:rPr>
              <a:t>Problem-First based Capstone Iterations:</a:t>
            </a:r>
            <a:endParaRPr sz="3600">
              <a:solidFill>
                <a:schemeClr val="dk1"/>
              </a:solidFill>
              <a:latin typeface="Calibri"/>
              <a:ea typeface="Calibri"/>
              <a:cs typeface="Calibri"/>
              <a:sym typeface="Calibri"/>
            </a:endParaRPr>
          </a:p>
          <a:p>
            <a:pPr indent="0" lvl="0" marL="0" rtl="0" algn="l">
              <a:spcBef>
                <a:spcPts val="0"/>
              </a:spcBef>
              <a:spcAft>
                <a:spcPts val="0"/>
              </a:spcAft>
              <a:buNone/>
            </a:pPr>
            <a:r>
              <a:t/>
            </a:r>
            <a:endParaRPr sz="3600">
              <a:solidFill>
                <a:schemeClr val="dk1"/>
              </a:solidFill>
              <a:latin typeface="Calibri"/>
              <a:ea typeface="Calibri"/>
              <a:cs typeface="Calibri"/>
              <a:sym typeface="Calibri"/>
            </a:endParaRPr>
          </a:p>
          <a:p>
            <a:pPr indent="-457200" lvl="0" marL="457200" rtl="0" algn="l">
              <a:spcBef>
                <a:spcPts val="0"/>
              </a:spcBef>
              <a:spcAft>
                <a:spcPts val="0"/>
              </a:spcAft>
              <a:buClr>
                <a:schemeClr val="dk1"/>
              </a:buClr>
              <a:buSzPts val="3600"/>
              <a:buFont typeface="Calibri"/>
              <a:buChar char="●"/>
            </a:pPr>
            <a:r>
              <a:rPr lang="en-US" sz="3600">
                <a:solidFill>
                  <a:schemeClr val="dk1"/>
                </a:solidFill>
                <a:latin typeface="Calibri"/>
                <a:ea typeface="Calibri"/>
                <a:cs typeface="Calibri"/>
                <a:sym typeface="Calibri"/>
              </a:rPr>
              <a:t>Iteration 1</a:t>
            </a:r>
            <a:endParaRPr sz="3600">
              <a:solidFill>
                <a:schemeClr val="dk1"/>
              </a:solidFill>
              <a:latin typeface="Calibri"/>
              <a:ea typeface="Calibri"/>
              <a:cs typeface="Calibri"/>
              <a:sym typeface="Calibri"/>
            </a:endParaRPr>
          </a:p>
          <a:p>
            <a:pPr indent="0" lvl="0" marL="0" rtl="0" algn="l">
              <a:spcBef>
                <a:spcPts val="0"/>
              </a:spcBef>
              <a:spcAft>
                <a:spcPts val="0"/>
              </a:spcAft>
              <a:buNone/>
            </a:pPr>
            <a:r>
              <a:rPr lang="en-US" sz="3600">
                <a:solidFill>
                  <a:schemeClr val="dk1"/>
                </a:solidFill>
                <a:latin typeface="Calibri"/>
                <a:ea typeface="Calibri"/>
                <a:cs typeface="Calibri"/>
                <a:sym typeface="Calibri"/>
              </a:rPr>
              <a:t>	Grid diagnostics  </a:t>
            </a:r>
            <a:endParaRPr sz="3600">
              <a:solidFill>
                <a:schemeClr val="dk1"/>
              </a:solidFill>
              <a:latin typeface="Calibri"/>
              <a:ea typeface="Calibri"/>
              <a:cs typeface="Calibri"/>
              <a:sym typeface="Calibri"/>
            </a:endParaRPr>
          </a:p>
          <a:p>
            <a:pPr indent="0" lvl="0" marL="0" rtl="0" algn="l">
              <a:spcBef>
                <a:spcPts val="0"/>
              </a:spcBef>
              <a:spcAft>
                <a:spcPts val="0"/>
              </a:spcAft>
              <a:buNone/>
            </a:pPr>
            <a:r>
              <a:t/>
            </a:r>
            <a:endParaRPr sz="3600">
              <a:solidFill>
                <a:schemeClr val="dk1"/>
              </a:solidFill>
              <a:latin typeface="Calibri"/>
              <a:ea typeface="Calibri"/>
              <a:cs typeface="Calibri"/>
              <a:sym typeface="Calibri"/>
            </a:endParaRPr>
          </a:p>
          <a:p>
            <a:pPr indent="-457200" lvl="0" marL="457200" rtl="0" algn="l">
              <a:spcBef>
                <a:spcPts val="0"/>
              </a:spcBef>
              <a:spcAft>
                <a:spcPts val="0"/>
              </a:spcAft>
              <a:buClr>
                <a:schemeClr val="dk1"/>
              </a:buClr>
              <a:buSzPts val="3600"/>
              <a:buFont typeface="Calibri"/>
              <a:buChar char="●"/>
            </a:pPr>
            <a:r>
              <a:rPr lang="en-US" sz="3600">
                <a:solidFill>
                  <a:schemeClr val="dk1"/>
                </a:solidFill>
                <a:latin typeface="Calibri"/>
                <a:ea typeface="Calibri"/>
                <a:cs typeface="Calibri"/>
                <a:sym typeface="Calibri"/>
              </a:rPr>
              <a:t>Iteration 2</a:t>
            </a:r>
            <a:br>
              <a:rPr lang="en-US" sz="3600">
                <a:solidFill>
                  <a:schemeClr val="dk1"/>
                </a:solidFill>
                <a:latin typeface="Calibri"/>
                <a:ea typeface="Calibri"/>
                <a:cs typeface="Calibri"/>
                <a:sym typeface="Calibri"/>
              </a:rPr>
            </a:br>
            <a:r>
              <a:rPr lang="en-US" sz="3600">
                <a:solidFill>
                  <a:schemeClr val="dk1"/>
                </a:solidFill>
                <a:latin typeface="Calibri"/>
                <a:ea typeface="Calibri"/>
                <a:cs typeface="Calibri"/>
                <a:sym typeface="Calibri"/>
              </a:rPr>
              <a:t>Iteration 1 + Grid interconnection process analyzer</a:t>
            </a:r>
            <a:br>
              <a:rPr lang="en-US" sz="3600">
                <a:solidFill>
                  <a:schemeClr val="dk1"/>
                </a:solidFill>
                <a:latin typeface="Calibri"/>
                <a:ea typeface="Calibri"/>
                <a:cs typeface="Calibri"/>
                <a:sym typeface="Calibri"/>
              </a:rPr>
            </a:br>
            <a:endParaRPr sz="3600">
              <a:solidFill>
                <a:schemeClr val="dk1"/>
              </a:solidFill>
              <a:latin typeface="Calibri"/>
              <a:ea typeface="Calibri"/>
              <a:cs typeface="Calibri"/>
              <a:sym typeface="Calibri"/>
            </a:endParaRPr>
          </a:p>
          <a:p>
            <a:pPr indent="-457200" lvl="0" marL="457200" rtl="0" algn="l">
              <a:spcBef>
                <a:spcPts val="0"/>
              </a:spcBef>
              <a:spcAft>
                <a:spcPts val="0"/>
              </a:spcAft>
              <a:buClr>
                <a:schemeClr val="dk1"/>
              </a:buClr>
              <a:buSzPts val="3600"/>
              <a:buFont typeface="Calibri"/>
              <a:buChar char="●"/>
            </a:pPr>
            <a:r>
              <a:rPr lang="en-US" sz="3600">
                <a:solidFill>
                  <a:schemeClr val="dk1"/>
                </a:solidFill>
                <a:latin typeface="Calibri"/>
                <a:ea typeface="Calibri"/>
                <a:cs typeface="Calibri"/>
                <a:sym typeface="Calibri"/>
              </a:rPr>
              <a:t>Iteration 3</a:t>
            </a:r>
            <a:br>
              <a:rPr lang="en-US" sz="3600">
                <a:solidFill>
                  <a:schemeClr val="dk1"/>
                </a:solidFill>
                <a:latin typeface="Calibri"/>
                <a:ea typeface="Calibri"/>
                <a:cs typeface="Calibri"/>
                <a:sym typeface="Calibri"/>
              </a:rPr>
            </a:br>
            <a:r>
              <a:rPr lang="en-US" sz="3600">
                <a:solidFill>
                  <a:schemeClr val="dk1"/>
                </a:solidFill>
                <a:latin typeface="Calibri"/>
                <a:ea typeface="Calibri"/>
                <a:cs typeface="Calibri"/>
                <a:sym typeface="Calibri"/>
              </a:rPr>
              <a:t>Iteration 2 + G</a:t>
            </a:r>
            <a:r>
              <a:rPr lang="en-US" sz="3600">
                <a:solidFill>
                  <a:schemeClr val="dk1"/>
                </a:solidFill>
                <a:latin typeface="Calibri"/>
                <a:ea typeface="Calibri"/>
                <a:cs typeface="Calibri"/>
                <a:sym typeface="Calibri"/>
              </a:rPr>
              <a:t>ap analysis of i</a:t>
            </a:r>
            <a:r>
              <a:rPr lang="en-US" sz="3600">
                <a:solidFill>
                  <a:schemeClr val="dk1"/>
                </a:solidFill>
                <a:latin typeface="Calibri"/>
                <a:ea typeface="Calibri"/>
                <a:cs typeface="Calibri"/>
                <a:sym typeface="Calibri"/>
              </a:rPr>
              <a:t>nterconnection requests </a:t>
            </a:r>
            <a:endParaRPr sz="3600">
              <a:solidFill>
                <a:schemeClr val="dk1"/>
              </a:solidFill>
              <a:latin typeface="Calibri"/>
              <a:ea typeface="Calibri"/>
              <a:cs typeface="Calibri"/>
              <a:sym typeface="Calibri"/>
            </a:endParaRPr>
          </a:p>
        </p:txBody>
      </p:sp>
      <p:sp>
        <p:nvSpPr>
          <p:cNvPr id="164" name="Google Shape;164;p17"/>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65" name="Google Shape;165;p17"/>
          <p:cNvSpPr txBox="1"/>
          <p:nvPr/>
        </p:nvSpPr>
        <p:spPr>
          <a:xfrm>
            <a:off x="16571020" y="9481928"/>
            <a:ext cx="1453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00">
                <a:solidFill>
                  <a:srgbClr val="888888"/>
                </a:solidFill>
                <a:latin typeface="Calibri"/>
                <a:ea typeface="Calibri"/>
                <a:cs typeface="Calibri"/>
                <a:sym typeface="Calibri"/>
              </a:rPr>
              <a:t>Team 16</a:t>
            </a:r>
            <a:endParaRPr i="1" sz="2100">
              <a:solidFill>
                <a:srgbClr val="888888"/>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18"/>
          <p:cNvSpPr txBox="1"/>
          <p:nvPr/>
        </p:nvSpPr>
        <p:spPr>
          <a:xfrm>
            <a:off x="838127" y="732900"/>
            <a:ext cx="15924900" cy="1623900"/>
          </a:xfrm>
          <a:prstGeom prst="rect">
            <a:avLst/>
          </a:prstGeom>
          <a:noFill/>
          <a:ln>
            <a:noFill/>
          </a:ln>
        </p:spPr>
        <p:txBody>
          <a:bodyPr anchorCtr="0" anchor="t" bIns="0" lIns="0" spcFirstLastPara="1" rIns="0" wrap="square" tIns="0">
            <a:spAutoFit/>
          </a:bodyPr>
          <a:lstStyle/>
          <a:p>
            <a:pPr indent="0" lvl="0" marL="0" marR="0" rtl="0" algn="l">
              <a:lnSpc>
                <a:spcPct val="124721"/>
              </a:lnSpc>
              <a:spcBef>
                <a:spcPts val="0"/>
              </a:spcBef>
              <a:spcAft>
                <a:spcPts val="0"/>
              </a:spcAft>
              <a:buNone/>
            </a:pPr>
            <a:r>
              <a:rPr b="1" lang="en-US" sz="4000">
                <a:solidFill>
                  <a:schemeClr val="dk1"/>
                </a:solidFill>
                <a:latin typeface="Inter"/>
                <a:ea typeface="Inter"/>
                <a:cs typeface="Inter"/>
                <a:sym typeface="Inter"/>
              </a:rPr>
              <a:t>Compliance AI agent </a:t>
            </a:r>
            <a:r>
              <a:rPr b="1" lang="en-US" sz="4000">
                <a:latin typeface="Inter"/>
                <a:ea typeface="Inter"/>
                <a:cs typeface="Inter"/>
                <a:sym typeface="Inter"/>
              </a:rPr>
              <a:t>Iteration 1: Grid Diagnostics</a:t>
            </a:r>
            <a:endParaRPr sz="4000">
              <a:solidFill>
                <a:schemeClr val="dk1"/>
              </a:solidFill>
              <a:latin typeface="Calibri"/>
              <a:ea typeface="Calibri"/>
              <a:cs typeface="Calibri"/>
              <a:sym typeface="Calibri"/>
            </a:endParaRPr>
          </a:p>
          <a:p>
            <a:pPr indent="0" lvl="0" marL="0" marR="0" rtl="0" algn="l">
              <a:lnSpc>
                <a:spcPct val="124721"/>
              </a:lnSpc>
              <a:spcBef>
                <a:spcPts val="0"/>
              </a:spcBef>
              <a:spcAft>
                <a:spcPts val="0"/>
              </a:spcAft>
              <a:buNone/>
            </a:pPr>
            <a:r>
              <a:t/>
            </a:r>
            <a:endParaRPr b="1" sz="5562">
              <a:latin typeface="Inter"/>
              <a:ea typeface="Inter"/>
              <a:cs typeface="Inter"/>
              <a:sym typeface="Inter"/>
            </a:endParaRPr>
          </a:p>
        </p:txBody>
      </p:sp>
      <p:pic>
        <p:nvPicPr>
          <p:cNvPr id="171" name="Google Shape;171;p18"/>
          <p:cNvPicPr preferRelativeResize="0"/>
          <p:nvPr/>
        </p:nvPicPr>
        <p:blipFill rotWithShape="1">
          <a:blip r:embed="rId3">
            <a:alphaModFix/>
          </a:blip>
          <a:srcRect b="16722" l="0" r="0" t="16868"/>
          <a:stretch/>
        </p:blipFill>
        <p:spPr>
          <a:xfrm>
            <a:off x="2416286" y="2356800"/>
            <a:ext cx="10729025" cy="7116951"/>
          </a:xfrm>
          <a:prstGeom prst="rect">
            <a:avLst/>
          </a:prstGeom>
          <a:noFill/>
          <a:ln>
            <a:noFill/>
          </a:ln>
        </p:spPr>
      </p:pic>
      <p:sp>
        <p:nvSpPr>
          <p:cNvPr id="172" name="Google Shape;172;p18"/>
          <p:cNvSpPr/>
          <p:nvPr/>
        </p:nvSpPr>
        <p:spPr>
          <a:xfrm>
            <a:off x="14038939" y="5098850"/>
            <a:ext cx="2702400" cy="437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58775" lvl="0" marL="457200" marR="241300" rtl="0" algn="l">
              <a:lnSpc>
                <a:spcPct val="128571"/>
              </a:lnSpc>
              <a:spcBef>
                <a:spcPts val="0"/>
              </a:spcBef>
              <a:spcAft>
                <a:spcPts val="0"/>
              </a:spcAft>
              <a:buClr>
                <a:srgbClr val="131619"/>
              </a:buClr>
              <a:buSzPts val="2050"/>
              <a:buFont typeface="Roboto"/>
              <a:buChar char="●"/>
            </a:pPr>
            <a:r>
              <a:rPr lang="en-US" sz="2050">
                <a:solidFill>
                  <a:srgbClr val="131619"/>
                </a:solidFill>
                <a:latin typeface="Roboto"/>
                <a:ea typeface="Roboto"/>
                <a:cs typeface="Roboto"/>
                <a:sym typeface="Roboto"/>
              </a:rPr>
              <a:t>OpenAI gpt-5-mini</a:t>
            </a:r>
            <a:endParaRPr sz="2050">
              <a:solidFill>
                <a:srgbClr val="131619"/>
              </a:solidFill>
              <a:latin typeface="Roboto"/>
              <a:ea typeface="Roboto"/>
              <a:cs typeface="Roboto"/>
              <a:sym typeface="Roboto"/>
            </a:endParaRPr>
          </a:p>
          <a:p>
            <a:pPr indent="-358775" lvl="0" marL="457200" marR="241300" rtl="0" algn="l">
              <a:lnSpc>
                <a:spcPct val="128571"/>
              </a:lnSpc>
              <a:spcBef>
                <a:spcPts val="0"/>
              </a:spcBef>
              <a:spcAft>
                <a:spcPts val="0"/>
              </a:spcAft>
              <a:buClr>
                <a:srgbClr val="131619"/>
              </a:buClr>
              <a:buSzPts val="2050"/>
              <a:buFont typeface="Roboto"/>
              <a:buChar char="●"/>
            </a:pPr>
            <a:r>
              <a:rPr lang="en-US" sz="2050">
                <a:solidFill>
                  <a:srgbClr val="131619"/>
                </a:solidFill>
                <a:latin typeface="Roboto"/>
                <a:ea typeface="Roboto"/>
                <a:cs typeface="Roboto"/>
                <a:sym typeface="Roboto"/>
              </a:rPr>
              <a:t>Streamlit</a:t>
            </a:r>
            <a:endParaRPr sz="2050">
              <a:solidFill>
                <a:srgbClr val="131619"/>
              </a:solidFill>
              <a:latin typeface="Roboto"/>
              <a:ea typeface="Roboto"/>
              <a:cs typeface="Roboto"/>
              <a:sym typeface="Roboto"/>
            </a:endParaRPr>
          </a:p>
          <a:p>
            <a:pPr indent="-358775" lvl="0" marL="457200" marR="241300" rtl="0" algn="l">
              <a:lnSpc>
                <a:spcPct val="128571"/>
              </a:lnSpc>
              <a:spcBef>
                <a:spcPts val="0"/>
              </a:spcBef>
              <a:spcAft>
                <a:spcPts val="0"/>
              </a:spcAft>
              <a:buClr>
                <a:srgbClr val="131619"/>
              </a:buClr>
              <a:buSzPts val="2050"/>
              <a:buFont typeface="Roboto"/>
              <a:buChar char="●"/>
            </a:pPr>
            <a:r>
              <a:rPr lang="en-US" sz="2050">
                <a:solidFill>
                  <a:srgbClr val="131619"/>
                </a:solidFill>
                <a:latin typeface="Roboto"/>
                <a:ea typeface="Roboto"/>
                <a:cs typeface="Roboto"/>
                <a:sym typeface="Roboto"/>
              </a:rPr>
              <a:t>LangGraph</a:t>
            </a:r>
            <a:endParaRPr sz="2050">
              <a:solidFill>
                <a:srgbClr val="131619"/>
              </a:solidFill>
              <a:latin typeface="Roboto"/>
              <a:ea typeface="Roboto"/>
              <a:cs typeface="Roboto"/>
              <a:sym typeface="Roboto"/>
            </a:endParaRPr>
          </a:p>
          <a:p>
            <a:pPr indent="-358775" lvl="0" marL="457200" marR="241300" rtl="0" algn="l">
              <a:lnSpc>
                <a:spcPct val="128571"/>
              </a:lnSpc>
              <a:spcBef>
                <a:spcPts val="0"/>
              </a:spcBef>
              <a:spcAft>
                <a:spcPts val="0"/>
              </a:spcAft>
              <a:buClr>
                <a:srgbClr val="131619"/>
              </a:buClr>
              <a:buSzPts val="2050"/>
              <a:buFont typeface="Roboto"/>
              <a:buChar char="●"/>
            </a:pPr>
            <a:r>
              <a:rPr lang="en-US" sz="2050">
                <a:solidFill>
                  <a:srgbClr val="131619"/>
                </a:solidFill>
                <a:latin typeface="Roboto"/>
                <a:ea typeface="Roboto"/>
                <a:cs typeface="Roboto"/>
                <a:sym typeface="Roboto"/>
              </a:rPr>
              <a:t>SQLite3 </a:t>
            </a:r>
            <a:endParaRPr sz="2050">
              <a:solidFill>
                <a:srgbClr val="131619"/>
              </a:solidFill>
              <a:latin typeface="Roboto"/>
              <a:ea typeface="Roboto"/>
              <a:cs typeface="Roboto"/>
              <a:sym typeface="Roboto"/>
            </a:endParaRPr>
          </a:p>
          <a:p>
            <a:pPr indent="-358775" lvl="0" marL="457200" marR="241300" rtl="0" algn="l">
              <a:lnSpc>
                <a:spcPct val="128571"/>
              </a:lnSpc>
              <a:spcBef>
                <a:spcPts val="0"/>
              </a:spcBef>
              <a:spcAft>
                <a:spcPts val="0"/>
              </a:spcAft>
              <a:buClr>
                <a:srgbClr val="131619"/>
              </a:buClr>
              <a:buSzPts val="2050"/>
              <a:buFont typeface="Roboto"/>
              <a:buChar char="●"/>
            </a:pPr>
            <a:r>
              <a:rPr lang="en-US" sz="2050">
                <a:solidFill>
                  <a:srgbClr val="131619"/>
                </a:solidFill>
                <a:latin typeface="Roboto"/>
                <a:ea typeface="Roboto"/>
                <a:cs typeface="Roboto"/>
                <a:sym typeface="Roboto"/>
              </a:rPr>
              <a:t>Comet Opik </a:t>
            </a:r>
            <a:endParaRPr sz="2050">
              <a:solidFill>
                <a:srgbClr val="131619"/>
              </a:solidFill>
              <a:latin typeface="Roboto"/>
              <a:ea typeface="Roboto"/>
              <a:cs typeface="Roboto"/>
              <a:sym typeface="Roboto"/>
            </a:endParaRPr>
          </a:p>
          <a:p>
            <a:pPr indent="0" lvl="0" marL="0" rtl="0" algn="l">
              <a:spcBef>
                <a:spcPts val="300"/>
              </a:spcBef>
              <a:spcAft>
                <a:spcPts val="0"/>
              </a:spcAft>
              <a:buNone/>
            </a:pPr>
            <a:r>
              <a:t/>
            </a:r>
            <a:endParaRPr sz="2400">
              <a:latin typeface="Calibri"/>
              <a:ea typeface="Calibri"/>
              <a:cs typeface="Calibri"/>
              <a:sym typeface="Calibri"/>
            </a:endParaRPr>
          </a:p>
        </p:txBody>
      </p:sp>
      <p:sp>
        <p:nvSpPr>
          <p:cNvPr id="173" name="Google Shape;173;p18"/>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74" name="Google Shape;174;p18"/>
          <p:cNvSpPr txBox="1"/>
          <p:nvPr/>
        </p:nvSpPr>
        <p:spPr>
          <a:xfrm>
            <a:off x="16571020" y="9481928"/>
            <a:ext cx="1453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00">
                <a:solidFill>
                  <a:srgbClr val="888888"/>
                </a:solidFill>
                <a:latin typeface="Calibri"/>
                <a:ea typeface="Calibri"/>
                <a:cs typeface="Calibri"/>
                <a:sym typeface="Calibri"/>
              </a:rPr>
              <a:t>Team 16</a:t>
            </a:r>
            <a:endParaRPr i="1" sz="2100">
              <a:solidFill>
                <a:srgbClr val="888888"/>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9"/>
          <p:cNvSpPr txBox="1"/>
          <p:nvPr/>
        </p:nvSpPr>
        <p:spPr>
          <a:xfrm>
            <a:off x="784475" y="706075"/>
            <a:ext cx="17447100" cy="2391900"/>
          </a:xfrm>
          <a:prstGeom prst="rect">
            <a:avLst/>
          </a:prstGeom>
          <a:noFill/>
          <a:ln>
            <a:noFill/>
          </a:ln>
        </p:spPr>
        <p:txBody>
          <a:bodyPr anchorCtr="0" anchor="t" bIns="0" lIns="0" spcFirstLastPara="1" rIns="0" wrap="square" tIns="0">
            <a:spAutoFit/>
          </a:bodyPr>
          <a:lstStyle/>
          <a:p>
            <a:pPr indent="0" lvl="0" marL="0" marR="0" rtl="0" algn="l">
              <a:lnSpc>
                <a:spcPct val="124721"/>
              </a:lnSpc>
              <a:spcBef>
                <a:spcPts val="0"/>
              </a:spcBef>
              <a:spcAft>
                <a:spcPts val="0"/>
              </a:spcAft>
              <a:buNone/>
            </a:pPr>
            <a:r>
              <a:rPr b="1" lang="en-US" sz="4000">
                <a:solidFill>
                  <a:schemeClr val="dk1"/>
                </a:solidFill>
                <a:latin typeface="Inter"/>
                <a:ea typeface="Inter"/>
                <a:cs typeface="Inter"/>
                <a:sym typeface="Inter"/>
              </a:rPr>
              <a:t>Compliance AI agent </a:t>
            </a:r>
            <a:r>
              <a:rPr b="1" lang="en-US" sz="4000">
                <a:latin typeface="Inter"/>
                <a:ea typeface="Inter"/>
                <a:cs typeface="Inter"/>
                <a:sym typeface="Inter"/>
              </a:rPr>
              <a:t>Iteration 2: Grid I</a:t>
            </a:r>
            <a:r>
              <a:rPr b="1" lang="en-US" sz="4000">
                <a:latin typeface="Inter"/>
                <a:ea typeface="Inter"/>
                <a:cs typeface="Inter"/>
                <a:sym typeface="Inter"/>
              </a:rPr>
              <a:t>nterconnection</a:t>
            </a:r>
            <a:r>
              <a:rPr b="1" lang="en-US" sz="4000">
                <a:latin typeface="Inter"/>
                <a:ea typeface="Inter"/>
                <a:cs typeface="Inter"/>
                <a:sym typeface="Inter"/>
              </a:rPr>
              <a:t> Process Analyzer</a:t>
            </a:r>
            <a:endParaRPr sz="4000">
              <a:solidFill>
                <a:schemeClr val="dk1"/>
              </a:solidFill>
              <a:latin typeface="Calibri"/>
              <a:ea typeface="Calibri"/>
              <a:cs typeface="Calibri"/>
              <a:sym typeface="Calibri"/>
            </a:endParaRPr>
          </a:p>
          <a:p>
            <a:pPr indent="0" lvl="0" marL="0" marR="0" rtl="0" algn="l">
              <a:lnSpc>
                <a:spcPct val="124721"/>
              </a:lnSpc>
              <a:spcBef>
                <a:spcPts val="0"/>
              </a:spcBef>
              <a:spcAft>
                <a:spcPts val="0"/>
              </a:spcAft>
              <a:buNone/>
            </a:pPr>
            <a:r>
              <a:rPr b="1" lang="en-US" sz="5562">
                <a:latin typeface="Inter"/>
                <a:ea typeface="Inter"/>
                <a:cs typeface="Inter"/>
                <a:sym typeface="Inter"/>
              </a:rPr>
              <a:t> </a:t>
            </a:r>
            <a:endParaRPr b="1" sz="5562">
              <a:latin typeface="Inter"/>
              <a:ea typeface="Inter"/>
              <a:cs typeface="Inter"/>
              <a:sym typeface="Inter"/>
            </a:endParaRPr>
          </a:p>
        </p:txBody>
      </p:sp>
      <p:pic>
        <p:nvPicPr>
          <p:cNvPr id="180" name="Google Shape;180;p19"/>
          <p:cNvPicPr preferRelativeResize="0"/>
          <p:nvPr/>
        </p:nvPicPr>
        <p:blipFill rotWithShape="1">
          <a:blip r:embed="rId3">
            <a:alphaModFix/>
          </a:blip>
          <a:srcRect b="0" l="0" r="0" t="11613"/>
          <a:stretch/>
        </p:blipFill>
        <p:spPr>
          <a:xfrm>
            <a:off x="2389698" y="2200150"/>
            <a:ext cx="10594624" cy="7757800"/>
          </a:xfrm>
          <a:prstGeom prst="rect">
            <a:avLst/>
          </a:prstGeom>
          <a:noFill/>
          <a:ln>
            <a:noFill/>
          </a:ln>
        </p:spPr>
      </p:pic>
      <p:sp>
        <p:nvSpPr>
          <p:cNvPr id="181" name="Google Shape;181;p19"/>
          <p:cNvSpPr/>
          <p:nvPr/>
        </p:nvSpPr>
        <p:spPr>
          <a:xfrm>
            <a:off x="8770748" y="2670225"/>
            <a:ext cx="4213500" cy="5526600"/>
          </a:xfrm>
          <a:prstGeom prst="roundRect">
            <a:avLst>
              <a:gd fmla="val 16667" name="adj"/>
            </a:avLst>
          </a:prstGeom>
          <a:noFill/>
          <a:ln cap="flat" cmpd="sng" w="76200">
            <a:solidFill>
              <a:srgbClr val="CC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2" name="Google Shape;182;p19"/>
          <p:cNvSpPr/>
          <p:nvPr/>
        </p:nvSpPr>
        <p:spPr>
          <a:xfrm>
            <a:off x="5859598" y="3429000"/>
            <a:ext cx="2186700" cy="676200"/>
          </a:xfrm>
          <a:prstGeom prst="roundRect">
            <a:avLst>
              <a:gd fmla="val 16667" name="adj"/>
            </a:avLst>
          </a:prstGeom>
          <a:noFill/>
          <a:ln cap="flat" cmpd="sng" w="76200">
            <a:solidFill>
              <a:srgbClr val="CC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83" name="Google Shape;183;p19"/>
          <p:cNvSpPr/>
          <p:nvPr/>
        </p:nvSpPr>
        <p:spPr>
          <a:xfrm>
            <a:off x="14038939" y="5098850"/>
            <a:ext cx="2702400" cy="43749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58775" lvl="0" marL="457200" marR="241300" rtl="0" algn="l">
              <a:lnSpc>
                <a:spcPct val="128571"/>
              </a:lnSpc>
              <a:spcBef>
                <a:spcPts val="0"/>
              </a:spcBef>
              <a:spcAft>
                <a:spcPts val="0"/>
              </a:spcAft>
              <a:buClr>
                <a:srgbClr val="131619"/>
              </a:buClr>
              <a:buSzPts val="2050"/>
              <a:buFont typeface="Roboto"/>
              <a:buChar char="●"/>
            </a:pPr>
            <a:r>
              <a:rPr lang="en-US" sz="2050">
                <a:solidFill>
                  <a:srgbClr val="131619"/>
                </a:solidFill>
                <a:latin typeface="Roboto"/>
                <a:ea typeface="Roboto"/>
                <a:cs typeface="Roboto"/>
                <a:sym typeface="Roboto"/>
              </a:rPr>
              <a:t>OpenAI gpt-5-mini</a:t>
            </a:r>
            <a:endParaRPr sz="2050">
              <a:solidFill>
                <a:srgbClr val="131619"/>
              </a:solidFill>
              <a:latin typeface="Roboto"/>
              <a:ea typeface="Roboto"/>
              <a:cs typeface="Roboto"/>
              <a:sym typeface="Roboto"/>
            </a:endParaRPr>
          </a:p>
          <a:p>
            <a:pPr indent="-358775" lvl="0" marL="457200" marR="241300" rtl="0" algn="l">
              <a:lnSpc>
                <a:spcPct val="128571"/>
              </a:lnSpc>
              <a:spcBef>
                <a:spcPts val="0"/>
              </a:spcBef>
              <a:spcAft>
                <a:spcPts val="0"/>
              </a:spcAft>
              <a:buClr>
                <a:srgbClr val="131619"/>
              </a:buClr>
              <a:buSzPts val="2050"/>
              <a:buFont typeface="Roboto"/>
              <a:buChar char="●"/>
            </a:pPr>
            <a:r>
              <a:rPr lang="en-US" sz="2050">
                <a:solidFill>
                  <a:srgbClr val="131619"/>
                </a:solidFill>
                <a:latin typeface="Roboto"/>
                <a:ea typeface="Roboto"/>
                <a:cs typeface="Roboto"/>
                <a:sym typeface="Roboto"/>
              </a:rPr>
              <a:t>Streamlit</a:t>
            </a:r>
            <a:endParaRPr sz="2050">
              <a:solidFill>
                <a:srgbClr val="131619"/>
              </a:solidFill>
              <a:latin typeface="Roboto"/>
              <a:ea typeface="Roboto"/>
              <a:cs typeface="Roboto"/>
              <a:sym typeface="Roboto"/>
            </a:endParaRPr>
          </a:p>
          <a:p>
            <a:pPr indent="-358775" lvl="0" marL="457200" marR="241300" rtl="0" algn="l">
              <a:lnSpc>
                <a:spcPct val="128571"/>
              </a:lnSpc>
              <a:spcBef>
                <a:spcPts val="0"/>
              </a:spcBef>
              <a:spcAft>
                <a:spcPts val="0"/>
              </a:spcAft>
              <a:buClr>
                <a:srgbClr val="131619"/>
              </a:buClr>
              <a:buSzPts val="2050"/>
              <a:buFont typeface="Roboto"/>
              <a:buChar char="●"/>
            </a:pPr>
            <a:r>
              <a:rPr lang="en-US" sz="2050">
                <a:solidFill>
                  <a:srgbClr val="131619"/>
                </a:solidFill>
                <a:latin typeface="Roboto"/>
                <a:ea typeface="Roboto"/>
                <a:cs typeface="Roboto"/>
                <a:sym typeface="Roboto"/>
              </a:rPr>
              <a:t>LangGraph</a:t>
            </a:r>
            <a:endParaRPr sz="2050">
              <a:solidFill>
                <a:srgbClr val="131619"/>
              </a:solidFill>
              <a:latin typeface="Roboto"/>
              <a:ea typeface="Roboto"/>
              <a:cs typeface="Roboto"/>
              <a:sym typeface="Roboto"/>
            </a:endParaRPr>
          </a:p>
          <a:p>
            <a:pPr indent="-358775" lvl="0" marL="457200" marR="241300" rtl="0" algn="l">
              <a:lnSpc>
                <a:spcPct val="128571"/>
              </a:lnSpc>
              <a:spcBef>
                <a:spcPts val="0"/>
              </a:spcBef>
              <a:spcAft>
                <a:spcPts val="0"/>
              </a:spcAft>
              <a:buClr>
                <a:srgbClr val="131619"/>
              </a:buClr>
              <a:buSzPts val="2050"/>
              <a:buFont typeface="Roboto"/>
              <a:buChar char="●"/>
            </a:pPr>
            <a:r>
              <a:rPr lang="en-US" sz="2050">
                <a:solidFill>
                  <a:srgbClr val="131619"/>
                </a:solidFill>
                <a:latin typeface="Roboto"/>
                <a:ea typeface="Roboto"/>
                <a:cs typeface="Roboto"/>
                <a:sym typeface="Roboto"/>
              </a:rPr>
              <a:t>SQLite3 </a:t>
            </a:r>
            <a:endParaRPr sz="2050">
              <a:solidFill>
                <a:srgbClr val="131619"/>
              </a:solidFill>
              <a:latin typeface="Roboto"/>
              <a:ea typeface="Roboto"/>
              <a:cs typeface="Roboto"/>
              <a:sym typeface="Roboto"/>
            </a:endParaRPr>
          </a:p>
          <a:p>
            <a:pPr indent="-358775" lvl="0" marL="457200" marR="241300" rtl="0" algn="l">
              <a:lnSpc>
                <a:spcPct val="128571"/>
              </a:lnSpc>
              <a:spcBef>
                <a:spcPts val="0"/>
              </a:spcBef>
              <a:spcAft>
                <a:spcPts val="0"/>
              </a:spcAft>
              <a:buClr>
                <a:srgbClr val="131619"/>
              </a:buClr>
              <a:buSzPts val="2050"/>
              <a:buFont typeface="Roboto"/>
              <a:buChar char="●"/>
            </a:pPr>
            <a:r>
              <a:rPr lang="en-US" sz="2050">
                <a:solidFill>
                  <a:srgbClr val="131619"/>
                </a:solidFill>
                <a:latin typeface="Roboto"/>
                <a:ea typeface="Roboto"/>
                <a:cs typeface="Roboto"/>
                <a:sym typeface="Roboto"/>
              </a:rPr>
              <a:t>Comet Opik </a:t>
            </a:r>
            <a:endParaRPr sz="2050">
              <a:solidFill>
                <a:srgbClr val="131619"/>
              </a:solidFill>
              <a:latin typeface="Roboto"/>
              <a:ea typeface="Roboto"/>
              <a:cs typeface="Roboto"/>
              <a:sym typeface="Roboto"/>
            </a:endParaRPr>
          </a:p>
          <a:p>
            <a:pPr indent="-358775" lvl="0" marL="457200" marR="241300" rtl="0" algn="l">
              <a:lnSpc>
                <a:spcPct val="128571"/>
              </a:lnSpc>
              <a:spcBef>
                <a:spcPts val="0"/>
              </a:spcBef>
              <a:spcAft>
                <a:spcPts val="0"/>
              </a:spcAft>
              <a:buClr>
                <a:srgbClr val="131619"/>
              </a:buClr>
              <a:buSzPts val="2050"/>
              <a:buFont typeface="Roboto"/>
              <a:buChar char="●"/>
            </a:pPr>
            <a:r>
              <a:rPr lang="en-US" sz="2050">
                <a:solidFill>
                  <a:srgbClr val="131619"/>
                </a:solidFill>
                <a:latin typeface="Roboto"/>
                <a:ea typeface="Roboto"/>
                <a:cs typeface="Roboto"/>
                <a:sym typeface="Roboto"/>
              </a:rPr>
              <a:t>Chroma DB</a:t>
            </a:r>
            <a:endParaRPr sz="2050">
              <a:solidFill>
                <a:srgbClr val="131619"/>
              </a:solidFill>
              <a:latin typeface="Roboto"/>
              <a:ea typeface="Roboto"/>
              <a:cs typeface="Roboto"/>
              <a:sym typeface="Roboto"/>
            </a:endParaRPr>
          </a:p>
          <a:p>
            <a:pPr indent="-358775" lvl="0" marL="457200" marR="241300" rtl="0" algn="l">
              <a:lnSpc>
                <a:spcPct val="128571"/>
              </a:lnSpc>
              <a:spcBef>
                <a:spcPts val="0"/>
              </a:spcBef>
              <a:spcAft>
                <a:spcPts val="0"/>
              </a:spcAft>
              <a:buClr>
                <a:srgbClr val="131619"/>
              </a:buClr>
              <a:buSzPts val="2050"/>
              <a:buFont typeface="Roboto"/>
              <a:buChar char="●"/>
            </a:pPr>
            <a:r>
              <a:rPr lang="en-US" sz="2050">
                <a:solidFill>
                  <a:srgbClr val="131619"/>
                </a:solidFill>
                <a:latin typeface="Roboto"/>
                <a:ea typeface="Roboto"/>
                <a:cs typeface="Roboto"/>
                <a:sym typeface="Roboto"/>
              </a:rPr>
              <a:t>OpenAI Embeddings</a:t>
            </a:r>
            <a:endParaRPr sz="2050">
              <a:solidFill>
                <a:srgbClr val="131619"/>
              </a:solidFill>
              <a:latin typeface="Roboto"/>
              <a:ea typeface="Roboto"/>
              <a:cs typeface="Roboto"/>
              <a:sym typeface="Roboto"/>
            </a:endParaRPr>
          </a:p>
          <a:p>
            <a:pPr indent="0" lvl="0" marL="0" rtl="0" algn="l">
              <a:spcBef>
                <a:spcPts val="300"/>
              </a:spcBef>
              <a:spcAft>
                <a:spcPts val="0"/>
              </a:spcAft>
              <a:buNone/>
            </a:pPr>
            <a:r>
              <a:t/>
            </a:r>
            <a:endParaRPr sz="2400">
              <a:latin typeface="Calibri"/>
              <a:ea typeface="Calibri"/>
              <a:cs typeface="Calibri"/>
              <a:sym typeface="Calibri"/>
            </a:endParaRPr>
          </a:p>
        </p:txBody>
      </p:sp>
      <p:sp>
        <p:nvSpPr>
          <p:cNvPr id="184" name="Google Shape;184;p19"/>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85" name="Google Shape;185;p19"/>
          <p:cNvSpPr txBox="1"/>
          <p:nvPr/>
        </p:nvSpPr>
        <p:spPr>
          <a:xfrm>
            <a:off x="16571020" y="9481928"/>
            <a:ext cx="1453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00">
                <a:solidFill>
                  <a:srgbClr val="888888"/>
                </a:solidFill>
                <a:latin typeface="Calibri"/>
                <a:ea typeface="Calibri"/>
                <a:cs typeface="Calibri"/>
                <a:sym typeface="Calibri"/>
              </a:rPr>
              <a:t>Team 16</a:t>
            </a:r>
            <a:endParaRPr i="1" sz="2100">
              <a:solidFill>
                <a:srgbClr val="888888"/>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0"/>
          <p:cNvSpPr txBox="1"/>
          <p:nvPr/>
        </p:nvSpPr>
        <p:spPr>
          <a:xfrm>
            <a:off x="838127" y="732900"/>
            <a:ext cx="15924900" cy="2391900"/>
          </a:xfrm>
          <a:prstGeom prst="rect">
            <a:avLst/>
          </a:prstGeom>
          <a:noFill/>
          <a:ln>
            <a:noFill/>
          </a:ln>
        </p:spPr>
        <p:txBody>
          <a:bodyPr anchorCtr="0" anchor="t" bIns="0" lIns="0" spcFirstLastPara="1" rIns="0" wrap="square" tIns="0">
            <a:spAutoFit/>
          </a:bodyPr>
          <a:lstStyle/>
          <a:p>
            <a:pPr indent="0" lvl="0" marL="0" marR="0" rtl="0" algn="l">
              <a:lnSpc>
                <a:spcPct val="124721"/>
              </a:lnSpc>
              <a:spcBef>
                <a:spcPts val="0"/>
              </a:spcBef>
              <a:spcAft>
                <a:spcPts val="0"/>
              </a:spcAft>
              <a:buNone/>
            </a:pPr>
            <a:r>
              <a:rPr b="1" lang="en-US" sz="4000">
                <a:solidFill>
                  <a:schemeClr val="dk1"/>
                </a:solidFill>
                <a:latin typeface="Inter"/>
                <a:ea typeface="Inter"/>
                <a:cs typeface="Inter"/>
                <a:sym typeface="Inter"/>
              </a:rPr>
              <a:t>Compliance AI agent </a:t>
            </a:r>
            <a:r>
              <a:rPr b="1" lang="en-US" sz="4000">
                <a:latin typeface="Inter"/>
                <a:ea typeface="Inter"/>
                <a:cs typeface="Inter"/>
                <a:sym typeface="Inter"/>
              </a:rPr>
              <a:t>Iteration 3: Gap Analysis of Interconnection Requests  </a:t>
            </a:r>
            <a:endParaRPr sz="4000">
              <a:solidFill>
                <a:schemeClr val="dk1"/>
              </a:solidFill>
              <a:latin typeface="Calibri"/>
              <a:ea typeface="Calibri"/>
              <a:cs typeface="Calibri"/>
              <a:sym typeface="Calibri"/>
            </a:endParaRPr>
          </a:p>
          <a:p>
            <a:pPr indent="0" lvl="0" marL="0" marR="0" rtl="0" algn="l">
              <a:lnSpc>
                <a:spcPct val="124721"/>
              </a:lnSpc>
              <a:spcBef>
                <a:spcPts val="0"/>
              </a:spcBef>
              <a:spcAft>
                <a:spcPts val="0"/>
              </a:spcAft>
              <a:buNone/>
            </a:pPr>
            <a:r>
              <a:t/>
            </a:r>
            <a:endParaRPr b="1" sz="5562">
              <a:latin typeface="Inter"/>
              <a:ea typeface="Inter"/>
              <a:cs typeface="Inter"/>
              <a:sym typeface="Inter"/>
            </a:endParaRPr>
          </a:p>
        </p:txBody>
      </p:sp>
      <p:pic>
        <p:nvPicPr>
          <p:cNvPr id="191" name="Google Shape;191;p20"/>
          <p:cNvPicPr preferRelativeResize="0"/>
          <p:nvPr/>
        </p:nvPicPr>
        <p:blipFill>
          <a:blip r:embed="rId3">
            <a:alphaModFix/>
          </a:blip>
          <a:stretch>
            <a:fillRect/>
          </a:stretch>
        </p:blipFill>
        <p:spPr>
          <a:xfrm>
            <a:off x="76200" y="2697025"/>
            <a:ext cx="18135600" cy="6120757"/>
          </a:xfrm>
          <a:prstGeom prst="rect">
            <a:avLst/>
          </a:prstGeom>
          <a:noFill/>
          <a:ln>
            <a:noFill/>
          </a:ln>
        </p:spPr>
      </p:pic>
      <p:sp>
        <p:nvSpPr>
          <p:cNvPr id="192" name="Google Shape;192;p20"/>
          <p:cNvSpPr/>
          <p:nvPr/>
        </p:nvSpPr>
        <p:spPr>
          <a:xfrm>
            <a:off x="152400" y="5647925"/>
            <a:ext cx="15543600" cy="2937900"/>
          </a:xfrm>
          <a:prstGeom prst="roundRect">
            <a:avLst>
              <a:gd fmla="val 16667" name="adj"/>
            </a:avLst>
          </a:prstGeom>
          <a:noFill/>
          <a:ln cap="flat" cmpd="sng" w="76200">
            <a:solidFill>
              <a:srgbClr val="FDB814"/>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93" name="Google Shape;193;p20"/>
          <p:cNvSpPr/>
          <p:nvPr/>
        </p:nvSpPr>
        <p:spPr>
          <a:xfrm>
            <a:off x="6628500" y="9123700"/>
            <a:ext cx="5031000" cy="6561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241300" rtl="0" algn="ctr">
              <a:lnSpc>
                <a:spcPct val="128571"/>
              </a:lnSpc>
              <a:spcBef>
                <a:spcPts val="0"/>
              </a:spcBef>
              <a:spcAft>
                <a:spcPts val="300"/>
              </a:spcAft>
              <a:buNone/>
            </a:pPr>
            <a:r>
              <a:rPr lang="en-US" sz="2050">
                <a:solidFill>
                  <a:srgbClr val="131619"/>
                </a:solidFill>
                <a:latin typeface="Roboto"/>
                <a:ea typeface="Roboto"/>
                <a:cs typeface="Roboto"/>
                <a:sym typeface="Roboto"/>
              </a:rPr>
              <a:t>Tech stack as Iteration 2</a:t>
            </a:r>
            <a:endParaRPr sz="2400">
              <a:latin typeface="Calibri"/>
              <a:ea typeface="Calibri"/>
              <a:cs typeface="Calibri"/>
              <a:sym typeface="Calibri"/>
            </a:endParaRPr>
          </a:p>
        </p:txBody>
      </p:sp>
      <p:sp>
        <p:nvSpPr>
          <p:cNvPr id="194" name="Google Shape;194;p20"/>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195" name="Google Shape;195;p20"/>
          <p:cNvSpPr txBox="1"/>
          <p:nvPr/>
        </p:nvSpPr>
        <p:spPr>
          <a:xfrm>
            <a:off x="16571020" y="9481928"/>
            <a:ext cx="1453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00">
                <a:solidFill>
                  <a:srgbClr val="888888"/>
                </a:solidFill>
                <a:latin typeface="Calibri"/>
                <a:ea typeface="Calibri"/>
                <a:cs typeface="Calibri"/>
                <a:sym typeface="Calibri"/>
              </a:rPr>
              <a:t>Team 16</a:t>
            </a:r>
            <a:endParaRPr i="1" sz="2100">
              <a:solidFill>
                <a:srgbClr val="888888"/>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1"/>
          <p:cNvSpPr txBox="1"/>
          <p:nvPr/>
        </p:nvSpPr>
        <p:spPr>
          <a:xfrm>
            <a:off x="838127" y="732900"/>
            <a:ext cx="15924900" cy="1623900"/>
          </a:xfrm>
          <a:prstGeom prst="rect">
            <a:avLst/>
          </a:prstGeom>
          <a:noFill/>
          <a:ln>
            <a:noFill/>
          </a:ln>
        </p:spPr>
        <p:txBody>
          <a:bodyPr anchorCtr="0" anchor="t" bIns="0" lIns="0" spcFirstLastPara="1" rIns="0" wrap="square" tIns="0">
            <a:spAutoFit/>
          </a:bodyPr>
          <a:lstStyle/>
          <a:p>
            <a:pPr indent="0" lvl="0" marL="0" marR="0" rtl="0" algn="l">
              <a:lnSpc>
                <a:spcPct val="124721"/>
              </a:lnSpc>
              <a:spcBef>
                <a:spcPts val="0"/>
              </a:spcBef>
              <a:spcAft>
                <a:spcPts val="0"/>
              </a:spcAft>
              <a:buNone/>
            </a:pPr>
            <a:r>
              <a:rPr b="1" lang="en-US" sz="4000">
                <a:latin typeface="Inter"/>
                <a:ea typeface="Inter"/>
                <a:cs typeface="Inter"/>
                <a:sym typeface="Inter"/>
              </a:rPr>
              <a:t>Evals &amp; Measures for </a:t>
            </a:r>
            <a:r>
              <a:rPr b="1" lang="en-US" sz="4000">
                <a:solidFill>
                  <a:schemeClr val="dk1"/>
                </a:solidFill>
                <a:latin typeface="Inter"/>
                <a:ea typeface="Inter"/>
                <a:cs typeface="Inter"/>
                <a:sym typeface="Inter"/>
              </a:rPr>
              <a:t>Compliance AI agent: Iteration 1 </a:t>
            </a:r>
            <a:endParaRPr sz="4000">
              <a:solidFill>
                <a:schemeClr val="dk1"/>
              </a:solidFill>
              <a:latin typeface="Calibri"/>
              <a:ea typeface="Calibri"/>
              <a:cs typeface="Calibri"/>
              <a:sym typeface="Calibri"/>
            </a:endParaRPr>
          </a:p>
          <a:p>
            <a:pPr indent="0" lvl="0" marL="0" marR="0" rtl="0" algn="l">
              <a:lnSpc>
                <a:spcPct val="124721"/>
              </a:lnSpc>
              <a:spcBef>
                <a:spcPts val="0"/>
              </a:spcBef>
              <a:spcAft>
                <a:spcPts val="0"/>
              </a:spcAft>
              <a:buNone/>
            </a:pPr>
            <a:r>
              <a:t/>
            </a:r>
            <a:endParaRPr b="1" sz="5562">
              <a:latin typeface="Inter"/>
              <a:ea typeface="Inter"/>
              <a:cs typeface="Inter"/>
              <a:sym typeface="Inter"/>
            </a:endParaRPr>
          </a:p>
        </p:txBody>
      </p:sp>
      <p:pic>
        <p:nvPicPr>
          <p:cNvPr id="201" name="Google Shape;201;p21" title="Screenshot 2025-11-07 at 11.25.05 AM.png"/>
          <p:cNvPicPr preferRelativeResize="0"/>
          <p:nvPr/>
        </p:nvPicPr>
        <p:blipFill>
          <a:blip r:embed="rId3">
            <a:alphaModFix/>
          </a:blip>
          <a:stretch>
            <a:fillRect/>
          </a:stretch>
        </p:blipFill>
        <p:spPr>
          <a:xfrm>
            <a:off x="1415723" y="1513975"/>
            <a:ext cx="14118875" cy="8023351"/>
          </a:xfrm>
          <a:prstGeom prst="rect">
            <a:avLst/>
          </a:prstGeom>
          <a:noFill/>
          <a:ln>
            <a:noFill/>
          </a:ln>
        </p:spPr>
      </p:pic>
      <p:sp>
        <p:nvSpPr>
          <p:cNvPr id="202" name="Google Shape;202;p21"/>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03" name="Google Shape;203;p21"/>
          <p:cNvSpPr txBox="1"/>
          <p:nvPr/>
        </p:nvSpPr>
        <p:spPr>
          <a:xfrm>
            <a:off x="16571020" y="9481928"/>
            <a:ext cx="1453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00">
                <a:solidFill>
                  <a:srgbClr val="888888"/>
                </a:solidFill>
                <a:latin typeface="Calibri"/>
                <a:ea typeface="Calibri"/>
                <a:cs typeface="Calibri"/>
                <a:sym typeface="Calibri"/>
              </a:rPr>
              <a:t>Team 16</a:t>
            </a:r>
            <a:endParaRPr i="1" sz="2100">
              <a:solidFill>
                <a:srgbClr val="888888"/>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pic>
        <p:nvPicPr>
          <p:cNvPr id="208" name="Google Shape;208;p22"/>
          <p:cNvPicPr preferRelativeResize="0"/>
          <p:nvPr/>
        </p:nvPicPr>
        <p:blipFill>
          <a:blip r:embed="rId3">
            <a:alphaModFix/>
          </a:blip>
          <a:stretch>
            <a:fillRect/>
          </a:stretch>
        </p:blipFill>
        <p:spPr>
          <a:xfrm>
            <a:off x="11822375" y="1513975"/>
            <a:ext cx="4754025" cy="7890700"/>
          </a:xfrm>
          <a:prstGeom prst="rect">
            <a:avLst/>
          </a:prstGeom>
          <a:noFill/>
          <a:ln>
            <a:noFill/>
          </a:ln>
        </p:spPr>
      </p:pic>
      <p:cxnSp>
        <p:nvCxnSpPr>
          <p:cNvPr id="209" name="Google Shape;209;p22"/>
          <p:cNvCxnSpPr>
            <a:stCxn id="210" idx="3"/>
            <a:endCxn id="208" idx="1"/>
          </p:cNvCxnSpPr>
          <p:nvPr/>
        </p:nvCxnSpPr>
        <p:spPr>
          <a:xfrm>
            <a:off x="9635375" y="4988150"/>
            <a:ext cx="2187000" cy="471300"/>
          </a:xfrm>
          <a:prstGeom prst="curvedConnector3">
            <a:avLst>
              <a:gd fmla="val 50000" name="adj1"/>
            </a:avLst>
          </a:prstGeom>
          <a:noFill/>
          <a:ln cap="flat" cmpd="sng" w="76200">
            <a:solidFill>
              <a:srgbClr val="FF0000"/>
            </a:solidFill>
            <a:prstDash val="dash"/>
            <a:round/>
            <a:headEnd len="med" w="med" type="none"/>
            <a:tailEnd len="med" w="med" type="none"/>
          </a:ln>
        </p:spPr>
      </p:cxnSp>
      <p:pic>
        <p:nvPicPr>
          <p:cNvPr id="211" name="Google Shape;211;p22"/>
          <p:cNvPicPr preferRelativeResize="0"/>
          <p:nvPr/>
        </p:nvPicPr>
        <p:blipFill>
          <a:blip r:embed="rId4">
            <a:alphaModFix/>
          </a:blip>
          <a:stretch>
            <a:fillRect/>
          </a:stretch>
        </p:blipFill>
        <p:spPr>
          <a:xfrm>
            <a:off x="1435750" y="1513975"/>
            <a:ext cx="8136188" cy="7890699"/>
          </a:xfrm>
          <a:prstGeom prst="rect">
            <a:avLst/>
          </a:prstGeom>
          <a:noFill/>
          <a:ln>
            <a:noFill/>
          </a:ln>
        </p:spPr>
      </p:pic>
      <p:sp>
        <p:nvSpPr>
          <p:cNvPr id="212" name="Google Shape;212;p22"/>
          <p:cNvSpPr txBox="1"/>
          <p:nvPr/>
        </p:nvSpPr>
        <p:spPr>
          <a:xfrm>
            <a:off x="838127" y="732900"/>
            <a:ext cx="15924900" cy="1623900"/>
          </a:xfrm>
          <a:prstGeom prst="rect">
            <a:avLst/>
          </a:prstGeom>
          <a:noFill/>
          <a:ln>
            <a:noFill/>
          </a:ln>
        </p:spPr>
        <p:txBody>
          <a:bodyPr anchorCtr="0" anchor="t" bIns="0" lIns="0" spcFirstLastPara="1" rIns="0" wrap="square" tIns="0">
            <a:spAutoFit/>
          </a:bodyPr>
          <a:lstStyle/>
          <a:p>
            <a:pPr indent="0" lvl="0" marL="0" marR="0" rtl="0" algn="l">
              <a:lnSpc>
                <a:spcPct val="124721"/>
              </a:lnSpc>
              <a:spcBef>
                <a:spcPts val="0"/>
              </a:spcBef>
              <a:spcAft>
                <a:spcPts val="0"/>
              </a:spcAft>
              <a:buNone/>
            </a:pPr>
            <a:r>
              <a:rPr b="1" lang="en-US" sz="4000">
                <a:latin typeface="Inter"/>
                <a:ea typeface="Inter"/>
                <a:cs typeface="Inter"/>
                <a:sym typeface="Inter"/>
              </a:rPr>
              <a:t>Evals &amp; Measures for </a:t>
            </a:r>
            <a:r>
              <a:rPr b="1" lang="en-US" sz="4000">
                <a:solidFill>
                  <a:schemeClr val="dk1"/>
                </a:solidFill>
                <a:latin typeface="Inter"/>
                <a:ea typeface="Inter"/>
                <a:cs typeface="Inter"/>
                <a:sym typeface="Inter"/>
              </a:rPr>
              <a:t>Compliance AI agent: </a:t>
            </a:r>
            <a:r>
              <a:rPr b="1" lang="en-US" sz="4000">
                <a:solidFill>
                  <a:schemeClr val="dk1"/>
                </a:solidFill>
                <a:latin typeface="Inter"/>
                <a:ea typeface="Inter"/>
                <a:cs typeface="Inter"/>
                <a:sym typeface="Inter"/>
              </a:rPr>
              <a:t>Iteration</a:t>
            </a:r>
            <a:r>
              <a:rPr b="1" lang="en-US" sz="4000">
                <a:solidFill>
                  <a:schemeClr val="dk1"/>
                </a:solidFill>
                <a:latin typeface="Inter"/>
                <a:ea typeface="Inter"/>
                <a:cs typeface="Inter"/>
                <a:sym typeface="Inter"/>
              </a:rPr>
              <a:t> 2 &amp; 3 </a:t>
            </a:r>
            <a:endParaRPr sz="4000">
              <a:solidFill>
                <a:schemeClr val="dk1"/>
              </a:solidFill>
              <a:latin typeface="Calibri"/>
              <a:ea typeface="Calibri"/>
              <a:cs typeface="Calibri"/>
              <a:sym typeface="Calibri"/>
            </a:endParaRPr>
          </a:p>
          <a:p>
            <a:pPr indent="0" lvl="0" marL="0" marR="0" rtl="0" algn="l">
              <a:lnSpc>
                <a:spcPct val="124721"/>
              </a:lnSpc>
              <a:spcBef>
                <a:spcPts val="0"/>
              </a:spcBef>
              <a:spcAft>
                <a:spcPts val="0"/>
              </a:spcAft>
              <a:buNone/>
            </a:pPr>
            <a:r>
              <a:t/>
            </a:r>
            <a:endParaRPr b="1" sz="5562">
              <a:latin typeface="Inter"/>
              <a:ea typeface="Inter"/>
              <a:cs typeface="Inter"/>
              <a:sym typeface="Inter"/>
            </a:endParaRPr>
          </a:p>
        </p:txBody>
      </p:sp>
      <p:sp>
        <p:nvSpPr>
          <p:cNvPr id="210" name="Google Shape;210;p22"/>
          <p:cNvSpPr/>
          <p:nvPr/>
        </p:nvSpPr>
        <p:spPr>
          <a:xfrm>
            <a:off x="6617375" y="3348800"/>
            <a:ext cx="3018000" cy="3278700"/>
          </a:xfrm>
          <a:prstGeom prst="roundRect">
            <a:avLst>
              <a:gd fmla="val 8837" name="adj"/>
            </a:avLst>
          </a:prstGeom>
          <a:noFill/>
          <a:ln cap="flat" cmpd="sng" w="76200">
            <a:solidFill>
              <a:srgbClr val="FF00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13" name="Google Shape;213;p22"/>
          <p:cNvSpPr txBox="1"/>
          <p:nvPr/>
        </p:nvSpPr>
        <p:spPr>
          <a:xfrm>
            <a:off x="0" y="9551922"/>
            <a:ext cx="183831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2300" u="sng">
                <a:solidFill>
                  <a:schemeClr val="hlink"/>
                </a:solidFill>
                <a:latin typeface="Calibri"/>
                <a:ea typeface="Calibri"/>
                <a:cs typeface="Calibri"/>
                <a:sym typeface="Calibri"/>
                <a:hlinkClick r:id="rId5"/>
              </a:rPr>
              <a:t>https://github.com/kvrkr866/unblocking_icq_phase1/blob/main/capstone16_evals_n_metrics.xlsx</a:t>
            </a:r>
            <a:endParaRPr sz="2300">
              <a:solidFill>
                <a:schemeClr val="dk1"/>
              </a:solidFill>
              <a:latin typeface="Calibri"/>
              <a:ea typeface="Calibri"/>
              <a:cs typeface="Calibri"/>
              <a:sym typeface="Calibri"/>
            </a:endParaRPr>
          </a:p>
          <a:p>
            <a:pPr indent="0" lvl="0" marL="0" rtl="0" algn="ctr">
              <a:spcBef>
                <a:spcPts val="0"/>
              </a:spcBef>
              <a:spcAft>
                <a:spcPts val="0"/>
              </a:spcAft>
              <a:buNone/>
            </a:pPr>
            <a:r>
              <a:t/>
            </a:r>
            <a:endParaRPr sz="2300">
              <a:solidFill>
                <a:schemeClr val="dk1"/>
              </a:solidFill>
              <a:latin typeface="Calibri"/>
              <a:ea typeface="Calibri"/>
              <a:cs typeface="Calibri"/>
              <a:sym typeface="Calibri"/>
            </a:endParaRPr>
          </a:p>
        </p:txBody>
      </p:sp>
      <p:sp>
        <p:nvSpPr>
          <p:cNvPr id="214" name="Google Shape;214;p22"/>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15" name="Google Shape;215;p22"/>
          <p:cNvSpPr txBox="1"/>
          <p:nvPr/>
        </p:nvSpPr>
        <p:spPr>
          <a:xfrm>
            <a:off x="16571020" y="9481928"/>
            <a:ext cx="1453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00">
                <a:solidFill>
                  <a:srgbClr val="888888"/>
                </a:solidFill>
                <a:latin typeface="Calibri"/>
                <a:ea typeface="Calibri"/>
                <a:cs typeface="Calibri"/>
                <a:sym typeface="Calibri"/>
              </a:rPr>
              <a:t>Team 16</a:t>
            </a:r>
            <a:endParaRPr i="1" sz="2100">
              <a:solidFill>
                <a:srgbClr val="888888"/>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txBox="1"/>
          <p:nvPr/>
        </p:nvSpPr>
        <p:spPr>
          <a:xfrm>
            <a:off x="838127" y="732900"/>
            <a:ext cx="15924900" cy="1623900"/>
          </a:xfrm>
          <a:prstGeom prst="rect">
            <a:avLst/>
          </a:prstGeom>
          <a:noFill/>
          <a:ln>
            <a:noFill/>
          </a:ln>
        </p:spPr>
        <p:txBody>
          <a:bodyPr anchorCtr="0" anchor="t" bIns="0" lIns="0" spcFirstLastPara="1" rIns="0" wrap="square" tIns="0">
            <a:spAutoFit/>
          </a:bodyPr>
          <a:lstStyle/>
          <a:p>
            <a:pPr indent="0" lvl="0" marL="0" marR="0" rtl="0" algn="l">
              <a:lnSpc>
                <a:spcPct val="124721"/>
              </a:lnSpc>
              <a:spcBef>
                <a:spcPts val="0"/>
              </a:spcBef>
              <a:spcAft>
                <a:spcPts val="0"/>
              </a:spcAft>
              <a:buNone/>
            </a:pPr>
            <a:r>
              <a:rPr b="1" lang="en-US" sz="4000">
                <a:latin typeface="Inter"/>
                <a:ea typeface="Inter"/>
                <a:cs typeface="Inter"/>
                <a:sym typeface="Inter"/>
              </a:rPr>
              <a:t>Demo</a:t>
            </a:r>
            <a:endParaRPr sz="4000">
              <a:solidFill>
                <a:schemeClr val="dk1"/>
              </a:solidFill>
              <a:latin typeface="Calibri"/>
              <a:ea typeface="Calibri"/>
              <a:cs typeface="Calibri"/>
              <a:sym typeface="Calibri"/>
            </a:endParaRPr>
          </a:p>
          <a:p>
            <a:pPr indent="0" lvl="0" marL="0" marR="0" rtl="0" algn="l">
              <a:lnSpc>
                <a:spcPct val="124721"/>
              </a:lnSpc>
              <a:spcBef>
                <a:spcPts val="0"/>
              </a:spcBef>
              <a:spcAft>
                <a:spcPts val="0"/>
              </a:spcAft>
              <a:buNone/>
            </a:pPr>
            <a:r>
              <a:t/>
            </a:r>
            <a:endParaRPr b="1" sz="5562">
              <a:latin typeface="Inter"/>
              <a:ea typeface="Inter"/>
              <a:cs typeface="Inter"/>
              <a:sym typeface="Inter"/>
            </a:endParaRPr>
          </a:p>
        </p:txBody>
      </p:sp>
      <p:pic>
        <p:nvPicPr>
          <p:cNvPr id="221" name="Google Shape;221;p23"/>
          <p:cNvPicPr preferRelativeResize="0"/>
          <p:nvPr/>
        </p:nvPicPr>
        <p:blipFill>
          <a:blip r:embed="rId3">
            <a:alphaModFix/>
          </a:blip>
          <a:stretch>
            <a:fillRect/>
          </a:stretch>
        </p:blipFill>
        <p:spPr>
          <a:xfrm>
            <a:off x="4629275" y="1443800"/>
            <a:ext cx="9989100" cy="3452474"/>
          </a:xfrm>
          <a:prstGeom prst="rect">
            <a:avLst/>
          </a:prstGeom>
          <a:noFill/>
          <a:ln>
            <a:noFill/>
          </a:ln>
        </p:spPr>
      </p:pic>
      <p:pic>
        <p:nvPicPr>
          <p:cNvPr id="222" name="Google Shape;222;p23"/>
          <p:cNvPicPr preferRelativeResize="0"/>
          <p:nvPr/>
        </p:nvPicPr>
        <p:blipFill>
          <a:blip r:embed="rId4">
            <a:alphaModFix/>
          </a:blip>
          <a:stretch>
            <a:fillRect/>
          </a:stretch>
        </p:blipFill>
        <p:spPr>
          <a:xfrm>
            <a:off x="2604900" y="5304864"/>
            <a:ext cx="6769724" cy="4202086"/>
          </a:xfrm>
          <a:prstGeom prst="rect">
            <a:avLst/>
          </a:prstGeom>
          <a:noFill/>
          <a:ln>
            <a:noFill/>
          </a:ln>
        </p:spPr>
      </p:pic>
      <p:pic>
        <p:nvPicPr>
          <p:cNvPr id="223" name="Google Shape;223;p23"/>
          <p:cNvPicPr preferRelativeResize="0"/>
          <p:nvPr/>
        </p:nvPicPr>
        <p:blipFill>
          <a:blip r:embed="rId5">
            <a:alphaModFix/>
          </a:blip>
          <a:stretch>
            <a:fillRect/>
          </a:stretch>
        </p:blipFill>
        <p:spPr>
          <a:xfrm>
            <a:off x="10226825" y="5363825"/>
            <a:ext cx="6385800" cy="4084176"/>
          </a:xfrm>
          <a:prstGeom prst="rect">
            <a:avLst/>
          </a:prstGeom>
          <a:noFill/>
          <a:ln>
            <a:noFill/>
          </a:ln>
        </p:spPr>
      </p:pic>
      <p:sp>
        <p:nvSpPr>
          <p:cNvPr id="224" name="Google Shape;224;p23"/>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25" name="Google Shape;225;p23"/>
          <p:cNvSpPr txBox="1"/>
          <p:nvPr/>
        </p:nvSpPr>
        <p:spPr>
          <a:xfrm>
            <a:off x="16571020" y="9481928"/>
            <a:ext cx="1453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00">
                <a:solidFill>
                  <a:srgbClr val="888888"/>
                </a:solidFill>
                <a:latin typeface="Calibri"/>
                <a:ea typeface="Calibri"/>
                <a:cs typeface="Calibri"/>
                <a:sym typeface="Calibri"/>
              </a:rPr>
              <a:t>Team 16</a:t>
            </a:r>
            <a:endParaRPr i="1" sz="2100">
              <a:solidFill>
                <a:srgbClr val="888888"/>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4"/>
          <p:cNvSpPr txBox="1"/>
          <p:nvPr/>
        </p:nvSpPr>
        <p:spPr>
          <a:xfrm>
            <a:off x="838125" y="732900"/>
            <a:ext cx="16843500" cy="1383600"/>
          </a:xfrm>
          <a:prstGeom prst="rect">
            <a:avLst/>
          </a:prstGeom>
          <a:noFill/>
          <a:ln>
            <a:noFill/>
          </a:ln>
        </p:spPr>
        <p:txBody>
          <a:bodyPr anchorCtr="0" anchor="t" bIns="0" lIns="0" spcFirstLastPara="1" rIns="0" wrap="square" tIns="0">
            <a:spAutoFit/>
          </a:bodyPr>
          <a:lstStyle/>
          <a:p>
            <a:pPr indent="0" lvl="0" marL="0" marR="0" rtl="0" algn="l">
              <a:lnSpc>
                <a:spcPct val="124721"/>
              </a:lnSpc>
              <a:spcBef>
                <a:spcPts val="0"/>
              </a:spcBef>
              <a:spcAft>
                <a:spcPts val="0"/>
              </a:spcAft>
              <a:buNone/>
            </a:pPr>
            <a:r>
              <a:rPr b="1" lang="en-US" sz="4000">
                <a:latin typeface="Inter"/>
                <a:ea typeface="Inter"/>
                <a:cs typeface="Inter"/>
                <a:sym typeface="Inter"/>
              </a:rPr>
              <a:t>Our Idea: An AI Turnkey Solution to Run the Interconnection Process End to End  </a:t>
            </a:r>
            <a:endParaRPr sz="4000"/>
          </a:p>
        </p:txBody>
      </p:sp>
      <p:pic>
        <p:nvPicPr>
          <p:cNvPr id="231" name="Google Shape;231;p24"/>
          <p:cNvPicPr preferRelativeResize="0"/>
          <p:nvPr/>
        </p:nvPicPr>
        <p:blipFill>
          <a:blip r:embed="rId3">
            <a:alphaModFix/>
          </a:blip>
          <a:stretch>
            <a:fillRect/>
          </a:stretch>
        </p:blipFill>
        <p:spPr>
          <a:xfrm>
            <a:off x="8919896" y="2942383"/>
            <a:ext cx="8361900" cy="5375500"/>
          </a:xfrm>
          <a:prstGeom prst="rect">
            <a:avLst/>
          </a:prstGeom>
          <a:noFill/>
          <a:ln>
            <a:noFill/>
          </a:ln>
        </p:spPr>
      </p:pic>
      <p:sp>
        <p:nvSpPr>
          <p:cNvPr id="232" name="Google Shape;232;p24"/>
          <p:cNvSpPr/>
          <p:nvPr/>
        </p:nvSpPr>
        <p:spPr>
          <a:xfrm>
            <a:off x="9007846" y="6959783"/>
            <a:ext cx="2019700" cy="1198350"/>
          </a:xfrm>
          <a:prstGeom prst="flowChartProcess">
            <a:avLst/>
          </a:prstGeom>
          <a:noFill/>
          <a:ln cap="flat" cmpd="sng" w="38100">
            <a:solidFill>
              <a:srgbClr val="FF9900"/>
            </a:solidFill>
            <a:prstDash val="dash"/>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cxnSp>
        <p:nvCxnSpPr>
          <p:cNvPr id="233" name="Google Shape;233;p24"/>
          <p:cNvCxnSpPr>
            <a:stCxn id="232" idx="2"/>
          </p:cNvCxnSpPr>
          <p:nvPr/>
        </p:nvCxnSpPr>
        <p:spPr>
          <a:xfrm>
            <a:off x="10017696" y="8158133"/>
            <a:ext cx="1200" cy="653100"/>
          </a:xfrm>
          <a:prstGeom prst="straightConnector1">
            <a:avLst/>
          </a:prstGeom>
          <a:noFill/>
          <a:ln cap="flat" cmpd="sng" w="28575">
            <a:solidFill>
              <a:srgbClr val="FF9900"/>
            </a:solidFill>
            <a:prstDash val="dash"/>
            <a:round/>
            <a:headEnd len="med" w="med" type="none"/>
            <a:tailEnd len="med" w="med" type="triangle"/>
          </a:ln>
        </p:spPr>
      </p:cxnSp>
      <p:sp>
        <p:nvSpPr>
          <p:cNvPr id="234" name="Google Shape;234;p24"/>
          <p:cNvSpPr txBox="1"/>
          <p:nvPr/>
        </p:nvSpPr>
        <p:spPr>
          <a:xfrm>
            <a:off x="9307996" y="8633133"/>
            <a:ext cx="77274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200">
                <a:solidFill>
                  <a:srgbClr val="FF9900"/>
                </a:solidFill>
                <a:latin typeface="Calibri"/>
                <a:ea typeface="Calibri"/>
                <a:cs typeface="Calibri"/>
                <a:sym typeface="Calibri"/>
              </a:rPr>
              <a:t>Capstone project! </a:t>
            </a:r>
            <a:endParaRPr b="1" sz="3200">
              <a:solidFill>
                <a:srgbClr val="FF9900"/>
              </a:solidFill>
              <a:latin typeface="Calibri"/>
              <a:ea typeface="Calibri"/>
              <a:cs typeface="Calibri"/>
              <a:sym typeface="Calibri"/>
            </a:endParaRPr>
          </a:p>
        </p:txBody>
      </p:sp>
      <p:pic>
        <p:nvPicPr>
          <p:cNvPr id="235" name="Google Shape;235;p24"/>
          <p:cNvPicPr preferRelativeResize="0"/>
          <p:nvPr/>
        </p:nvPicPr>
        <p:blipFill>
          <a:blip r:embed="rId4">
            <a:alphaModFix/>
          </a:blip>
          <a:stretch>
            <a:fillRect/>
          </a:stretch>
        </p:blipFill>
        <p:spPr>
          <a:xfrm>
            <a:off x="1415121" y="3102508"/>
            <a:ext cx="6047601" cy="6047601"/>
          </a:xfrm>
          <a:prstGeom prst="rect">
            <a:avLst/>
          </a:prstGeom>
          <a:noFill/>
          <a:ln>
            <a:noFill/>
          </a:ln>
        </p:spPr>
      </p:pic>
      <p:sp>
        <p:nvSpPr>
          <p:cNvPr id="236" name="Google Shape;236;p24"/>
          <p:cNvSpPr txBox="1"/>
          <p:nvPr/>
        </p:nvSpPr>
        <p:spPr>
          <a:xfrm>
            <a:off x="1415125" y="2455988"/>
            <a:ext cx="71385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000">
                <a:solidFill>
                  <a:srgbClr val="272525"/>
                </a:solidFill>
                <a:latin typeface="Inter"/>
                <a:ea typeface="Inter"/>
                <a:cs typeface="Inter"/>
                <a:sym typeface="Inter"/>
              </a:rPr>
              <a:t>Goal:</a:t>
            </a:r>
            <a:endParaRPr sz="700"/>
          </a:p>
        </p:txBody>
      </p:sp>
      <p:sp>
        <p:nvSpPr>
          <p:cNvPr id="237" name="Google Shape;237;p24"/>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38" name="Google Shape;238;p24"/>
          <p:cNvSpPr txBox="1"/>
          <p:nvPr/>
        </p:nvSpPr>
        <p:spPr>
          <a:xfrm>
            <a:off x="16571020" y="9481928"/>
            <a:ext cx="1453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00">
                <a:solidFill>
                  <a:srgbClr val="888888"/>
                </a:solidFill>
                <a:latin typeface="Calibri"/>
                <a:ea typeface="Calibri"/>
                <a:cs typeface="Calibri"/>
                <a:sym typeface="Calibri"/>
              </a:rPr>
              <a:t>Team 16</a:t>
            </a:r>
            <a:endParaRPr i="1" sz="2100">
              <a:solidFill>
                <a:srgbClr val="888888"/>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5"/>
          <p:cNvSpPr/>
          <p:nvPr/>
        </p:nvSpPr>
        <p:spPr>
          <a:xfrm>
            <a:off x="2577559" y="2415009"/>
            <a:ext cx="3901200" cy="390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4" name="Google Shape;244;p25"/>
          <p:cNvSpPr/>
          <p:nvPr/>
        </p:nvSpPr>
        <p:spPr>
          <a:xfrm>
            <a:off x="6979492" y="2415009"/>
            <a:ext cx="3901200" cy="3901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45" name="Google Shape;245;p25"/>
          <p:cNvSpPr txBox="1"/>
          <p:nvPr/>
        </p:nvSpPr>
        <p:spPr>
          <a:xfrm>
            <a:off x="838127" y="732900"/>
            <a:ext cx="15924900" cy="1623900"/>
          </a:xfrm>
          <a:prstGeom prst="rect">
            <a:avLst/>
          </a:prstGeom>
          <a:noFill/>
          <a:ln>
            <a:noFill/>
          </a:ln>
        </p:spPr>
        <p:txBody>
          <a:bodyPr anchorCtr="0" anchor="t" bIns="0" lIns="0" spcFirstLastPara="1" rIns="0" wrap="square" tIns="0">
            <a:spAutoFit/>
          </a:bodyPr>
          <a:lstStyle/>
          <a:p>
            <a:pPr indent="0" lvl="0" marL="0" marR="0" rtl="0" algn="l">
              <a:lnSpc>
                <a:spcPct val="124721"/>
              </a:lnSpc>
              <a:spcBef>
                <a:spcPts val="0"/>
              </a:spcBef>
              <a:spcAft>
                <a:spcPts val="0"/>
              </a:spcAft>
              <a:buNone/>
            </a:pPr>
            <a:r>
              <a:rPr b="1" lang="en-US" sz="4000">
                <a:latin typeface="Inter"/>
                <a:ea typeface="Inter"/>
                <a:cs typeface="Inter"/>
                <a:sym typeface="Inter"/>
              </a:rPr>
              <a:t>Thank You for Your Attention!</a:t>
            </a:r>
            <a:endParaRPr sz="4000">
              <a:solidFill>
                <a:schemeClr val="dk1"/>
              </a:solidFill>
              <a:latin typeface="Calibri"/>
              <a:ea typeface="Calibri"/>
              <a:cs typeface="Calibri"/>
              <a:sym typeface="Calibri"/>
            </a:endParaRPr>
          </a:p>
          <a:p>
            <a:pPr indent="0" lvl="0" marL="0" marR="0" rtl="0" algn="l">
              <a:lnSpc>
                <a:spcPct val="124721"/>
              </a:lnSpc>
              <a:spcBef>
                <a:spcPts val="0"/>
              </a:spcBef>
              <a:spcAft>
                <a:spcPts val="0"/>
              </a:spcAft>
              <a:buNone/>
            </a:pPr>
            <a:r>
              <a:t/>
            </a:r>
            <a:endParaRPr b="1" sz="5562">
              <a:latin typeface="Inter"/>
              <a:ea typeface="Inter"/>
              <a:cs typeface="Inter"/>
              <a:sym typeface="Inter"/>
            </a:endParaRPr>
          </a:p>
        </p:txBody>
      </p:sp>
      <p:sp>
        <p:nvSpPr>
          <p:cNvPr id="246" name="Google Shape;246;p25"/>
          <p:cNvSpPr txBox="1"/>
          <p:nvPr/>
        </p:nvSpPr>
        <p:spPr>
          <a:xfrm>
            <a:off x="2577685" y="6316159"/>
            <a:ext cx="39012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RK</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K.V. Ramakrishna Rao</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a:p>
            <a:pPr indent="0" lvl="0" marL="0" rtl="0" algn="l">
              <a:spcBef>
                <a:spcPts val="0"/>
              </a:spcBef>
              <a:spcAft>
                <a:spcPts val="0"/>
              </a:spcAft>
              <a:buNone/>
            </a:pPr>
            <a:r>
              <a:t/>
            </a:r>
            <a:endParaRPr sz="3200">
              <a:solidFill>
                <a:schemeClr val="dk1"/>
              </a:solidFill>
              <a:latin typeface="Calibri"/>
              <a:ea typeface="Calibri"/>
              <a:cs typeface="Calibri"/>
              <a:sym typeface="Calibri"/>
            </a:endParaRPr>
          </a:p>
        </p:txBody>
      </p:sp>
      <p:sp>
        <p:nvSpPr>
          <p:cNvPr id="247" name="Google Shape;247;p25"/>
          <p:cNvSpPr txBox="1"/>
          <p:nvPr/>
        </p:nvSpPr>
        <p:spPr>
          <a:xfrm>
            <a:off x="6979485" y="6316159"/>
            <a:ext cx="39012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Junia</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Junia Compostella</a:t>
            </a:r>
            <a:endParaRPr sz="3200">
              <a:solidFill>
                <a:schemeClr val="dk1"/>
              </a:solidFill>
              <a:latin typeface="Calibri"/>
              <a:ea typeface="Calibri"/>
              <a:cs typeface="Calibri"/>
              <a:sym typeface="Calibri"/>
            </a:endParaRPr>
          </a:p>
        </p:txBody>
      </p:sp>
      <p:sp>
        <p:nvSpPr>
          <p:cNvPr id="248" name="Google Shape;248;p25"/>
          <p:cNvSpPr txBox="1"/>
          <p:nvPr/>
        </p:nvSpPr>
        <p:spPr>
          <a:xfrm>
            <a:off x="11907185" y="6316159"/>
            <a:ext cx="3901200" cy="116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chemeClr val="dk1"/>
                </a:solidFill>
                <a:latin typeface="Calibri"/>
                <a:ea typeface="Calibri"/>
                <a:cs typeface="Calibri"/>
                <a:sym typeface="Calibri"/>
              </a:rPr>
              <a:t>Alejo</a:t>
            </a:r>
            <a:endParaRPr sz="3200">
              <a:solidFill>
                <a:schemeClr val="dk1"/>
              </a:solidFill>
              <a:latin typeface="Calibri"/>
              <a:ea typeface="Calibri"/>
              <a:cs typeface="Calibri"/>
              <a:sym typeface="Calibri"/>
            </a:endParaRPr>
          </a:p>
          <a:p>
            <a:pPr indent="0" lvl="0" marL="0" rtl="0" algn="l">
              <a:spcBef>
                <a:spcPts val="0"/>
              </a:spcBef>
              <a:spcAft>
                <a:spcPts val="0"/>
              </a:spcAft>
              <a:buNone/>
            </a:pPr>
            <a:r>
              <a:rPr lang="en-US" sz="3200">
                <a:solidFill>
                  <a:schemeClr val="dk1"/>
                </a:solidFill>
                <a:latin typeface="Calibri"/>
                <a:ea typeface="Calibri"/>
                <a:cs typeface="Calibri"/>
                <a:sym typeface="Calibri"/>
              </a:rPr>
              <a:t>Alejandro Duque</a:t>
            </a:r>
            <a:endParaRPr sz="3200">
              <a:solidFill>
                <a:schemeClr val="dk1"/>
              </a:solidFill>
              <a:latin typeface="Calibri"/>
              <a:ea typeface="Calibri"/>
              <a:cs typeface="Calibri"/>
              <a:sym typeface="Calibri"/>
            </a:endParaRPr>
          </a:p>
        </p:txBody>
      </p:sp>
      <p:pic>
        <p:nvPicPr>
          <p:cNvPr id="249" name="Google Shape;249;p25" title="headshot.jpg"/>
          <p:cNvPicPr preferRelativeResize="0"/>
          <p:nvPr/>
        </p:nvPicPr>
        <p:blipFill rotWithShape="1">
          <a:blip r:embed="rId3">
            <a:alphaModFix/>
          </a:blip>
          <a:srcRect b="19120" l="0" r="0" t="0"/>
          <a:stretch/>
        </p:blipFill>
        <p:spPr>
          <a:xfrm>
            <a:off x="6994376" y="2415017"/>
            <a:ext cx="3901201" cy="3901200"/>
          </a:xfrm>
          <a:prstGeom prst="rect">
            <a:avLst/>
          </a:prstGeom>
          <a:noFill/>
          <a:ln>
            <a:noFill/>
          </a:ln>
        </p:spPr>
      </p:pic>
      <p:pic>
        <p:nvPicPr>
          <p:cNvPr id="250" name="Google Shape;250;p25"/>
          <p:cNvPicPr preferRelativeResize="0"/>
          <p:nvPr/>
        </p:nvPicPr>
        <p:blipFill rotWithShape="1">
          <a:blip r:embed="rId4">
            <a:alphaModFix/>
          </a:blip>
          <a:srcRect b="21929" l="0" r="0" t="0"/>
          <a:stretch/>
        </p:blipFill>
        <p:spPr>
          <a:xfrm>
            <a:off x="11907175" y="2415000"/>
            <a:ext cx="3330665" cy="3901199"/>
          </a:xfrm>
          <a:prstGeom prst="rect">
            <a:avLst/>
          </a:prstGeom>
          <a:noFill/>
          <a:ln>
            <a:noFill/>
          </a:ln>
        </p:spPr>
      </p:pic>
      <p:pic>
        <p:nvPicPr>
          <p:cNvPr id="251" name="Google Shape;251;p25"/>
          <p:cNvPicPr preferRelativeResize="0"/>
          <p:nvPr/>
        </p:nvPicPr>
        <p:blipFill>
          <a:blip r:embed="rId5">
            <a:alphaModFix/>
          </a:blip>
          <a:stretch>
            <a:fillRect/>
          </a:stretch>
        </p:blipFill>
        <p:spPr>
          <a:xfrm>
            <a:off x="12027525" y="7616467"/>
            <a:ext cx="826250" cy="514950"/>
          </a:xfrm>
          <a:prstGeom prst="rect">
            <a:avLst/>
          </a:prstGeom>
          <a:noFill/>
          <a:ln>
            <a:noFill/>
          </a:ln>
        </p:spPr>
      </p:pic>
      <p:pic>
        <p:nvPicPr>
          <p:cNvPr id="252" name="Google Shape;252;p25"/>
          <p:cNvPicPr preferRelativeResize="0"/>
          <p:nvPr/>
        </p:nvPicPr>
        <p:blipFill>
          <a:blip r:embed="rId6">
            <a:alphaModFix/>
          </a:blip>
          <a:stretch>
            <a:fillRect/>
          </a:stretch>
        </p:blipFill>
        <p:spPr>
          <a:xfrm>
            <a:off x="2641150" y="7488367"/>
            <a:ext cx="826250" cy="549825"/>
          </a:xfrm>
          <a:prstGeom prst="rect">
            <a:avLst/>
          </a:prstGeom>
          <a:noFill/>
          <a:ln>
            <a:noFill/>
          </a:ln>
        </p:spPr>
      </p:pic>
      <p:pic>
        <p:nvPicPr>
          <p:cNvPr id="253" name="Google Shape;253;p25"/>
          <p:cNvPicPr preferRelativeResize="0"/>
          <p:nvPr/>
        </p:nvPicPr>
        <p:blipFill>
          <a:blip r:embed="rId7">
            <a:alphaModFix/>
          </a:blip>
          <a:stretch>
            <a:fillRect/>
          </a:stretch>
        </p:blipFill>
        <p:spPr>
          <a:xfrm>
            <a:off x="7052488" y="7570567"/>
            <a:ext cx="889325" cy="467625"/>
          </a:xfrm>
          <a:prstGeom prst="rect">
            <a:avLst/>
          </a:prstGeom>
          <a:noFill/>
          <a:ln>
            <a:noFill/>
          </a:ln>
        </p:spPr>
      </p:pic>
      <p:pic>
        <p:nvPicPr>
          <p:cNvPr id="254" name="Google Shape;254;p25"/>
          <p:cNvPicPr preferRelativeResize="0"/>
          <p:nvPr/>
        </p:nvPicPr>
        <p:blipFill rotWithShape="1">
          <a:blip r:embed="rId8">
            <a:alphaModFix/>
          </a:blip>
          <a:srcRect b="22293" l="0" r="0" t="0"/>
          <a:stretch/>
        </p:blipFill>
        <p:spPr>
          <a:xfrm>
            <a:off x="2577550" y="2415025"/>
            <a:ext cx="3901200" cy="3901200"/>
          </a:xfrm>
          <a:prstGeom prst="rect">
            <a:avLst/>
          </a:prstGeom>
          <a:noFill/>
          <a:ln>
            <a:noFill/>
          </a:ln>
        </p:spPr>
      </p:pic>
      <p:sp>
        <p:nvSpPr>
          <p:cNvPr id="255" name="Google Shape;255;p25"/>
          <p:cNvSpPr txBox="1"/>
          <p:nvPr/>
        </p:nvSpPr>
        <p:spPr>
          <a:xfrm>
            <a:off x="10892803" y="8749511"/>
            <a:ext cx="7036500" cy="677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3200">
                <a:solidFill>
                  <a:schemeClr val="dk1"/>
                </a:solidFill>
                <a:latin typeface="Calibri"/>
                <a:ea typeface="Calibri"/>
                <a:cs typeface="Calibri"/>
                <a:sym typeface="Calibri"/>
              </a:rPr>
              <a:t>Any questions?</a:t>
            </a:r>
            <a:endParaRPr sz="3200">
              <a:solidFill>
                <a:schemeClr val="dk1"/>
              </a:solidFill>
              <a:latin typeface="Calibri"/>
              <a:ea typeface="Calibri"/>
              <a:cs typeface="Calibri"/>
              <a:sym typeface="Calibri"/>
            </a:endParaRPr>
          </a:p>
        </p:txBody>
      </p:sp>
      <p:sp>
        <p:nvSpPr>
          <p:cNvPr id="256" name="Google Shape;256;p25"/>
          <p:cNvSpPr txBox="1"/>
          <p:nvPr>
            <p:ph idx="12" type="sldNum"/>
          </p:nvPr>
        </p:nvSpPr>
        <p:spPr>
          <a:xfrm>
            <a:off x="65532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
        <p:nvSpPr>
          <p:cNvPr id="257" name="Google Shape;257;p25"/>
          <p:cNvSpPr txBox="1"/>
          <p:nvPr/>
        </p:nvSpPr>
        <p:spPr>
          <a:xfrm>
            <a:off x="16571020" y="9481928"/>
            <a:ext cx="1453500" cy="507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00">
                <a:solidFill>
                  <a:srgbClr val="888888"/>
                </a:solidFill>
                <a:latin typeface="Calibri"/>
                <a:ea typeface="Calibri"/>
                <a:cs typeface="Calibri"/>
                <a:sym typeface="Calibri"/>
              </a:rPr>
              <a:t>Team 16</a:t>
            </a:r>
            <a:endParaRPr i="1" sz="2100">
              <a:solidFill>
                <a:srgbClr val="88888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