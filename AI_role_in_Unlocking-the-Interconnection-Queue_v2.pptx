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Inter" panose="020B0604020202020204" charset="0"/>
      <p:regular r:id="rId12"/>
    </p:embeddedFont>
    <p:embeddedFont>
      <p:font typeface="Inter Bold" panose="020B0604020202020204" charset="0"/>
      <p:regular r:id="rId13"/>
    </p:embeddedFont>
    <p:embeddedFont>
      <p:font typeface="Inter Italics" panose="020B0604020202020204" charset="0"/>
      <p:regular r:id="rId14"/>
    </p:embeddedFont>
    <p:embeddedFont>
      <p:font typeface="Inter Light"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50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hyperlink" Target="https://gamma.app/?utm_source=made-with-gamma" TargetMode="External"/><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838124" y="3608798"/>
            <a:ext cx="4546315" cy="6408505"/>
            <a:chOff x="0" y="0"/>
            <a:chExt cx="6061753" cy="8544673"/>
          </a:xfrm>
        </p:grpSpPr>
        <p:sp>
          <p:nvSpPr>
            <p:cNvPr id="7" name="Freeform 7" descr="preencoded.png"/>
            <p:cNvSpPr/>
            <p:nvPr/>
          </p:nvSpPr>
          <p:spPr>
            <a:xfrm>
              <a:off x="0" y="0"/>
              <a:ext cx="6061710" cy="8544687"/>
            </a:xfrm>
            <a:custGeom>
              <a:avLst/>
              <a:gdLst/>
              <a:ahLst/>
              <a:cxnLst/>
              <a:rect l="l" t="t" r="r" b="b"/>
              <a:pathLst>
                <a:path w="6061710" h="8544687">
                  <a:moveTo>
                    <a:pt x="0" y="0"/>
                  </a:moveTo>
                  <a:lnTo>
                    <a:pt x="6061710" y="0"/>
                  </a:lnTo>
                  <a:lnTo>
                    <a:pt x="6061710" y="8544687"/>
                  </a:lnTo>
                  <a:lnTo>
                    <a:pt x="0" y="8544687"/>
                  </a:lnTo>
                  <a:lnTo>
                    <a:pt x="0" y="0"/>
                  </a:lnTo>
                  <a:close/>
                </a:path>
              </a:pathLst>
            </a:custGeom>
            <a:blipFill>
              <a:blip r:embed="rId2"/>
              <a:stretch>
                <a:fillRect t="-3206" b="-3206"/>
              </a:stretch>
            </a:blipFill>
          </p:spPr>
        </p:sp>
      </p:grpSp>
      <p:sp>
        <p:nvSpPr>
          <p:cNvPr id="8" name="TextBox 8"/>
          <p:cNvSpPr txBox="1"/>
          <p:nvPr/>
        </p:nvSpPr>
        <p:spPr>
          <a:xfrm>
            <a:off x="838122" y="732903"/>
            <a:ext cx="9445526" cy="1800522"/>
          </a:xfrm>
          <a:prstGeom prst="rect">
            <a:avLst/>
          </a:prstGeom>
        </p:spPr>
        <p:txBody>
          <a:bodyPr lIns="0" tIns="0" rIns="0" bIns="0" rtlCol="0" anchor="t">
            <a:spAutoFit/>
          </a:bodyPr>
          <a:lstStyle/>
          <a:p>
            <a:pPr algn="l">
              <a:lnSpc>
                <a:spcPts val="6937"/>
              </a:lnSpc>
            </a:pPr>
            <a:r>
              <a:rPr lang="en-US" sz="5562" b="1" dirty="0">
                <a:solidFill>
                  <a:srgbClr val="000000"/>
                </a:solidFill>
                <a:latin typeface="Inter Bold"/>
                <a:ea typeface="Inter Bold"/>
                <a:cs typeface="Inter Bold"/>
                <a:sym typeface="Inter Bold"/>
              </a:rPr>
              <a:t>Unlocking the Interconnection Queue</a:t>
            </a:r>
          </a:p>
        </p:txBody>
      </p:sp>
      <p:sp>
        <p:nvSpPr>
          <p:cNvPr id="9" name="TextBox 9"/>
          <p:cNvSpPr txBox="1"/>
          <p:nvPr/>
        </p:nvSpPr>
        <p:spPr>
          <a:xfrm>
            <a:off x="838122" y="2485923"/>
            <a:ext cx="8039100" cy="873894"/>
          </a:xfrm>
          <a:prstGeom prst="rect">
            <a:avLst/>
          </a:prstGeom>
        </p:spPr>
        <p:txBody>
          <a:bodyPr wrap="square" lIns="0" tIns="0" rIns="0" bIns="0" rtlCol="0" anchor="t">
            <a:spAutoFit/>
          </a:bodyPr>
          <a:lstStyle/>
          <a:p>
            <a:pPr algn="l">
              <a:lnSpc>
                <a:spcPts val="3562"/>
              </a:lnSpc>
            </a:pPr>
            <a:r>
              <a:rPr lang="en-US" sz="2187" dirty="0">
                <a:solidFill>
                  <a:srgbClr val="272525"/>
                </a:solidFill>
                <a:latin typeface="Inter"/>
                <a:ea typeface="Inter"/>
                <a:cs typeface="Inter"/>
                <a:sym typeface="Inter"/>
              </a:rPr>
              <a:t>Leveraging AI, LLMs, RAG &amp; Agents to </a:t>
            </a:r>
          </a:p>
          <a:p>
            <a:pPr algn="l">
              <a:lnSpc>
                <a:spcPts val="3562"/>
              </a:lnSpc>
            </a:pPr>
            <a:r>
              <a:rPr lang="en-US" sz="2187" dirty="0">
                <a:solidFill>
                  <a:srgbClr val="272525"/>
                </a:solidFill>
                <a:latin typeface="Inter"/>
                <a:ea typeface="Inter"/>
                <a:cs typeface="Inter"/>
                <a:sym typeface="Inter"/>
              </a:rPr>
              <a:t>Transform Grid </a:t>
            </a:r>
            <a:r>
              <a:rPr lang="en-US" sz="2187" dirty="0" err="1">
                <a:solidFill>
                  <a:srgbClr val="272525"/>
                </a:solidFill>
                <a:latin typeface="Inter"/>
                <a:ea typeface="Inter"/>
                <a:cs typeface="Inter"/>
                <a:sym typeface="Inter"/>
              </a:rPr>
              <a:t>Modernisation</a:t>
            </a:r>
            <a:endParaRPr lang="en-US" sz="2187" dirty="0">
              <a:solidFill>
                <a:srgbClr val="272525"/>
              </a:solidFill>
              <a:latin typeface="Inter"/>
              <a:ea typeface="Inter"/>
              <a:cs typeface="Inter"/>
              <a:sym typeface="Inter"/>
            </a:endParaRPr>
          </a:p>
        </p:txBody>
      </p:sp>
      <p:pic>
        <p:nvPicPr>
          <p:cNvPr id="17" name="Picture 16" descr="A diagram of a diagram">
            <a:extLst>
              <a:ext uri="{FF2B5EF4-FFF2-40B4-BE49-F238E27FC236}">
                <a16:creationId xmlns:a16="http://schemas.microsoft.com/office/drawing/2014/main" id="{5671E7CB-97A9-BC2C-E34D-8865DA02C3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7800" y="190500"/>
            <a:ext cx="8953500" cy="9982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881360" y="876597"/>
            <a:ext cx="10302628" cy="815579"/>
          </a:xfrm>
          <a:prstGeom prst="rect">
            <a:avLst/>
          </a:prstGeom>
        </p:spPr>
        <p:txBody>
          <a:bodyPr lIns="0" tIns="0" rIns="0" bIns="0" rtlCol="0" anchor="t">
            <a:spAutoFit/>
          </a:bodyPr>
          <a:lstStyle/>
          <a:p>
            <a:pPr algn="l">
              <a:lnSpc>
                <a:spcPts val="6187"/>
              </a:lnSpc>
            </a:pPr>
            <a:r>
              <a:rPr lang="en-US" sz="4937" b="1">
                <a:solidFill>
                  <a:srgbClr val="000000"/>
                </a:solidFill>
                <a:latin typeface="Inter Bold"/>
                <a:ea typeface="Inter Bold"/>
                <a:cs typeface="Inter Bold"/>
                <a:sym typeface="Inter Bold"/>
              </a:rPr>
              <a:t>The Interconnection Queue Crisis</a:t>
            </a:r>
          </a:p>
        </p:txBody>
      </p:sp>
      <p:sp>
        <p:nvSpPr>
          <p:cNvPr id="7" name="TextBox 7"/>
          <p:cNvSpPr txBox="1"/>
          <p:nvPr/>
        </p:nvSpPr>
        <p:spPr>
          <a:xfrm>
            <a:off x="896145" y="2478287"/>
            <a:ext cx="3777704" cy="481607"/>
          </a:xfrm>
          <a:prstGeom prst="rect">
            <a:avLst/>
          </a:prstGeom>
        </p:spPr>
        <p:txBody>
          <a:bodyPr lIns="0" tIns="0" rIns="0" bIns="0" rtlCol="0" anchor="t">
            <a:spAutoFit/>
          </a:bodyPr>
          <a:lstStyle/>
          <a:p>
            <a:pPr algn="l">
              <a:lnSpc>
                <a:spcPts val="3687"/>
              </a:lnSpc>
            </a:pPr>
            <a:r>
              <a:rPr lang="en-US" sz="2937" b="1" dirty="0">
                <a:solidFill>
                  <a:srgbClr val="000000"/>
                </a:solidFill>
                <a:latin typeface="Inter Bold"/>
                <a:ea typeface="Inter Bold"/>
                <a:cs typeface="Inter Bold"/>
                <a:sym typeface="Inter Bold"/>
              </a:rPr>
              <a:t>The Challenge</a:t>
            </a:r>
          </a:p>
        </p:txBody>
      </p:sp>
      <p:sp>
        <p:nvSpPr>
          <p:cNvPr id="8" name="TextBox 8"/>
          <p:cNvSpPr txBox="1"/>
          <p:nvPr/>
        </p:nvSpPr>
        <p:spPr>
          <a:xfrm>
            <a:off x="881360" y="2959894"/>
            <a:ext cx="7955459" cy="4770537"/>
          </a:xfrm>
          <a:prstGeom prst="rect">
            <a:avLst/>
          </a:prstGeom>
        </p:spPr>
        <p:txBody>
          <a:bodyPr lIns="0" tIns="0" rIns="0" bIns="0" rtlCol="0" anchor="t">
            <a:spAutoFit/>
          </a:bodyPr>
          <a:lstStyle/>
          <a:p>
            <a:pPr>
              <a:lnSpc>
                <a:spcPts val="3125"/>
              </a:lnSpc>
            </a:pPr>
            <a:r>
              <a:rPr lang="en-US" sz="2800" dirty="0">
                <a:solidFill>
                  <a:srgbClr val="272525"/>
                </a:solidFill>
                <a:latin typeface="Inter"/>
                <a:ea typeface="Inter"/>
                <a:cs typeface="Inter"/>
                <a:sym typeface="Inter"/>
              </a:rPr>
              <a:t>Over 6 terawatts of renewable energy projects—enough to power 145 million customers—are trapped in interconnection queues across the grid. The median wait time has ballooned to five years from initial request to operation.</a:t>
            </a:r>
          </a:p>
          <a:p>
            <a:pPr>
              <a:lnSpc>
                <a:spcPts val="3125"/>
              </a:lnSpc>
            </a:pPr>
            <a:endParaRPr lang="en-US" sz="2800" dirty="0">
              <a:solidFill>
                <a:srgbClr val="272525"/>
              </a:solidFill>
              <a:latin typeface="Inter"/>
              <a:ea typeface="Inter"/>
              <a:cs typeface="Inter"/>
              <a:sym typeface="Inter"/>
            </a:endParaRPr>
          </a:p>
          <a:p>
            <a:pPr>
              <a:lnSpc>
                <a:spcPts val="3125"/>
              </a:lnSpc>
            </a:pPr>
            <a:r>
              <a:rPr lang="en-US" sz="2800" dirty="0">
                <a:solidFill>
                  <a:srgbClr val="272525"/>
                </a:solidFill>
                <a:latin typeface="Inter"/>
                <a:ea typeface="Inter"/>
                <a:cs typeface="Inter"/>
                <a:sym typeface="Inter"/>
              </a:rPr>
              <a:t>This bottleneck involves complex approval processes with manual reviews, lengthy technical studies for grid impact evaluation, and administrative procedures that can't keep pace with demand.</a:t>
            </a:r>
          </a:p>
        </p:txBody>
      </p:sp>
      <p:sp>
        <p:nvSpPr>
          <p:cNvPr id="10" name="TextBox 10"/>
          <p:cNvSpPr txBox="1"/>
          <p:nvPr/>
        </p:nvSpPr>
        <p:spPr>
          <a:xfrm>
            <a:off x="9460706" y="2312194"/>
            <a:ext cx="3777704" cy="481607"/>
          </a:xfrm>
          <a:prstGeom prst="rect">
            <a:avLst/>
          </a:prstGeom>
        </p:spPr>
        <p:txBody>
          <a:bodyPr lIns="0" tIns="0" rIns="0" bIns="0" rtlCol="0" anchor="t">
            <a:spAutoFit/>
          </a:bodyPr>
          <a:lstStyle/>
          <a:p>
            <a:pPr algn="l">
              <a:lnSpc>
                <a:spcPts val="3687"/>
              </a:lnSpc>
            </a:pPr>
            <a:r>
              <a:rPr lang="en-US" sz="2937" b="1">
                <a:solidFill>
                  <a:srgbClr val="000000"/>
                </a:solidFill>
                <a:latin typeface="Inter Bold"/>
                <a:ea typeface="Inter Bold"/>
                <a:cs typeface="Inter Bold"/>
                <a:sym typeface="Inter Bold"/>
              </a:rPr>
              <a:t>Critical Impact</a:t>
            </a:r>
          </a:p>
        </p:txBody>
      </p:sp>
      <p:grpSp>
        <p:nvGrpSpPr>
          <p:cNvPr id="11" name="Group 11"/>
          <p:cNvGrpSpPr/>
          <p:nvPr/>
        </p:nvGrpSpPr>
        <p:grpSpPr>
          <a:xfrm>
            <a:off x="9455944" y="3072259"/>
            <a:ext cx="7964984" cy="1983135"/>
            <a:chOff x="0" y="0"/>
            <a:chExt cx="10619978" cy="2644180"/>
          </a:xfrm>
        </p:grpSpPr>
        <p:sp>
          <p:nvSpPr>
            <p:cNvPr id="12" name="Freeform 12"/>
            <p:cNvSpPr/>
            <p:nvPr/>
          </p:nvSpPr>
          <p:spPr>
            <a:xfrm>
              <a:off x="6350" y="6350"/>
              <a:ext cx="10607294" cy="2631567"/>
            </a:xfrm>
            <a:custGeom>
              <a:avLst/>
              <a:gdLst/>
              <a:ahLst/>
              <a:cxnLst/>
              <a:rect l="l" t="t" r="r" b="b"/>
              <a:pathLst>
                <a:path w="10607294" h="2631567">
                  <a:moveTo>
                    <a:pt x="0" y="141097"/>
                  </a:moveTo>
                  <a:cubicBezTo>
                    <a:pt x="0" y="63119"/>
                    <a:pt x="63373" y="0"/>
                    <a:pt x="141605" y="0"/>
                  </a:cubicBezTo>
                  <a:lnTo>
                    <a:pt x="10465689" y="0"/>
                  </a:lnTo>
                  <a:cubicBezTo>
                    <a:pt x="10543921" y="0"/>
                    <a:pt x="10607294" y="63119"/>
                    <a:pt x="10607294" y="141097"/>
                  </a:cubicBezTo>
                  <a:lnTo>
                    <a:pt x="10607294" y="2490470"/>
                  </a:lnTo>
                  <a:cubicBezTo>
                    <a:pt x="10607294" y="2568321"/>
                    <a:pt x="10543921" y="2631567"/>
                    <a:pt x="10465689" y="2631567"/>
                  </a:cubicBezTo>
                  <a:lnTo>
                    <a:pt x="141605" y="2631567"/>
                  </a:lnTo>
                  <a:cubicBezTo>
                    <a:pt x="63373" y="2631440"/>
                    <a:pt x="0" y="2568321"/>
                    <a:pt x="0" y="2490470"/>
                  </a:cubicBezTo>
                  <a:close/>
                </a:path>
              </a:pathLst>
            </a:custGeom>
            <a:solidFill>
              <a:srgbClr val="DADBF1"/>
            </a:solidFill>
          </p:spPr>
        </p:sp>
        <p:sp>
          <p:nvSpPr>
            <p:cNvPr id="13" name="Freeform 13"/>
            <p:cNvSpPr/>
            <p:nvPr/>
          </p:nvSpPr>
          <p:spPr>
            <a:xfrm>
              <a:off x="0" y="0"/>
              <a:ext cx="10619994" cy="2644267"/>
            </a:xfrm>
            <a:custGeom>
              <a:avLst/>
              <a:gdLst/>
              <a:ahLst/>
              <a:cxnLst/>
              <a:rect l="l" t="t" r="r" b="b"/>
              <a:pathLst>
                <a:path w="10619994" h="2644267">
                  <a:moveTo>
                    <a:pt x="0" y="147447"/>
                  </a:moveTo>
                  <a:cubicBezTo>
                    <a:pt x="0" y="65913"/>
                    <a:pt x="66294" y="0"/>
                    <a:pt x="147955" y="0"/>
                  </a:cubicBezTo>
                  <a:lnTo>
                    <a:pt x="10472039" y="0"/>
                  </a:lnTo>
                  <a:lnTo>
                    <a:pt x="10472039" y="6350"/>
                  </a:lnTo>
                  <a:lnTo>
                    <a:pt x="10472039" y="0"/>
                  </a:lnTo>
                  <a:cubicBezTo>
                    <a:pt x="10553700" y="0"/>
                    <a:pt x="10619994" y="65913"/>
                    <a:pt x="10619994" y="147447"/>
                  </a:cubicBezTo>
                  <a:lnTo>
                    <a:pt x="10613644" y="147447"/>
                  </a:lnTo>
                  <a:lnTo>
                    <a:pt x="10619994" y="147447"/>
                  </a:lnTo>
                  <a:lnTo>
                    <a:pt x="10619994" y="2496820"/>
                  </a:lnTo>
                  <a:lnTo>
                    <a:pt x="10613644" y="2496820"/>
                  </a:lnTo>
                  <a:lnTo>
                    <a:pt x="10619994" y="2496820"/>
                  </a:lnTo>
                  <a:cubicBezTo>
                    <a:pt x="10619994" y="2578227"/>
                    <a:pt x="10553700" y="2644267"/>
                    <a:pt x="10472039" y="2644267"/>
                  </a:cubicBezTo>
                  <a:lnTo>
                    <a:pt x="10472039" y="2637917"/>
                  </a:lnTo>
                  <a:lnTo>
                    <a:pt x="10472039" y="2644267"/>
                  </a:lnTo>
                  <a:lnTo>
                    <a:pt x="147955" y="2644267"/>
                  </a:lnTo>
                  <a:lnTo>
                    <a:pt x="147955" y="2637917"/>
                  </a:lnTo>
                  <a:lnTo>
                    <a:pt x="147955" y="2644267"/>
                  </a:lnTo>
                  <a:cubicBezTo>
                    <a:pt x="66294" y="2644140"/>
                    <a:pt x="0" y="2578227"/>
                    <a:pt x="0" y="2496820"/>
                  </a:cubicBezTo>
                  <a:lnTo>
                    <a:pt x="0" y="147447"/>
                  </a:lnTo>
                  <a:lnTo>
                    <a:pt x="6350" y="147447"/>
                  </a:lnTo>
                  <a:lnTo>
                    <a:pt x="0" y="147447"/>
                  </a:lnTo>
                  <a:moveTo>
                    <a:pt x="12700" y="147447"/>
                  </a:moveTo>
                  <a:lnTo>
                    <a:pt x="12700" y="2496820"/>
                  </a:lnTo>
                  <a:lnTo>
                    <a:pt x="6350" y="2496820"/>
                  </a:lnTo>
                  <a:lnTo>
                    <a:pt x="12700" y="2496820"/>
                  </a:lnTo>
                  <a:cubicBezTo>
                    <a:pt x="12700" y="2571242"/>
                    <a:pt x="73152" y="2631567"/>
                    <a:pt x="147955" y="2631567"/>
                  </a:cubicBezTo>
                  <a:lnTo>
                    <a:pt x="10472039" y="2631567"/>
                  </a:lnTo>
                  <a:cubicBezTo>
                    <a:pt x="10546715" y="2631567"/>
                    <a:pt x="10607294" y="2571242"/>
                    <a:pt x="10607294" y="2496820"/>
                  </a:cubicBezTo>
                  <a:lnTo>
                    <a:pt x="10607294" y="147447"/>
                  </a:lnTo>
                  <a:cubicBezTo>
                    <a:pt x="10607294" y="73025"/>
                    <a:pt x="10546715" y="12700"/>
                    <a:pt x="10472039" y="12700"/>
                  </a:cubicBezTo>
                  <a:lnTo>
                    <a:pt x="147955" y="12700"/>
                  </a:lnTo>
                  <a:lnTo>
                    <a:pt x="147955" y="6350"/>
                  </a:lnTo>
                  <a:lnTo>
                    <a:pt x="147955" y="12700"/>
                  </a:lnTo>
                  <a:cubicBezTo>
                    <a:pt x="73152" y="12700"/>
                    <a:pt x="12700" y="73025"/>
                    <a:pt x="12700" y="147447"/>
                  </a:cubicBezTo>
                  <a:close/>
                </a:path>
              </a:pathLst>
            </a:custGeom>
            <a:solidFill>
              <a:srgbClr val="C0C1D7"/>
            </a:solidFill>
          </p:spPr>
        </p:sp>
      </p:grpSp>
      <p:sp>
        <p:nvSpPr>
          <p:cNvPr id="14" name="TextBox 14"/>
          <p:cNvSpPr txBox="1"/>
          <p:nvPr/>
        </p:nvSpPr>
        <p:spPr>
          <a:xfrm>
            <a:off x="9722049" y="3319314"/>
            <a:ext cx="3148012" cy="412402"/>
          </a:xfrm>
          <a:prstGeom prst="rect">
            <a:avLst/>
          </a:prstGeom>
        </p:spPr>
        <p:txBody>
          <a:bodyPr lIns="0" tIns="0" rIns="0" bIns="0" rtlCol="0" anchor="t">
            <a:spAutoFit/>
          </a:bodyPr>
          <a:lstStyle/>
          <a:p>
            <a:pPr algn="l">
              <a:lnSpc>
                <a:spcPts val="3062"/>
              </a:lnSpc>
            </a:pPr>
            <a:r>
              <a:rPr lang="en-US" sz="2437" b="1">
                <a:solidFill>
                  <a:srgbClr val="000000"/>
                </a:solidFill>
                <a:latin typeface="Inter Bold"/>
                <a:ea typeface="Inter Bold"/>
                <a:cs typeface="Inter Bold"/>
                <a:sym typeface="Inter Bold"/>
              </a:rPr>
              <a:t>💰</a:t>
            </a:r>
            <a:r>
              <a:rPr lang="en-US" sz="2437" b="1">
                <a:solidFill>
                  <a:srgbClr val="272525"/>
                </a:solidFill>
                <a:latin typeface="Inter Bold"/>
                <a:ea typeface="Inter Bold"/>
                <a:cs typeface="Inter Bold"/>
                <a:sym typeface="Inter Bold"/>
              </a:rPr>
              <a:t> Economic Loss</a:t>
            </a:r>
          </a:p>
        </p:txBody>
      </p:sp>
      <p:sp>
        <p:nvSpPr>
          <p:cNvPr id="15" name="TextBox 15"/>
          <p:cNvSpPr txBox="1"/>
          <p:nvPr/>
        </p:nvSpPr>
        <p:spPr>
          <a:xfrm>
            <a:off x="9722049" y="3897809"/>
            <a:ext cx="7432774" cy="891480"/>
          </a:xfrm>
          <a:prstGeom prst="rect">
            <a:avLst/>
          </a:prstGeom>
        </p:spPr>
        <p:txBody>
          <a:bodyPr lIns="0" tIns="0" rIns="0" bIns="0" rtlCol="0" anchor="t">
            <a:spAutoFit/>
          </a:bodyPr>
          <a:lstStyle/>
          <a:p>
            <a:pPr algn="l">
              <a:lnSpc>
                <a:spcPts val="3125"/>
              </a:lnSpc>
            </a:pPr>
            <a:r>
              <a:rPr lang="en-US" sz="1937">
                <a:solidFill>
                  <a:srgbClr val="272525"/>
                </a:solidFill>
                <a:latin typeface="Inter"/>
                <a:ea typeface="Inter"/>
                <a:cs typeface="Inter"/>
                <a:sym typeface="Inter"/>
              </a:rPr>
              <a:t>Delays cost billions in lost investment and stalled infrastructure development</a:t>
            </a:r>
          </a:p>
        </p:txBody>
      </p:sp>
      <p:grpSp>
        <p:nvGrpSpPr>
          <p:cNvPr id="16" name="Group 16"/>
          <p:cNvGrpSpPr/>
          <p:nvPr/>
        </p:nvGrpSpPr>
        <p:grpSpPr>
          <a:xfrm>
            <a:off x="9455944" y="5297686"/>
            <a:ext cx="7964984" cy="1580258"/>
            <a:chOff x="0" y="0"/>
            <a:chExt cx="10619978" cy="2107010"/>
          </a:xfrm>
        </p:grpSpPr>
        <p:sp>
          <p:nvSpPr>
            <p:cNvPr id="17" name="Freeform 17"/>
            <p:cNvSpPr/>
            <p:nvPr/>
          </p:nvSpPr>
          <p:spPr>
            <a:xfrm>
              <a:off x="6350" y="6350"/>
              <a:ext cx="10607294" cy="2094357"/>
            </a:xfrm>
            <a:custGeom>
              <a:avLst/>
              <a:gdLst/>
              <a:ahLst/>
              <a:cxnLst/>
              <a:rect l="l" t="t" r="r" b="b"/>
              <a:pathLst>
                <a:path w="10607294" h="2094357">
                  <a:moveTo>
                    <a:pt x="0" y="140970"/>
                  </a:moveTo>
                  <a:cubicBezTo>
                    <a:pt x="0" y="63119"/>
                    <a:pt x="63500" y="0"/>
                    <a:pt x="141732" y="0"/>
                  </a:cubicBezTo>
                  <a:lnTo>
                    <a:pt x="10465562" y="0"/>
                  </a:lnTo>
                  <a:cubicBezTo>
                    <a:pt x="10543794" y="0"/>
                    <a:pt x="10607294" y="63119"/>
                    <a:pt x="10607294" y="140970"/>
                  </a:cubicBezTo>
                  <a:lnTo>
                    <a:pt x="10607294" y="1953260"/>
                  </a:lnTo>
                  <a:cubicBezTo>
                    <a:pt x="10607294" y="2031111"/>
                    <a:pt x="10543794" y="2094230"/>
                    <a:pt x="10465562" y="2094230"/>
                  </a:cubicBezTo>
                  <a:lnTo>
                    <a:pt x="141732" y="2094230"/>
                  </a:lnTo>
                  <a:cubicBezTo>
                    <a:pt x="63500" y="2094357"/>
                    <a:pt x="0" y="2031111"/>
                    <a:pt x="0" y="1953260"/>
                  </a:cubicBezTo>
                  <a:close/>
                </a:path>
              </a:pathLst>
            </a:custGeom>
            <a:solidFill>
              <a:srgbClr val="DADBF1"/>
            </a:solidFill>
          </p:spPr>
        </p:sp>
        <p:sp>
          <p:nvSpPr>
            <p:cNvPr id="18" name="Freeform 18"/>
            <p:cNvSpPr/>
            <p:nvPr/>
          </p:nvSpPr>
          <p:spPr>
            <a:xfrm>
              <a:off x="0" y="0"/>
              <a:ext cx="10619994" cy="2107057"/>
            </a:xfrm>
            <a:custGeom>
              <a:avLst/>
              <a:gdLst/>
              <a:ahLst/>
              <a:cxnLst/>
              <a:rect l="l" t="t" r="r" b="b"/>
              <a:pathLst>
                <a:path w="10619994" h="2107057">
                  <a:moveTo>
                    <a:pt x="0" y="147320"/>
                  </a:moveTo>
                  <a:cubicBezTo>
                    <a:pt x="0" y="65913"/>
                    <a:pt x="66294" y="0"/>
                    <a:pt x="148082" y="0"/>
                  </a:cubicBezTo>
                  <a:lnTo>
                    <a:pt x="10471912" y="0"/>
                  </a:lnTo>
                  <a:lnTo>
                    <a:pt x="10471912" y="6350"/>
                  </a:lnTo>
                  <a:lnTo>
                    <a:pt x="10471912" y="0"/>
                  </a:lnTo>
                  <a:cubicBezTo>
                    <a:pt x="10553700" y="0"/>
                    <a:pt x="10619994" y="65913"/>
                    <a:pt x="10619994" y="147320"/>
                  </a:cubicBezTo>
                  <a:lnTo>
                    <a:pt x="10613644" y="147320"/>
                  </a:lnTo>
                  <a:lnTo>
                    <a:pt x="10619994" y="147320"/>
                  </a:lnTo>
                  <a:lnTo>
                    <a:pt x="10619994" y="1959610"/>
                  </a:lnTo>
                  <a:lnTo>
                    <a:pt x="10613644" y="1959610"/>
                  </a:lnTo>
                  <a:lnTo>
                    <a:pt x="10619994" y="1959610"/>
                  </a:lnTo>
                  <a:cubicBezTo>
                    <a:pt x="10619994" y="2041017"/>
                    <a:pt x="10553700" y="2106930"/>
                    <a:pt x="10471912" y="2106930"/>
                  </a:cubicBezTo>
                  <a:lnTo>
                    <a:pt x="10471912" y="2100580"/>
                  </a:lnTo>
                  <a:lnTo>
                    <a:pt x="10471912" y="2106930"/>
                  </a:lnTo>
                  <a:lnTo>
                    <a:pt x="148082" y="2106930"/>
                  </a:lnTo>
                  <a:lnTo>
                    <a:pt x="148082" y="2100580"/>
                  </a:lnTo>
                  <a:lnTo>
                    <a:pt x="148082" y="2106930"/>
                  </a:lnTo>
                  <a:cubicBezTo>
                    <a:pt x="66294" y="2107057"/>
                    <a:pt x="0" y="2041017"/>
                    <a:pt x="0" y="1959610"/>
                  </a:cubicBezTo>
                  <a:lnTo>
                    <a:pt x="0" y="147320"/>
                  </a:lnTo>
                  <a:lnTo>
                    <a:pt x="6350" y="147320"/>
                  </a:lnTo>
                  <a:lnTo>
                    <a:pt x="0" y="147320"/>
                  </a:lnTo>
                  <a:moveTo>
                    <a:pt x="12700" y="147320"/>
                  </a:moveTo>
                  <a:lnTo>
                    <a:pt x="12700" y="1959610"/>
                  </a:lnTo>
                  <a:lnTo>
                    <a:pt x="6350" y="1959610"/>
                  </a:lnTo>
                  <a:lnTo>
                    <a:pt x="12700" y="1959610"/>
                  </a:lnTo>
                  <a:cubicBezTo>
                    <a:pt x="12700" y="2033905"/>
                    <a:pt x="73279" y="2094230"/>
                    <a:pt x="148082" y="2094230"/>
                  </a:cubicBezTo>
                  <a:lnTo>
                    <a:pt x="10471912" y="2094230"/>
                  </a:lnTo>
                  <a:cubicBezTo>
                    <a:pt x="10546715" y="2094230"/>
                    <a:pt x="10607294" y="2033905"/>
                    <a:pt x="10607294" y="1959610"/>
                  </a:cubicBezTo>
                  <a:lnTo>
                    <a:pt x="10607294" y="147320"/>
                  </a:lnTo>
                  <a:cubicBezTo>
                    <a:pt x="10607294" y="73025"/>
                    <a:pt x="10546715" y="12700"/>
                    <a:pt x="10471912" y="12700"/>
                  </a:cubicBezTo>
                  <a:lnTo>
                    <a:pt x="148082" y="12700"/>
                  </a:lnTo>
                  <a:lnTo>
                    <a:pt x="148082" y="6350"/>
                  </a:lnTo>
                  <a:lnTo>
                    <a:pt x="148082" y="12700"/>
                  </a:lnTo>
                  <a:cubicBezTo>
                    <a:pt x="73279" y="12700"/>
                    <a:pt x="12700" y="73025"/>
                    <a:pt x="12700" y="147320"/>
                  </a:cubicBezTo>
                  <a:close/>
                </a:path>
              </a:pathLst>
            </a:custGeom>
            <a:solidFill>
              <a:srgbClr val="C0C1D7"/>
            </a:solidFill>
          </p:spPr>
        </p:sp>
      </p:grpSp>
      <p:sp>
        <p:nvSpPr>
          <p:cNvPr id="19" name="TextBox 19"/>
          <p:cNvSpPr txBox="1"/>
          <p:nvPr/>
        </p:nvSpPr>
        <p:spPr>
          <a:xfrm>
            <a:off x="9722049" y="5544741"/>
            <a:ext cx="3148012" cy="412402"/>
          </a:xfrm>
          <a:prstGeom prst="rect">
            <a:avLst/>
          </a:prstGeom>
        </p:spPr>
        <p:txBody>
          <a:bodyPr lIns="0" tIns="0" rIns="0" bIns="0" rtlCol="0" anchor="t">
            <a:spAutoFit/>
          </a:bodyPr>
          <a:lstStyle/>
          <a:p>
            <a:pPr algn="l">
              <a:lnSpc>
                <a:spcPts val="3062"/>
              </a:lnSpc>
            </a:pPr>
            <a:r>
              <a:rPr lang="en-US" sz="2437" b="1">
                <a:solidFill>
                  <a:srgbClr val="000000"/>
                </a:solidFill>
                <a:latin typeface="Inter Bold"/>
                <a:ea typeface="Inter Bold"/>
                <a:cs typeface="Inter Bold"/>
                <a:sym typeface="Inter Bold"/>
              </a:rPr>
              <a:t>🌍</a:t>
            </a:r>
            <a:r>
              <a:rPr lang="en-US" sz="2437" b="1">
                <a:solidFill>
                  <a:srgbClr val="272525"/>
                </a:solidFill>
                <a:latin typeface="Inter Bold"/>
                <a:ea typeface="Inter Bold"/>
                <a:cs typeface="Inter Bold"/>
                <a:sym typeface="Inter Bold"/>
              </a:rPr>
              <a:t> Climate Goals</a:t>
            </a:r>
          </a:p>
        </p:txBody>
      </p:sp>
      <p:sp>
        <p:nvSpPr>
          <p:cNvPr id="20" name="TextBox 20"/>
          <p:cNvSpPr txBox="1"/>
          <p:nvPr/>
        </p:nvSpPr>
        <p:spPr>
          <a:xfrm>
            <a:off x="9722049" y="6123235"/>
            <a:ext cx="7432774" cy="488602"/>
          </a:xfrm>
          <a:prstGeom prst="rect">
            <a:avLst/>
          </a:prstGeom>
        </p:spPr>
        <p:txBody>
          <a:bodyPr lIns="0" tIns="0" rIns="0" bIns="0" rtlCol="0" anchor="t">
            <a:spAutoFit/>
          </a:bodyPr>
          <a:lstStyle/>
          <a:p>
            <a:pPr algn="l">
              <a:lnSpc>
                <a:spcPts val="3125"/>
              </a:lnSpc>
            </a:pPr>
            <a:r>
              <a:rPr lang="en-US" sz="1937">
                <a:solidFill>
                  <a:srgbClr val="272525"/>
                </a:solidFill>
                <a:latin typeface="Inter"/>
                <a:ea typeface="Inter"/>
                <a:cs typeface="Inter"/>
                <a:sym typeface="Inter"/>
              </a:rPr>
              <a:t>Slows clean energy transition and renewable adoption targets</a:t>
            </a:r>
          </a:p>
        </p:txBody>
      </p:sp>
      <p:grpSp>
        <p:nvGrpSpPr>
          <p:cNvPr id="21" name="Group 21"/>
          <p:cNvGrpSpPr/>
          <p:nvPr/>
        </p:nvGrpSpPr>
        <p:grpSpPr>
          <a:xfrm>
            <a:off x="9455944" y="7120235"/>
            <a:ext cx="7964984" cy="1983135"/>
            <a:chOff x="0" y="0"/>
            <a:chExt cx="10619978" cy="2644180"/>
          </a:xfrm>
        </p:grpSpPr>
        <p:sp>
          <p:nvSpPr>
            <p:cNvPr id="22" name="Freeform 22"/>
            <p:cNvSpPr/>
            <p:nvPr/>
          </p:nvSpPr>
          <p:spPr>
            <a:xfrm>
              <a:off x="6350" y="6350"/>
              <a:ext cx="10607294" cy="2631567"/>
            </a:xfrm>
            <a:custGeom>
              <a:avLst/>
              <a:gdLst/>
              <a:ahLst/>
              <a:cxnLst/>
              <a:rect l="l" t="t" r="r" b="b"/>
              <a:pathLst>
                <a:path w="10607294" h="2631567">
                  <a:moveTo>
                    <a:pt x="0" y="141097"/>
                  </a:moveTo>
                  <a:cubicBezTo>
                    <a:pt x="0" y="63119"/>
                    <a:pt x="63373" y="0"/>
                    <a:pt x="141605" y="0"/>
                  </a:cubicBezTo>
                  <a:lnTo>
                    <a:pt x="10465689" y="0"/>
                  </a:lnTo>
                  <a:cubicBezTo>
                    <a:pt x="10543921" y="0"/>
                    <a:pt x="10607294" y="63119"/>
                    <a:pt x="10607294" y="141097"/>
                  </a:cubicBezTo>
                  <a:lnTo>
                    <a:pt x="10607294" y="2490470"/>
                  </a:lnTo>
                  <a:cubicBezTo>
                    <a:pt x="10607294" y="2568321"/>
                    <a:pt x="10543921" y="2631567"/>
                    <a:pt x="10465689" y="2631567"/>
                  </a:cubicBezTo>
                  <a:lnTo>
                    <a:pt x="141605" y="2631567"/>
                  </a:lnTo>
                  <a:cubicBezTo>
                    <a:pt x="63373" y="2631440"/>
                    <a:pt x="0" y="2568321"/>
                    <a:pt x="0" y="2490470"/>
                  </a:cubicBezTo>
                  <a:close/>
                </a:path>
              </a:pathLst>
            </a:custGeom>
            <a:solidFill>
              <a:srgbClr val="DADBF1"/>
            </a:solidFill>
          </p:spPr>
        </p:sp>
        <p:sp>
          <p:nvSpPr>
            <p:cNvPr id="23" name="Freeform 23"/>
            <p:cNvSpPr/>
            <p:nvPr/>
          </p:nvSpPr>
          <p:spPr>
            <a:xfrm>
              <a:off x="0" y="0"/>
              <a:ext cx="10619994" cy="2644267"/>
            </a:xfrm>
            <a:custGeom>
              <a:avLst/>
              <a:gdLst/>
              <a:ahLst/>
              <a:cxnLst/>
              <a:rect l="l" t="t" r="r" b="b"/>
              <a:pathLst>
                <a:path w="10619994" h="2644267">
                  <a:moveTo>
                    <a:pt x="0" y="147447"/>
                  </a:moveTo>
                  <a:cubicBezTo>
                    <a:pt x="0" y="65913"/>
                    <a:pt x="66294" y="0"/>
                    <a:pt x="147955" y="0"/>
                  </a:cubicBezTo>
                  <a:lnTo>
                    <a:pt x="10472039" y="0"/>
                  </a:lnTo>
                  <a:lnTo>
                    <a:pt x="10472039" y="6350"/>
                  </a:lnTo>
                  <a:lnTo>
                    <a:pt x="10472039" y="0"/>
                  </a:lnTo>
                  <a:cubicBezTo>
                    <a:pt x="10553700" y="0"/>
                    <a:pt x="10619994" y="65913"/>
                    <a:pt x="10619994" y="147447"/>
                  </a:cubicBezTo>
                  <a:lnTo>
                    <a:pt x="10613644" y="147447"/>
                  </a:lnTo>
                  <a:lnTo>
                    <a:pt x="10619994" y="147447"/>
                  </a:lnTo>
                  <a:lnTo>
                    <a:pt x="10619994" y="2496820"/>
                  </a:lnTo>
                  <a:lnTo>
                    <a:pt x="10613644" y="2496820"/>
                  </a:lnTo>
                  <a:lnTo>
                    <a:pt x="10619994" y="2496820"/>
                  </a:lnTo>
                  <a:cubicBezTo>
                    <a:pt x="10619994" y="2578227"/>
                    <a:pt x="10553700" y="2644267"/>
                    <a:pt x="10472039" y="2644267"/>
                  </a:cubicBezTo>
                  <a:lnTo>
                    <a:pt x="10472039" y="2637917"/>
                  </a:lnTo>
                  <a:lnTo>
                    <a:pt x="10472039" y="2644267"/>
                  </a:lnTo>
                  <a:lnTo>
                    <a:pt x="147955" y="2644267"/>
                  </a:lnTo>
                  <a:lnTo>
                    <a:pt x="147955" y="2637917"/>
                  </a:lnTo>
                  <a:lnTo>
                    <a:pt x="147955" y="2644267"/>
                  </a:lnTo>
                  <a:cubicBezTo>
                    <a:pt x="66294" y="2644140"/>
                    <a:pt x="0" y="2578227"/>
                    <a:pt x="0" y="2496820"/>
                  </a:cubicBezTo>
                  <a:lnTo>
                    <a:pt x="0" y="147447"/>
                  </a:lnTo>
                  <a:lnTo>
                    <a:pt x="6350" y="147447"/>
                  </a:lnTo>
                  <a:lnTo>
                    <a:pt x="0" y="147447"/>
                  </a:lnTo>
                  <a:moveTo>
                    <a:pt x="12700" y="147447"/>
                  </a:moveTo>
                  <a:lnTo>
                    <a:pt x="12700" y="2496820"/>
                  </a:lnTo>
                  <a:lnTo>
                    <a:pt x="6350" y="2496820"/>
                  </a:lnTo>
                  <a:lnTo>
                    <a:pt x="12700" y="2496820"/>
                  </a:lnTo>
                  <a:cubicBezTo>
                    <a:pt x="12700" y="2571242"/>
                    <a:pt x="73152" y="2631567"/>
                    <a:pt x="147955" y="2631567"/>
                  </a:cubicBezTo>
                  <a:lnTo>
                    <a:pt x="10472039" y="2631567"/>
                  </a:lnTo>
                  <a:cubicBezTo>
                    <a:pt x="10546715" y="2631567"/>
                    <a:pt x="10607294" y="2571242"/>
                    <a:pt x="10607294" y="2496820"/>
                  </a:cubicBezTo>
                  <a:lnTo>
                    <a:pt x="10607294" y="147447"/>
                  </a:lnTo>
                  <a:cubicBezTo>
                    <a:pt x="10607294" y="73025"/>
                    <a:pt x="10546715" y="12700"/>
                    <a:pt x="10472039" y="12700"/>
                  </a:cubicBezTo>
                  <a:lnTo>
                    <a:pt x="147955" y="12700"/>
                  </a:lnTo>
                  <a:lnTo>
                    <a:pt x="147955" y="6350"/>
                  </a:lnTo>
                  <a:lnTo>
                    <a:pt x="147955" y="12700"/>
                  </a:lnTo>
                  <a:cubicBezTo>
                    <a:pt x="73152" y="12700"/>
                    <a:pt x="12700" y="73025"/>
                    <a:pt x="12700" y="147447"/>
                  </a:cubicBezTo>
                  <a:close/>
                </a:path>
              </a:pathLst>
            </a:custGeom>
            <a:solidFill>
              <a:srgbClr val="C0C1D7"/>
            </a:solidFill>
          </p:spPr>
        </p:sp>
      </p:grpSp>
      <p:sp>
        <p:nvSpPr>
          <p:cNvPr id="24" name="TextBox 24"/>
          <p:cNvSpPr txBox="1"/>
          <p:nvPr/>
        </p:nvSpPr>
        <p:spPr>
          <a:xfrm>
            <a:off x="9722049" y="7367290"/>
            <a:ext cx="3148012" cy="412402"/>
          </a:xfrm>
          <a:prstGeom prst="rect">
            <a:avLst/>
          </a:prstGeom>
        </p:spPr>
        <p:txBody>
          <a:bodyPr lIns="0" tIns="0" rIns="0" bIns="0" rtlCol="0" anchor="t">
            <a:spAutoFit/>
          </a:bodyPr>
          <a:lstStyle/>
          <a:p>
            <a:pPr algn="l">
              <a:lnSpc>
                <a:spcPts val="3062"/>
              </a:lnSpc>
            </a:pPr>
            <a:r>
              <a:rPr lang="en-US" sz="2437" b="1">
                <a:solidFill>
                  <a:srgbClr val="000000"/>
                </a:solidFill>
                <a:latin typeface="Inter Bold"/>
                <a:ea typeface="Inter Bold"/>
                <a:cs typeface="Inter Bold"/>
                <a:sym typeface="Inter Bold"/>
              </a:rPr>
              <a:t>⚡</a:t>
            </a:r>
            <a:r>
              <a:rPr lang="en-US" sz="2437" b="1">
                <a:solidFill>
                  <a:srgbClr val="272525"/>
                </a:solidFill>
                <a:latin typeface="Inter Bold"/>
                <a:ea typeface="Inter Bold"/>
                <a:cs typeface="Inter Bold"/>
                <a:sym typeface="Inter Bold"/>
              </a:rPr>
              <a:t> Grid Expansion</a:t>
            </a:r>
          </a:p>
        </p:txBody>
      </p:sp>
      <p:sp>
        <p:nvSpPr>
          <p:cNvPr id="25" name="TextBox 25"/>
          <p:cNvSpPr txBox="1"/>
          <p:nvPr/>
        </p:nvSpPr>
        <p:spPr>
          <a:xfrm>
            <a:off x="9722049" y="7945785"/>
            <a:ext cx="7432774" cy="891480"/>
          </a:xfrm>
          <a:prstGeom prst="rect">
            <a:avLst/>
          </a:prstGeom>
        </p:spPr>
        <p:txBody>
          <a:bodyPr lIns="0" tIns="0" rIns="0" bIns="0" rtlCol="0" anchor="t">
            <a:spAutoFit/>
          </a:bodyPr>
          <a:lstStyle/>
          <a:p>
            <a:pPr algn="l">
              <a:lnSpc>
                <a:spcPts val="3125"/>
              </a:lnSpc>
            </a:pPr>
            <a:r>
              <a:rPr lang="en-US" sz="1937">
                <a:solidFill>
                  <a:srgbClr val="272525"/>
                </a:solidFill>
                <a:latin typeface="Inter"/>
                <a:ea typeface="Inter"/>
                <a:cs typeface="Inter"/>
                <a:sym typeface="Inter"/>
              </a:rPr>
              <a:t>Prevents capacity growth for AI data centres and emerging technologies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886271" y="755897"/>
            <a:ext cx="11454854" cy="819894"/>
          </a:xfrm>
          <a:prstGeom prst="rect">
            <a:avLst/>
          </a:prstGeom>
        </p:spPr>
        <p:txBody>
          <a:bodyPr lIns="0" tIns="0" rIns="0" bIns="0" rtlCol="0" anchor="t">
            <a:spAutoFit/>
          </a:bodyPr>
          <a:lstStyle/>
          <a:p>
            <a:pPr algn="l">
              <a:lnSpc>
                <a:spcPts val="6187"/>
              </a:lnSpc>
            </a:pPr>
            <a:r>
              <a:rPr lang="en-US" sz="4937" b="1">
                <a:solidFill>
                  <a:srgbClr val="000000"/>
                </a:solidFill>
                <a:latin typeface="Inter Bold"/>
                <a:ea typeface="Inter Bold"/>
                <a:cs typeface="Inter Bold"/>
                <a:sym typeface="Inter Bold"/>
              </a:rPr>
              <a:t>Existing Solutions &amp; Their Limitations</a:t>
            </a:r>
          </a:p>
        </p:txBody>
      </p:sp>
      <p:sp>
        <p:nvSpPr>
          <p:cNvPr id="7" name="TextBox 7"/>
          <p:cNvSpPr txBox="1"/>
          <p:nvPr/>
        </p:nvSpPr>
        <p:spPr>
          <a:xfrm>
            <a:off x="886271" y="1996529"/>
            <a:ext cx="16515457" cy="368114"/>
          </a:xfrm>
          <a:prstGeom prst="rect">
            <a:avLst/>
          </a:prstGeom>
        </p:spPr>
        <p:txBody>
          <a:bodyPr lIns="0" tIns="0" rIns="0" bIns="0" rtlCol="0" anchor="t">
            <a:spAutoFit/>
          </a:bodyPr>
          <a:lstStyle/>
          <a:p>
            <a:pPr algn="l">
              <a:lnSpc>
                <a:spcPts val="3187"/>
              </a:lnSpc>
            </a:pPr>
            <a:r>
              <a:rPr lang="en-US" sz="2000" dirty="0">
                <a:solidFill>
                  <a:srgbClr val="272525"/>
                </a:solidFill>
                <a:latin typeface="Inter"/>
                <a:ea typeface="Inter"/>
                <a:cs typeface="Inter"/>
                <a:sym typeface="Inter"/>
              </a:rPr>
              <a:t>Traditional approaches to interconnection processing face fundamental constraints that prevent scalability and efficiency.</a:t>
            </a:r>
          </a:p>
        </p:txBody>
      </p:sp>
      <p:grpSp>
        <p:nvGrpSpPr>
          <p:cNvPr id="8" name="Group 8"/>
          <p:cNvGrpSpPr/>
          <p:nvPr/>
        </p:nvGrpSpPr>
        <p:grpSpPr>
          <a:xfrm>
            <a:off x="871984" y="2758082"/>
            <a:ext cx="8159651" cy="3267075"/>
            <a:chOff x="0" y="0"/>
            <a:chExt cx="10879535" cy="4356100"/>
          </a:xfrm>
        </p:grpSpPr>
        <p:sp>
          <p:nvSpPr>
            <p:cNvPr id="9" name="Freeform 9"/>
            <p:cNvSpPr/>
            <p:nvPr/>
          </p:nvSpPr>
          <p:spPr>
            <a:xfrm>
              <a:off x="19050" y="19050"/>
              <a:ext cx="10841355" cy="4318000"/>
            </a:xfrm>
            <a:custGeom>
              <a:avLst/>
              <a:gdLst/>
              <a:ahLst/>
              <a:cxnLst/>
              <a:rect l="l" t="t" r="r" b="b"/>
              <a:pathLst>
                <a:path w="10841355" h="4318000">
                  <a:moveTo>
                    <a:pt x="0" y="141859"/>
                  </a:moveTo>
                  <a:cubicBezTo>
                    <a:pt x="0" y="63500"/>
                    <a:pt x="63881" y="0"/>
                    <a:pt x="142494" y="0"/>
                  </a:cubicBezTo>
                  <a:lnTo>
                    <a:pt x="10698861" y="0"/>
                  </a:lnTo>
                  <a:cubicBezTo>
                    <a:pt x="10777601" y="0"/>
                    <a:pt x="10841355" y="63500"/>
                    <a:pt x="10841355" y="141859"/>
                  </a:cubicBezTo>
                  <a:lnTo>
                    <a:pt x="10841355" y="4176141"/>
                  </a:lnTo>
                  <a:cubicBezTo>
                    <a:pt x="10841355" y="4254500"/>
                    <a:pt x="10777474" y="4318000"/>
                    <a:pt x="10698861" y="4318000"/>
                  </a:cubicBezTo>
                  <a:lnTo>
                    <a:pt x="142494" y="4318000"/>
                  </a:lnTo>
                  <a:cubicBezTo>
                    <a:pt x="63754" y="4318000"/>
                    <a:pt x="0" y="4254500"/>
                    <a:pt x="0" y="4176141"/>
                  </a:cubicBezTo>
                  <a:close/>
                </a:path>
              </a:pathLst>
            </a:custGeom>
            <a:solidFill>
              <a:srgbClr val="FFFFFF"/>
            </a:solidFill>
          </p:spPr>
        </p:sp>
        <p:sp>
          <p:nvSpPr>
            <p:cNvPr id="10" name="Freeform 10"/>
            <p:cNvSpPr/>
            <p:nvPr/>
          </p:nvSpPr>
          <p:spPr>
            <a:xfrm>
              <a:off x="0" y="0"/>
              <a:ext cx="10879455" cy="4356100"/>
            </a:xfrm>
            <a:custGeom>
              <a:avLst/>
              <a:gdLst/>
              <a:ahLst/>
              <a:cxnLst/>
              <a:rect l="l" t="t" r="r" b="b"/>
              <a:pathLst>
                <a:path w="10879455" h="4356100">
                  <a:moveTo>
                    <a:pt x="0" y="160909"/>
                  </a:moveTo>
                  <a:cubicBezTo>
                    <a:pt x="0" y="71882"/>
                    <a:pt x="72390" y="0"/>
                    <a:pt x="161544" y="0"/>
                  </a:cubicBezTo>
                  <a:lnTo>
                    <a:pt x="10717911" y="0"/>
                  </a:lnTo>
                  <a:lnTo>
                    <a:pt x="10717911" y="19050"/>
                  </a:lnTo>
                  <a:lnTo>
                    <a:pt x="10717911" y="0"/>
                  </a:lnTo>
                  <a:cubicBezTo>
                    <a:pt x="10807065" y="0"/>
                    <a:pt x="10879455" y="71882"/>
                    <a:pt x="10879455" y="160909"/>
                  </a:cubicBezTo>
                  <a:lnTo>
                    <a:pt x="10860405" y="160909"/>
                  </a:lnTo>
                  <a:lnTo>
                    <a:pt x="10879455" y="160909"/>
                  </a:lnTo>
                  <a:lnTo>
                    <a:pt x="10879455" y="4195191"/>
                  </a:lnTo>
                  <a:lnTo>
                    <a:pt x="10860405" y="4195191"/>
                  </a:lnTo>
                  <a:lnTo>
                    <a:pt x="10879455" y="4195191"/>
                  </a:lnTo>
                  <a:cubicBezTo>
                    <a:pt x="10879455" y="4284091"/>
                    <a:pt x="10807065" y="4356100"/>
                    <a:pt x="10717911" y="4356100"/>
                  </a:cubicBezTo>
                  <a:lnTo>
                    <a:pt x="10717911" y="4337050"/>
                  </a:lnTo>
                  <a:lnTo>
                    <a:pt x="10717911" y="4356100"/>
                  </a:lnTo>
                  <a:lnTo>
                    <a:pt x="161544" y="4356100"/>
                  </a:lnTo>
                  <a:lnTo>
                    <a:pt x="161544" y="4337050"/>
                  </a:lnTo>
                  <a:lnTo>
                    <a:pt x="161544" y="4356100"/>
                  </a:lnTo>
                  <a:cubicBezTo>
                    <a:pt x="72390" y="4356100"/>
                    <a:pt x="0" y="4284218"/>
                    <a:pt x="0" y="4195191"/>
                  </a:cubicBezTo>
                  <a:lnTo>
                    <a:pt x="0" y="160909"/>
                  </a:lnTo>
                  <a:lnTo>
                    <a:pt x="19050" y="160909"/>
                  </a:lnTo>
                  <a:lnTo>
                    <a:pt x="0" y="160909"/>
                  </a:lnTo>
                  <a:moveTo>
                    <a:pt x="38100" y="160909"/>
                  </a:moveTo>
                  <a:lnTo>
                    <a:pt x="38100" y="4195191"/>
                  </a:lnTo>
                  <a:lnTo>
                    <a:pt x="19050" y="4195191"/>
                  </a:lnTo>
                  <a:lnTo>
                    <a:pt x="38100" y="4195191"/>
                  </a:lnTo>
                  <a:cubicBezTo>
                    <a:pt x="38100" y="4262882"/>
                    <a:pt x="93345" y="4318000"/>
                    <a:pt x="161544" y="4318000"/>
                  </a:cubicBezTo>
                  <a:lnTo>
                    <a:pt x="10717911" y="4318000"/>
                  </a:lnTo>
                  <a:cubicBezTo>
                    <a:pt x="10786237" y="4318000"/>
                    <a:pt x="10841355" y="4263009"/>
                    <a:pt x="10841355" y="4195191"/>
                  </a:cubicBezTo>
                  <a:lnTo>
                    <a:pt x="10841355" y="160909"/>
                  </a:lnTo>
                  <a:cubicBezTo>
                    <a:pt x="10841355" y="93218"/>
                    <a:pt x="10786110" y="38100"/>
                    <a:pt x="10717911" y="38100"/>
                  </a:cubicBezTo>
                  <a:lnTo>
                    <a:pt x="161544" y="38100"/>
                  </a:lnTo>
                  <a:lnTo>
                    <a:pt x="161544" y="19050"/>
                  </a:lnTo>
                  <a:lnTo>
                    <a:pt x="161544" y="38100"/>
                  </a:lnTo>
                  <a:cubicBezTo>
                    <a:pt x="93345" y="38100"/>
                    <a:pt x="38100" y="93091"/>
                    <a:pt x="38100" y="160909"/>
                  </a:cubicBezTo>
                  <a:close/>
                </a:path>
              </a:pathLst>
            </a:custGeom>
            <a:solidFill>
              <a:srgbClr val="C0C1D7"/>
            </a:solidFill>
          </p:spPr>
        </p:sp>
      </p:grpSp>
      <p:grpSp>
        <p:nvGrpSpPr>
          <p:cNvPr id="11" name="Group 11"/>
          <p:cNvGrpSpPr/>
          <p:nvPr/>
        </p:nvGrpSpPr>
        <p:grpSpPr>
          <a:xfrm>
            <a:off x="914846" y="2800945"/>
            <a:ext cx="8073926" cy="759767"/>
            <a:chOff x="0" y="0"/>
            <a:chExt cx="10765235" cy="1013023"/>
          </a:xfrm>
        </p:grpSpPr>
        <p:sp>
          <p:nvSpPr>
            <p:cNvPr id="12" name="Freeform 12"/>
            <p:cNvSpPr/>
            <p:nvPr/>
          </p:nvSpPr>
          <p:spPr>
            <a:xfrm>
              <a:off x="0" y="0"/>
              <a:ext cx="10765282" cy="1013079"/>
            </a:xfrm>
            <a:custGeom>
              <a:avLst/>
              <a:gdLst/>
              <a:ahLst/>
              <a:cxnLst/>
              <a:rect l="l" t="t" r="r" b="b"/>
              <a:pathLst>
                <a:path w="10765282" h="1013079">
                  <a:moveTo>
                    <a:pt x="0" y="96139"/>
                  </a:moveTo>
                  <a:cubicBezTo>
                    <a:pt x="0" y="43053"/>
                    <a:pt x="43053" y="0"/>
                    <a:pt x="96139" y="0"/>
                  </a:cubicBezTo>
                  <a:lnTo>
                    <a:pt x="10669143" y="0"/>
                  </a:lnTo>
                  <a:cubicBezTo>
                    <a:pt x="10722229" y="0"/>
                    <a:pt x="10765282" y="43053"/>
                    <a:pt x="10765282" y="96139"/>
                  </a:cubicBezTo>
                  <a:lnTo>
                    <a:pt x="10765282" y="916940"/>
                  </a:lnTo>
                  <a:cubicBezTo>
                    <a:pt x="10765282" y="970026"/>
                    <a:pt x="10722229" y="1013079"/>
                    <a:pt x="10669143" y="1013079"/>
                  </a:cubicBezTo>
                  <a:lnTo>
                    <a:pt x="96139" y="1013079"/>
                  </a:lnTo>
                  <a:cubicBezTo>
                    <a:pt x="43053" y="1013079"/>
                    <a:pt x="0" y="970026"/>
                    <a:pt x="0" y="916940"/>
                  </a:cubicBezTo>
                  <a:close/>
                </a:path>
              </a:pathLst>
            </a:custGeom>
            <a:solidFill>
              <a:srgbClr val="DADBF1"/>
            </a:solidFill>
          </p:spPr>
        </p:sp>
      </p:grpSp>
      <p:sp>
        <p:nvSpPr>
          <p:cNvPr id="13" name="TextBox 13"/>
          <p:cNvSpPr txBox="1"/>
          <p:nvPr/>
        </p:nvSpPr>
        <p:spPr>
          <a:xfrm>
            <a:off x="4761905" y="2995761"/>
            <a:ext cx="379810" cy="417611"/>
          </a:xfrm>
          <a:prstGeom prst="rect">
            <a:avLst/>
          </a:prstGeom>
        </p:spPr>
        <p:txBody>
          <a:bodyPr lIns="0" tIns="0" rIns="0" bIns="0" rtlCol="0" anchor="t">
            <a:spAutoFit/>
          </a:bodyPr>
          <a:lstStyle/>
          <a:p>
            <a:pPr algn="l">
              <a:lnSpc>
                <a:spcPts val="2937"/>
              </a:lnSpc>
            </a:pPr>
            <a:r>
              <a:rPr lang="en-US" sz="2937" b="1">
                <a:solidFill>
                  <a:srgbClr val="272525"/>
                </a:solidFill>
                <a:latin typeface="Inter Bold"/>
                <a:ea typeface="Inter Bold"/>
                <a:cs typeface="Inter Bold"/>
                <a:sym typeface="Inter Bold"/>
              </a:rPr>
              <a:t>1</a:t>
            </a:r>
          </a:p>
        </p:txBody>
      </p:sp>
      <p:sp>
        <p:nvSpPr>
          <p:cNvPr id="14" name="TextBox 14"/>
          <p:cNvSpPr txBox="1"/>
          <p:nvPr/>
        </p:nvSpPr>
        <p:spPr>
          <a:xfrm>
            <a:off x="1168004" y="3794820"/>
            <a:ext cx="3165574" cy="414635"/>
          </a:xfrm>
          <a:prstGeom prst="rect">
            <a:avLst/>
          </a:prstGeom>
        </p:spPr>
        <p:txBody>
          <a:bodyPr lIns="0" tIns="0" rIns="0" bIns="0" rtlCol="0" anchor="t">
            <a:spAutoFit/>
          </a:bodyPr>
          <a:lstStyle/>
          <a:p>
            <a:pPr algn="l">
              <a:lnSpc>
                <a:spcPts val="3062"/>
              </a:lnSpc>
            </a:pPr>
            <a:r>
              <a:rPr lang="en-US" sz="2437" b="1">
                <a:solidFill>
                  <a:srgbClr val="272525"/>
                </a:solidFill>
                <a:latin typeface="Inter Bold"/>
                <a:ea typeface="Inter Bold"/>
                <a:cs typeface="Inter Bold"/>
                <a:sym typeface="Inter Bold"/>
              </a:rPr>
              <a:t>Manual Processing</a:t>
            </a:r>
          </a:p>
        </p:txBody>
      </p:sp>
      <p:sp>
        <p:nvSpPr>
          <p:cNvPr id="15" name="TextBox 15"/>
          <p:cNvSpPr txBox="1"/>
          <p:nvPr/>
        </p:nvSpPr>
        <p:spPr>
          <a:xfrm>
            <a:off x="1168004" y="4275684"/>
            <a:ext cx="7567612" cy="368114"/>
          </a:xfrm>
          <a:prstGeom prst="rect">
            <a:avLst/>
          </a:prstGeom>
        </p:spPr>
        <p:txBody>
          <a:bodyPr lIns="0" tIns="0" rIns="0" bIns="0" rtlCol="0" anchor="t">
            <a:spAutoFit/>
          </a:bodyPr>
          <a:lstStyle/>
          <a:p>
            <a:pPr algn="l">
              <a:lnSpc>
                <a:spcPts val="3187"/>
              </a:lnSpc>
            </a:pPr>
            <a:r>
              <a:rPr lang="en-US" sz="2000" b="1" dirty="0">
                <a:solidFill>
                  <a:srgbClr val="272525"/>
                </a:solidFill>
                <a:latin typeface="Inter Bold"/>
                <a:ea typeface="Inter Bold"/>
                <a:cs typeface="Inter Bold"/>
                <a:sym typeface="Inter Bold"/>
              </a:rPr>
              <a:t>Approach:</a:t>
            </a:r>
            <a:r>
              <a:rPr lang="en-US" sz="2000" dirty="0">
                <a:solidFill>
                  <a:srgbClr val="272525"/>
                </a:solidFill>
                <a:latin typeface="Inter"/>
                <a:ea typeface="Inter"/>
                <a:cs typeface="Inter"/>
                <a:sym typeface="Inter"/>
              </a:rPr>
              <a:t> Human review of applications and technical studies</a:t>
            </a:r>
          </a:p>
        </p:txBody>
      </p:sp>
      <p:sp>
        <p:nvSpPr>
          <p:cNvPr id="16" name="TextBox 16"/>
          <p:cNvSpPr txBox="1"/>
          <p:nvPr/>
        </p:nvSpPr>
        <p:spPr>
          <a:xfrm>
            <a:off x="1168004" y="4832896"/>
            <a:ext cx="7567612" cy="368114"/>
          </a:xfrm>
          <a:prstGeom prst="rect">
            <a:avLst/>
          </a:prstGeom>
        </p:spPr>
        <p:txBody>
          <a:bodyPr lIns="0" tIns="0" rIns="0" bIns="0" rtlCol="0" anchor="t">
            <a:spAutoFit/>
          </a:bodyPr>
          <a:lstStyle/>
          <a:p>
            <a:pPr algn="l">
              <a:lnSpc>
                <a:spcPts val="3187"/>
              </a:lnSpc>
            </a:pPr>
            <a:r>
              <a:rPr lang="en-US" sz="2000" b="1" dirty="0">
                <a:solidFill>
                  <a:srgbClr val="272525"/>
                </a:solidFill>
                <a:latin typeface="Inter Bold"/>
                <a:ea typeface="Inter Bold"/>
                <a:cs typeface="Inter Bold"/>
                <a:sym typeface="Inter Bold"/>
              </a:rPr>
              <a:t>Limitation:</a:t>
            </a:r>
            <a:r>
              <a:rPr lang="en-US" sz="2000" dirty="0">
                <a:solidFill>
                  <a:srgbClr val="272525"/>
                </a:solidFill>
                <a:latin typeface="Inter"/>
                <a:ea typeface="Inter"/>
                <a:cs typeface="Inter"/>
                <a:sym typeface="Inter"/>
              </a:rPr>
              <a:t> Slow, error-prone, and inconsistent across projects</a:t>
            </a:r>
          </a:p>
        </p:txBody>
      </p:sp>
      <p:grpSp>
        <p:nvGrpSpPr>
          <p:cNvPr id="17" name="Group 17"/>
          <p:cNvGrpSpPr/>
          <p:nvPr/>
        </p:nvGrpSpPr>
        <p:grpSpPr>
          <a:xfrm>
            <a:off x="9256216" y="2758082"/>
            <a:ext cx="8159800" cy="3267075"/>
            <a:chOff x="0" y="0"/>
            <a:chExt cx="10879733" cy="4356100"/>
          </a:xfrm>
        </p:grpSpPr>
        <p:sp>
          <p:nvSpPr>
            <p:cNvPr id="18" name="Freeform 18"/>
            <p:cNvSpPr/>
            <p:nvPr/>
          </p:nvSpPr>
          <p:spPr>
            <a:xfrm>
              <a:off x="19050" y="19050"/>
              <a:ext cx="10841609" cy="4318000"/>
            </a:xfrm>
            <a:custGeom>
              <a:avLst/>
              <a:gdLst/>
              <a:ahLst/>
              <a:cxnLst/>
              <a:rect l="l" t="t" r="r" b="b"/>
              <a:pathLst>
                <a:path w="10841609" h="4318000">
                  <a:moveTo>
                    <a:pt x="0" y="141859"/>
                  </a:moveTo>
                  <a:cubicBezTo>
                    <a:pt x="0" y="63500"/>
                    <a:pt x="63881" y="0"/>
                    <a:pt x="142494" y="0"/>
                  </a:cubicBezTo>
                  <a:lnTo>
                    <a:pt x="10699115" y="0"/>
                  </a:lnTo>
                  <a:cubicBezTo>
                    <a:pt x="10777855" y="0"/>
                    <a:pt x="10841609" y="63500"/>
                    <a:pt x="10841609" y="141859"/>
                  </a:cubicBezTo>
                  <a:lnTo>
                    <a:pt x="10841609" y="4176141"/>
                  </a:lnTo>
                  <a:cubicBezTo>
                    <a:pt x="10841609" y="4254500"/>
                    <a:pt x="10777728" y="4318000"/>
                    <a:pt x="10699115" y="4318000"/>
                  </a:cubicBezTo>
                  <a:lnTo>
                    <a:pt x="142494" y="4318000"/>
                  </a:lnTo>
                  <a:cubicBezTo>
                    <a:pt x="63754" y="4318000"/>
                    <a:pt x="0" y="4254500"/>
                    <a:pt x="0" y="4176141"/>
                  </a:cubicBezTo>
                  <a:close/>
                </a:path>
              </a:pathLst>
            </a:custGeom>
            <a:solidFill>
              <a:srgbClr val="FFFFFF"/>
            </a:solidFill>
          </p:spPr>
        </p:sp>
        <p:sp>
          <p:nvSpPr>
            <p:cNvPr id="19" name="Freeform 19"/>
            <p:cNvSpPr/>
            <p:nvPr/>
          </p:nvSpPr>
          <p:spPr>
            <a:xfrm>
              <a:off x="0" y="0"/>
              <a:ext cx="10879709" cy="4356100"/>
            </a:xfrm>
            <a:custGeom>
              <a:avLst/>
              <a:gdLst/>
              <a:ahLst/>
              <a:cxnLst/>
              <a:rect l="l" t="t" r="r" b="b"/>
              <a:pathLst>
                <a:path w="10879709" h="4356100">
                  <a:moveTo>
                    <a:pt x="0" y="160909"/>
                  </a:moveTo>
                  <a:cubicBezTo>
                    <a:pt x="0" y="71882"/>
                    <a:pt x="72390" y="0"/>
                    <a:pt x="161544" y="0"/>
                  </a:cubicBezTo>
                  <a:lnTo>
                    <a:pt x="10718165" y="0"/>
                  </a:lnTo>
                  <a:lnTo>
                    <a:pt x="10718165" y="19050"/>
                  </a:lnTo>
                  <a:lnTo>
                    <a:pt x="10718165" y="0"/>
                  </a:lnTo>
                  <a:cubicBezTo>
                    <a:pt x="10807319" y="0"/>
                    <a:pt x="10879709" y="71882"/>
                    <a:pt x="10879709" y="160909"/>
                  </a:cubicBezTo>
                  <a:lnTo>
                    <a:pt x="10860659" y="160909"/>
                  </a:lnTo>
                  <a:lnTo>
                    <a:pt x="10879709" y="160909"/>
                  </a:lnTo>
                  <a:lnTo>
                    <a:pt x="10879709" y="4195191"/>
                  </a:lnTo>
                  <a:lnTo>
                    <a:pt x="10860659" y="4195191"/>
                  </a:lnTo>
                  <a:lnTo>
                    <a:pt x="10879709" y="4195191"/>
                  </a:lnTo>
                  <a:cubicBezTo>
                    <a:pt x="10879709" y="4284091"/>
                    <a:pt x="10807319" y="4356100"/>
                    <a:pt x="10718165" y="4356100"/>
                  </a:cubicBezTo>
                  <a:lnTo>
                    <a:pt x="10718165" y="4337050"/>
                  </a:lnTo>
                  <a:lnTo>
                    <a:pt x="10718165" y="4356100"/>
                  </a:lnTo>
                  <a:lnTo>
                    <a:pt x="161544" y="4356100"/>
                  </a:lnTo>
                  <a:lnTo>
                    <a:pt x="161544" y="4337050"/>
                  </a:lnTo>
                  <a:lnTo>
                    <a:pt x="161544" y="4356100"/>
                  </a:lnTo>
                  <a:cubicBezTo>
                    <a:pt x="72390" y="4356100"/>
                    <a:pt x="0" y="4284218"/>
                    <a:pt x="0" y="4195191"/>
                  </a:cubicBezTo>
                  <a:lnTo>
                    <a:pt x="0" y="160909"/>
                  </a:lnTo>
                  <a:lnTo>
                    <a:pt x="19050" y="160909"/>
                  </a:lnTo>
                  <a:lnTo>
                    <a:pt x="0" y="160909"/>
                  </a:lnTo>
                  <a:moveTo>
                    <a:pt x="38100" y="160909"/>
                  </a:moveTo>
                  <a:lnTo>
                    <a:pt x="38100" y="4195191"/>
                  </a:lnTo>
                  <a:lnTo>
                    <a:pt x="19050" y="4195191"/>
                  </a:lnTo>
                  <a:lnTo>
                    <a:pt x="38100" y="4195191"/>
                  </a:lnTo>
                  <a:cubicBezTo>
                    <a:pt x="38100" y="4262882"/>
                    <a:pt x="93345" y="4318000"/>
                    <a:pt x="161544" y="4318000"/>
                  </a:cubicBezTo>
                  <a:lnTo>
                    <a:pt x="10718165" y="4318000"/>
                  </a:lnTo>
                  <a:cubicBezTo>
                    <a:pt x="10786491" y="4318000"/>
                    <a:pt x="10841609" y="4263009"/>
                    <a:pt x="10841609" y="4195191"/>
                  </a:cubicBezTo>
                  <a:lnTo>
                    <a:pt x="10841609" y="160909"/>
                  </a:lnTo>
                  <a:cubicBezTo>
                    <a:pt x="10841609" y="93218"/>
                    <a:pt x="10786364" y="38100"/>
                    <a:pt x="10718165" y="38100"/>
                  </a:cubicBezTo>
                  <a:lnTo>
                    <a:pt x="161544" y="38100"/>
                  </a:lnTo>
                  <a:lnTo>
                    <a:pt x="161544" y="19050"/>
                  </a:lnTo>
                  <a:lnTo>
                    <a:pt x="161544" y="38100"/>
                  </a:lnTo>
                  <a:cubicBezTo>
                    <a:pt x="93345" y="38100"/>
                    <a:pt x="38100" y="93091"/>
                    <a:pt x="38100" y="160909"/>
                  </a:cubicBezTo>
                  <a:close/>
                </a:path>
              </a:pathLst>
            </a:custGeom>
            <a:solidFill>
              <a:srgbClr val="C0C1D7"/>
            </a:solidFill>
          </p:spPr>
        </p:sp>
      </p:grpSp>
      <p:grpSp>
        <p:nvGrpSpPr>
          <p:cNvPr id="20" name="Group 20"/>
          <p:cNvGrpSpPr/>
          <p:nvPr/>
        </p:nvGrpSpPr>
        <p:grpSpPr>
          <a:xfrm>
            <a:off x="9299079" y="2800945"/>
            <a:ext cx="8074075" cy="759767"/>
            <a:chOff x="0" y="0"/>
            <a:chExt cx="10765433" cy="1013023"/>
          </a:xfrm>
        </p:grpSpPr>
        <p:sp>
          <p:nvSpPr>
            <p:cNvPr id="21" name="Freeform 21"/>
            <p:cNvSpPr/>
            <p:nvPr/>
          </p:nvSpPr>
          <p:spPr>
            <a:xfrm>
              <a:off x="0" y="0"/>
              <a:ext cx="10765409" cy="1013079"/>
            </a:xfrm>
            <a:custGeom>
              <a:avLst/>
              <a:gdLst/>
              <a:ahLst/>
              <a:cxnLst/>
              <a:rect l="l" t="t" r="r" b="b"/>
              <a:pathLst>
                <a:path w="10765409" h="1013079">
                  <a:moveTo>
                    <a:pt x="0" y="96139"/>
                  </a:moveTo>
                  <a:cubicBezTo>
                    <a:pt x="0" y="43053"/>
                    <a:pt x="43053" y="0"/>
                    <a:pt x="96139" y="0"/>
                  </a:cubicBezTo>
                  <a:lnTo>
                    <a:pt x="10669270" y="0"/>
                  </a:lnTo>
                  <a:cubicBezTo>
                    <a:pt x="10722356" y="0"/>
                    <a:pt x="10765409" y="43053"/>
                    <a:pt x="10765409" y="96139"/>
                  </a:cubicBezTo>
                  <a:lnTo>
                    <a:pt x="10765409" y="916940"/>
                  </a:lnTo>
                  <a:cubicBezTo>
                    <a:pt x="10765409" y="970026"/>
                    <a:pt x="10722356" y="1013079"/>
                    <a:pt x="10669270" y="1013079"/>
                  </a:cubicBezTo>
                  <a:lnTo>
                    <a:pt x="96139" y="1013079"/>
                  </a:lnTo>
                  <a:cubicBezTo>
                    <a:pt x="43053" y="1013079"/>
                    <a:pt x="0" y="970026"/>
                    <a:pt x="0" y="916940"/>
                  </a:cubicBezTo>
                  <a:close/>
                </a:path>
              </a:pathLst>
            </a:custGeom>
            <a:solidFill>
              <a:srgbClr val="DADBF1"/>
            </a:solidFill>
          </p:spPr>
        </p:sp>
      </p:grpSp>
      <p:sp>
        <p:nvSpPr>
          <p:cNvPr id="22" name="TextBox 22"/>
          <p:cNvSpPr txBox="1"/>
          <p:nvPr/>
        </p:nvSpPr>
        <p:spPr>
          <a:xfrm>
            <a:off x="13146137" y="2995761"/>
            <a:ext cx="379810" cy="417611"/>
          </a:xfrm>
          <a:prstGeom prst="rect">
            <a:avLst/>
          </a:prstGeom>
        </p:spPr>
        <p:txBody>
          <a:bodyPr lIns="0" tIns="0" rIns="0" bIns="0" rtlCol="0" anchor="t">
            <a:spAutoFit/>
          </a:bodyPr>
          <a:lstStyle/>
          <a:p>
            <a:pPr algn="l">
              <a:lnSpc>
                <a:spcPts val="2937"/>
              </a:lnSpc>
            </a:pPr>
            <a:r>
              <a:rPr lang="en-US" sz="2937" b="1">
                <a:solidFill>
                  <a:srgbClr val="272525"/>
                </a:solidFill>
                <a:latin typeface="Inter Bold"/>
                <a:ea typeface="Inter Bold"/>
                <a:cs typeface="Inter Bold"/>
                <a:sym typeface="Inter Bold"/>
              </a:rPr>
              <a:t>2</a:t>
            </a:r>
          </a:p>
        </p:txBody>
      </p:sp>
      <p:sp>
        <p:nvSpPr>
          <p:cNvPr id="23" name="TextBox 23"/>
          <p:cNvSpPr txBox="1"/>
          <p:nvPr/>
        </p:nvSpPr>
        <p:spPr>
          <a:xfrm>
            <a:off x="9552235" y="3794820"/>
            <a:ext cx="3165574" cy="414635"/>
          </a:xfrm>
          <a:prstGeom prst="rect">
            <a:avLst/>
          </a:prstGeom>
        </p:spPr>
        <p:txBody>
          <a:bodyPr lIns="0" tIns="0" rIns="0" bIns="0" rtlCol="0" anchor="t">
            <a:spAutoFit/>
          </a:bodyPr>
          <a:lstStyle/>
          <a:p>
            <a:pPr algn="l">
              <a:lnSpc>
                <a:spcPts val="3062"/>
              </a:lnSpc>
            </a:pPr>
            <a:r>
              <a:rPr lang="en-US" sz="2437" b="1">
                <a:solidFill>
                  <a:srgbClr val="272525"/>
                </a:solidFill>
                <a:latin typeface="Inter Bold"/>
                <a:ea typeface="Inter Bold"/>
                <a:cs typeface="Inter Bold"/>
                <a:sym typeface="Inter Bold"/>
              </a:rPr>
              <a:t>Static Grid Models</a:t>
            </a:r>
          </a:p>
        </p:txBody>
      </p:sp>
      <p:sp>
        <p:nvSpPr>
          <p:cNvPr id="24" name="TextBox 24"/>
          <p:cNvSpPr txBox="1"/>
          <p:nvPr/>
        </p:nvSpPr>
        <p:spPr>
          <a:xfrm>
            <a:off x="9552235" y="4275684"/>
            <a:ext cx="7567761" cy="368114"/>
          </a:xfrm>
          <a:prstGeom prst="rect">
            <a:avLst/>
          </a:prstGeom>
        </p:spPr>
        <p:txBody>
          <a:bodyPr lIns="0" tIns="0" rIns="0" bIns="0" rtlCol="0" anchor="t">
            <a:spAutoFit/>
          </a:bodyPr>
          <a:lstStyle/>
          <a:p>
            <a:pPr algn="l">
              <a:lnSpc>
                <a:spcPts val="3187"/>
              </a:lnSpc>
            </a:pPr>
            <a:r>
              <a:rPr lang="en-US" sz="2000" b="1" dirty="0">
                <a:solidFill>
                  <a:srgbClr val="272525"/>
                </a:solidFill>
                <a:latin typeface="Inter Bold"/>
                <a:ea typeface="Inter Bold"/>
                <a:cs typeface="Inter Bold"/>
                <a:sym typeface="Inter Bold"/>
              </a:rPr>
              <a:t>Approach:</a:t>
            </a:r>
            <a:r>
              <a:rPr lang="en-US" sz="2000" dirty="0">
                <a:solidFill>
                  <a:srgbClr val="272525"/>
                </a:solidFill>
                <a:latin typeface="Inter"/>
                <a:ea typeface="Inter"/>
                <a:cs typeface="Inter"/>
                <a:sym typeface="Inter"/>
              </a:rPr>
              <a:t> Fixed capacity ratings and assessments</a:t>
            </a:r>
          </a:p>
        </p:txBody>
      </p:sp>
      <p:sp>
        <p:nvSpPr>
          <p:cNvPr id="25" name="TextBox 25"/>
          <p:cNvSpPr txBox="1"/>
          <p:nvPr/>
        </p:nvSpPr>
        <p:spPr>
          <a:xfrm>
            <a:off x="9552235" y="4832896"/>
            <a:ext cx="7567761" cy="778483"/>
          </a:xfrm>
          <a:prstGeom prst="rect">
            <a:avLst/>
          </a:prstGeom>
        </p:spPr>
        <p:txBody>
          <a:bodyPr lIns="0" tIns="0" rIns="0" bIns="0" rtlCol="0" anchor="t">
            <a:spAutoFit/>
          </a:bodyPr>
          <a:lstStyle/>
          <a:p>
            <a:pPr algn="l">
              <a:lnSpc>
                <a:spcPts val="3187"/>
              </a:lnSpc>
            </a:pPr>
            <a:r>
              <a:rPr lang="en-US" sz="2000" b="1" dirty="0">
                <a:solidFill>
                  <a:srgbClr val="272525"/>
                </a:solidFill>
                <a:latin typeface="Inter Bold"/>
                <a:ea typeface="Inter Bold"/>
                <a:cs typeface="Inter Bold"/>
                <a:sym typeface="Inter Bold"/>
              </a:rPr>
              <a:t>Limitation:</a:t>
            </a:r>
            <a:r>
              <a:rPr lang="en-US" sz="2000" dirty="0">
                <a:solidFill>
                  <a:srgbClr val="272525"/>
                </a:solidFill>
                <a:latin typeface="Inter"/>
                <a:ea typeface="Inter"/>
                <a:cs typeface="Inter"/>
                <a:sym typeface="Inter"/>
              </a:rPr>
              <a:t> Conservative estimates that underutilize actual grid capacity</a:t>
            </a:r>
          </a:p>
        </p:txBody>
      </p:sp>
      <p:grpSp>
        <p:nvGrpSpPr>
          <p:cNvPr id="26" name="Group 26"/>
          <p:cNvGrpSpPr/>
          <p:nvPr/>
        </p:nvGrpSpPr>
        <p:grpSpPr>
          <a:xfrm>
            <a:off x="871984" y="6249740"/>
            <a:ext cx="8159651" cy="3267075"/>
            <a:chOff x="0" y="0"/>
            <a:chExt cx="10879535" cy="4356100"/>
          </a:xfrm>
        </p:grpSpPr>
        <p:sp>
          <p:nvSpPr>
            <p:cNvPr id="27" name="Freeform 27"/>
            <p:cNvSpPr/>
            <p:nvPr/>
          </p:nvSpPr>
          <p:spPr>
            <a:xfrm>
              <a:off x="19050" y="19050"/>
              <a:ext cx="10841355" cy="4318000"/>
            </a:xfrm>
            <a:custGeom>
              <a:avLst/>
              <a:gdLst/>
              <a:ahLst/>
              <a:cxnLst/>
              <a:rect l="l" t="t" r="r" b="b"/>
              <a:pathLst>
                <a:path w="10841355" h="4318000">
                  <a:moveTo>
                    <a:pt x="0" y="141859"/>
                  </a:moveTo>
                  <a:cubicBezTo>
                    <a:pt x="0" y="63500"/>
                    <a:pt x="63881" y="0"/>
                    <a:pt x="142494" y="0"/>
                  </a:cubicBezTo>
                  <a:lnTo>
                    <a:pt x="10698861" y="0"/>
                  </a:lnTo>
                  <a:cubicBezTo>
                    <a:pt x="10777601" y="0"/>
                    <a:pt x="10841355" y="63500"/>
                    <a:pt x="10841355" y="141859"/>
                  </a:cubicBezTo>
                  <a:lnTo>
                    <a:pt x="10841355" y="4176141"/>
                  </a:lnTo>
                  <a:cubicBezTo>
                    <a:pt x="10841355" y="4254500"/>
                    <a:pt x="10777474" y="4318000"/>
                    <a:pt x="10698861" y="4318000"/>
                  </a:cubicBezTo>
                  <a:lnTo>
                    <a:pt x="142494" y="4318000"/>
                  </a:lnTo>
                  <a:cubicBezTo>
                    <a:pt x="63754" y="4318000"/>
                    <a:pt x="0" y="4254500"/>
                    <a:pt x="0" y="4176141"/>
                  </a:cubicBezTo>
                  <a:close/>
                </a:path>
              </a:pathLst>
            </a:custGeom>
            <a:solidFill>
              <a:srgbClr val="FFFFFF"/>
            </a:solidFill>
          </p:spPr>
        </p:sp>
        <p:sp>
          <p:nvSpPr>
            <p:cNvPr id="28" name="Freeform 28"/>
            <p:cNvSpPr/>
            <p:nvPr/>
          </p:nvSpPr>
          <p:spPr>
            <a:xfrm>
              <a:off x="0" y="0"/>
              <a:ext cx="10879455" cy="4356100"/>
            </a:xfrm>
            <a:custGeom>
              <a:avLst/>
              <a:gdLst/>
              <a:ahLst/>
              <a:cxnLst/>
              <a:rect l="l" t="t" r="r" b="b"/>
              <a:pathLst>
                <a:path w="10879455" h="4356100">
                  <a:moveTo>
                    <a:pt x="0" y="160909"/>
                  </a:moveTo>
                  <a:cubicBezTo>
                    <a:pt x="0" y="71882"/>
                    <a:pt x="72390" y="0"/>
                    <a:pt x="161544" y="0"/>
                  </a:cubicBezTo>
                  <a:lnTo>
                    <a:pt x="10717911" y="0"/>
                  </a:lnTo>
                  <a:lnTo>
                    <a:pt x="10717911" y="19050"/>
                  </a:lnTo>
                  <a:lnTo>
                    <a:pt x="10717911" y="0"/>
                  </a:lnTo>
                  <a:cubicBezTo>
                    <a:pt x="10807065" y="0"/>
                    <a:pt x="10879455" y="71882"/>
                    <a:pt x="10879455" y="160909"/>
                  </a:cubicBezTo>
                  <a:lnTo>
                    <a:pt x="10860405" y="160909"/>
                  </a:lnTo>
                  <a:lnTo>
                    <a:pt x="10879455" y="160909"/>
                  </a:lnTo>
                  <a:lnTo>
                    <a:pt x="10879455" y="4195191"/>
                  </a:lnTo>
                  <a:lnTo>
                    <a:pt x="10860405" y="4195191"/>
                  </a:lnTo>
                  <a:lnTo>
                    <a:pt x="10879455" y="4195191"/>
                  </a:lnTo>
                  <a:cubicBezTo>
                    <a:pt x="10879455" y="4284091"/>
                    <a:pt x="10807065" y="4356100"/>
                    <a:pt x="10717911" y="4356100"/>
                  </a:cubicBezTo>
                  <a:lnTo>
                    <a:pt x="10717911" y="4337050"/>
                  </a:lnTo>
                  <a:lnTo>
                    <a:pt x="10717911" y="4356100"/>
                  </a:lnTo>
                  <a:lnTo>
                    <a:pt x="161544" y="4356100"/>
                  </a:lnTo>
                  <a:lnTo>
                    <a:pt x="161544" y="4337050"/>
                  </a:lnTo>
                  <a:lnTo>
                    <a:pt x="161544" y="4356100"/>
                  </a:lnTo>
                  <a:cubicBezTo>
                    <a:pt x="72390" y="4356100"/>
                    <a:pt x="0" y="4284218"/>
                    <a:pt x="0" y="4195191"/>
                  </a:cubicBezTo>
                  <a:lnTo>
                    <a:pt x="0" y="160909"/>
                  </a:lnTo>
                  <a:lnTo>
                    <a:pt x="19050" y="160909"/>
                  </a:lnTo>
                  <a:lnTo>
                    <a:pt x="0" y="160909"/>
                  </a:lnTo>
                  <a:moveTo>
                    <a:pt x="38100" y="160909"/>
                  </a:moveTo>
                  <a:lnTo>
                    <a:pt x="38100" y="4195191"/>
                  </a:lnTo>
                  <a:lnTo>
                    <a:pt x="19050" y="4195191"/>
                  </a:lnTo>
                  <a:lnTo>
                    <a:pt x="38100" y="4195191"/>
                  </a:lnTo>
                  <a:cubicBezTo>
                    <a:pt x="38100" y="4262882"/>
                    <a:pt x="93345" y="4318000"/>
                    <a:pt x="161544" y="4318000"/>
                  </a:cubicBezTo>
                  <a:lnTo>
                    <a:pt x="10717911" y="4318000"/>
                  </a:lnTo>
                  <a:cubicBezTo>
                    <a:pt x="10786237" y="4318000"/>
                    <a:pt x="10841355" y="4263009"/>
                    <a:pt x="10841355" y="4195191"/>
                  </a:cubicBezTo>
                  <a:lnTo>
                    <a:pt x="10841355" y="160909"/>
                  </a:lnTo>
                  <a:cubicBezTo>
                    <a:pt x="10841355" y="93218"/>
                    <a:pt x="10786110" y="38100"/>
                    <a:pt x="10717911" y="38100"/>
                  </a:cubicBezTo>
                  <a:lnTo>
                    <a:pt x="161544" y="38100"/>
                  </a:lnTo>
                  <a:lnTo>
                    <a:pt x="161544" y="19050"/>
                  </a:lnTo>
                  <a:lnTo>
                    <a:pt x="161544" y="38100"/>
                  </a:lnTo>
                  <a:cubicBezTo>
                    <a:pt x="93345" y="38100"/>
                    <a:pt x="38100" y="93091"/>
                    <a:pt x="38100" y="160909"/>
                  </a:cubicBezTo>
                  <a:close/>
                </a:path>
              </a:pathLst>
            </a:custGeom>
            <a:solidFill>
              <a:srgbClr val="C0C1D7"/>
            </a:solidFill>
          </p:spPr>
        </p:sp>
      </p:grpSp>
      <p:grpSp>
        <p:nvGrpSpPr>
          <p:cNvPr id="29" name="Group 29"/>
          <p:cNvGrpSpPr/>
          <p:nvPr/>
        </p:nvGrpSpPr>
        <p:grpSpPr>
          <a:xfrm>
            <a:off x="914846" y="6292602"/>
            <a:ext cx="8073926" cy="759768"/>
            <a:chOff x="0" y="0"/>
            <a:chExt cx="10765235" cy="1013023"/>
          </a:xfrm>
        </p:grpSpPr>
        <p:sp>
          <p:nvSpPr>
            <p:cNvPr id="30" name="Freeform 30"/>
            <p:cNvSpPr/>
            <p:nvPr/>
          </p:nvSpPr>
          <p:spPr>
            <a:xfrm>
              <a:off x="0" y="0"/>
              <a:ext cx="10765282" cy="1013079"/>
            </a:xfrm>
            <a:custGeom>
              <a:avLst/>
              <a:gdLst/>
              <a:ahLst/>
              <a:cxnLst/>
              <a:rect l="l" t="t" r="r" b="b"/>
              <a:pathLst>
                <a:path w="10765282" h="1013079">
                  <a:moveTo>
                    <a:pt x="0" y="96139"/>
                  </a:moveTo>
                  <a:cubicBezTo>
                    <a:pt x="0" y="43053"/>
                    <a:pt x="43053" y="0"/>
                    <a:pt x="96139" y="0"/>
                  </a:cubicBezTo>
                  <a:lnTo>
                    <a:pt x="10669143" y="0"/>
                  </a:lnTo>
                  <a:cubicBezTo>
                    <a:pt x="10722229" y="0"/>
                    <a:pt x="10765282" y="43053"/>
                    <a:pt x="10765282" y="96139"/>
                  </a:cubicBezTo>
                  <a:lnTo>
                    <a:pt x="10765282" y="916940"/>
                  </a:lnTo>
                  <a:cubicBezTo>
                    <a:pt x="10765282" y="970026"/>
                    <a:pt x="10722229" y="1013079"/>
                    <a:pt x="10669143" y="1013079"/>
                  </a:cubicBezTo>
                  <a:lnTo>
                    <a:pt x="96139" y="1013079"/>
                  </a:lnTo>
                  <a:cubicBezTo>
                    <a:pt x="43053" y="1013079"/>
                    <a:pt x="0" y="970026"/>
                    <a:pt x="0" y="916940"/>
                  </a:cubicBezTo>
                  <a:close/>
                </a:path>
              </a:pathLst>
            </a:custGeom>
            <a:solidFill>
              <a:srgbClr val="DADBF1"/>
            </a:solidFill>
          </p:spPr>
        </p:sp>
      </p:grpSp>
      <p:sp>
        <p:nvSpPr>
          <p:cNvPr id="31" name="TextBox 31"/>
          <p:cNvSpPr txBox="1"/>
          <p:nvPr/>
        </p:nvSpPr>
        <p:spPr>
          <a:xfrm>
            <a:off x="4761905" y="6487418"/>
            <a:ext cx="379810" cy="417611"/>
          </a:xfrm>
          <a:prstGeom prst="rect">
            <a:avLst/>
          </a:prstGeom>
        </p:spPr>
        <p:txBody>
          <a:bodyPr lIns="0" tIns="0" rIns="0" bIns="0" rtlCol="0" anchor="t">
            <a:spAutoFit/>
          </a:bodyPr>
          <a:lstStyle/>
          <a:p>
            <a:pPr algn="l">
              <a:lnSpc>
                <a:spcPts val="2937"/>
              </a:lnSpc>
            </a:pPr>
            <a:r>
              <a:rPr lang="en-US" sz="2937" b="1">
                <a:solidFill>
                  <a:srgbClr val="272525"/>
                </a:solidFill>
                <a:latin typeface="Inter Bold"/>
                <a:ea typeface="Inter Bold"/>
                <a:cs typeface="Inter Bold"/>
                <a:sym typeface="Inter Bold"/>
              </a:rPr>
              <a:t>3</a:t>
            </a:r>
          </a:p>
        </p:txBody>
      </p:sp>
      <p:sp>
        <p:nvSpPr>
          <p:cNvPr id="32" name="TextBox 32"/>
          <p:cNvSpPr txBox="1"/>
          <p:nvPr/>
        </p:nvSpPr>
        <p:spPr>
          <a:xfrm>
            <a:off x="1168004" y="7286476"/>
            <a:ext cx="3165574" cy="414635"/>
          </a:xfrm>
          <a:prstGeom prst="rect">
            <a:avLst/>
          </a:prstGeom>
        </p:spPr>
        <p:txBody>
          <a:bodyPr lIns="0" tIns="0" rIns="0" bIns="0" rtlCol="0" anchor="t">
            <a:spAutoFit/>
          </a:bodyPr>
          <a:lstStyle/>
          <a:p>
            <a:pPr algn="l">
              <a:lnSpc>
                <a:spcPts val="3062"/>
              </a:lnSpc>
            </a:pPr>
            <a:r>
              <a:rPr lang="en-US" sz="2437" b="1">
                <a:solidFill>
                  <a:srgbClr val="272525"/>
                </a:solidFill>
                <a:latin typeface="Inter Bold"/>
                <a:ea typeface="Inter Bold"/>
                <a:cs typeface="Inter Bold"/>
                <a:sym typeface="Inter Bold"/>
              </a:rPr>
              <a:t>Traditional Software</a:t>
            </a:r>
          </a:p>
        </p:txBody>
      </p:sp>
      <p:sp>
        <p:nvSpPr>
          <p:cNvPr id="33" name="TextBox 33"/>
          <p:cNvSpPr txBox="1"/>
          <p:nvPr/>
        </p:nvSpPr>
        <p:spPr>
          <a:xfrm>
            <a:off x="1168004" y="7767340"/>
            <a:ext cx="7567612" cy="368114"/>
          </a:xfrm>
          <a:prstGeom prst="rect">
            <a:avLst/>
          </a:prstGeom>
        </p:spPr>
        <p:txBody>
          <a:bodyPr lIns="0" tIns="0" rIns="0" bIns="0" rtlCol="0" anchor="t">
            <a:spAutoFit/>
          </a:bodyPr>
          <a:lstStyle/>
          <a:p>
            <a:pPr algn="l">
              <a:lnSpc>
                <a:spcPts val="3187"/>
              </a:lnSpc>
            </a:pPr>
            <a:r>
              <a:rPr lang="en-US" sz="2000" b="1" dirty="0">
                <a:solidFill>
                  <a:srgbClr val="272525"/>
                </a:solidFill>
                <a:latin typeface="Inter Bold"/>
                <a:ea typeface="Inter Bold"/>
                <a:cs typeface="Inter Bold"/>
                <a:sym typeface="Inter Bold"/>
              </a:rPr>
              <a:t>Approach:</a:t>
            </a:r>
            <a:r>
              <a:rPr lang="en-US" sz="2000" dirty="0">
                <a:solidFill>
                  <a:srgbClr val="272525"/>
                </a:solidFill>
                <a:latin typeface="Inter"/>
                <a:ea typeface="Inter"/>
                <a:cs typeface="Inter"/>
                <a:sym typeface="Inter"/>
              </a:rPr>
              <a:t> Basic automation and database management</a:t>
            </a:r>
          </a:p>
        </p:txBody>
      </p:sp>
      <p:sp>
        <p:nvSpPr>
          <p:cNvPr id="34" name="TextBox 34"/>
          <p:cNvSpPr txBox="1"/>
          <p:nvPr/>
        </p:nvSpPr>
        <p:spPr>
          <a:xfrm>
            <a:off x="1168004" y="8324553"/>
            <a:ext cx="7567612" cy="778483"/>
          </a:xfrm>
          <a:prstGeom prst="rect">
            <a:avLst/>
          </a:prstGeom>
        </p:spPr>
        <p:txBody>
          <a:bodyPr lIns="0" tIns="0" rIns="0" bIns="0" rtlCol="0" anchor="t">
            <a:spAutoFit/>
          </a:bodyPr>
          <a:lstStyle/>
          <a:p>
            <a:pPr algn="l">
              <a:lnSpc>
                <a:spcPts val="3187"/>
              </a:lnSpc>
            </a:pPr>
            <a:r>
              <a:rPr lang="en-US" sz="2000" b="1" dirty="0">
                <a:solidFill>
                  <a:srgbClr val="272525"/>
                </a:solidFill>
                <a:latin typeface="Inter Bold"/>
                <a:ea typeface="Inter Bold"/>
                <a:cs typeface="Inter Bold"/>
                <a:sym typeface="Inter Bold"/>
              </a:rPr>
              <a:t>Limitation:</a:t>
            </a:r>
            <a:r>
              <a:rPr lang="en-US" sz="2000" dirty="0">
                <a:solidFill>
                  <a:srgbClr val="272525"/>
                </a:solidFill>
                <a:latin typeface="Inter"/>
                <a:ea typeface="Inter"/>
                <a:cs typeface="Inter"/>
                <a:sym typeface="Inter"/>
              </a:rPr>
              <a:t> Cannot handle complexity and scale of modern requirements</a:t>
            </a:r>
          </a:p>
        </p:txBody>
      </p:sp>
      <p:grpSp>
        <p:nvGrpSpPr>
          <p:cNvPr id="35" name="Group 35"/>
          <p:cNvGrpSpPr/>
          <p:nvPr/>
        </p:nvGrpSpPr>
        <p:grpSpPr>
          <a:xfrm>
            <a:off x="9256216" y="6249740"/>
            <a:ext cx="8159800" cy="3267075"/>
            <a:chOff x="0" y="0"/>
            <a:chExt cx="10879733" cy="4356100"/>
          </a:xfrm>
        </p:grpSpPr>
        <p:sp>
          <p:nvSpPr>
            <p:cNvPr id="36" name="Freeform 36"/>
            <p:cNvSpPr/>
            <p:nvPr/>
          </p:nvSpPr>
          <p:spPr>
            <a:xfrm>
              <a:off x="19050" y="19050"/>
              <a:ext cx="10841609" cy="4318000"/>
            </a:xfrm>
            <a:custGeom>
              <a:avLst/>
              <a:gdLst/>
              <a:ahLst/>
              <a:cxnLst/>
              <a:rect l="l" t="t" r="r" b="b"/>
              <a:pathLst>
                <a:path w="10841609" h="4318000">
                  <a:moveTo>
                    <a:pt x="0" y="141859"/>
                  </a:moveTo>
                  <a:cubicBezTo>
                    <a:pt x="0" y="63500"/>
                    <a:pt x="63881" y="0"/>
                    <a:pt x="142494" y="0"/>
                  </a:cubicBezTo>
                  <a:lnTo>
                    <a:pt x="10699115" y="0"/>
                  </a:lnTo>
                  <a:cubicBezTo>
                    <a:pt x="10777855" y="0"/>
                    <a:pt x="10841609" y="63500"/>
                    <a:pt x="10841609" y="141859"/>
                  </a:cubicBezTo>
                  <a:lnTo>
                    <a:pt x="10841609" y="4176141"/>
                  </a:lnTo>
                  <a:cubicBezTo>
                    <a:pt x="10841609" y="4254500"/>
                    <a:pt x="10777728" y="4318000"/>
                    <a:pt x="10699115" y="4318000"/>
                  </a:cubicBezTo>
                  <a:lnTo>
                    <a:pt x="142494" y="4318000"/>
                  </a:lnTo>
                  <a:cubicBezTo>
                    <a:pt x="63754" y="4318000"/>
                    <a:pt x="0" y="4254500"/>
                    <a:pt x="0" y="4176141"/>
                  </a:cubicBezTo>
                  <a:close/>
                </a:path>
              </a:pathLst>
            </a:custGeom>
            <a:solidFill>
              <a:srgbClr val="FFFFFF"/>
            </a:solidFill>
          </p:spPr>
        </p:sp>
        <p:sp>
          <p:nvSpPr>
            <p:cNvPr id="37" name="Freeform 37"/>
            <p:cNvSpPr/>
            <p:nvPr/>
          </p:nvSpPr>
          <p:spPr>
            <a:xfrm>
              <a:off x="0" y="0"/>
              <a:ext cx="10879709" cy="4356100"/>
            </a:xfrm>
            <a:custGeom>
              <a:avLst/>
              <a:gdLst/>
              <a:ahLst/>
              <a:cxnLst/>
              <a:rect l="l" t="t" r="r" b="b"/>
              <a:pathLst>
                <a:path w="10879709" h="4356100">
                  <a:moveTo>
                    <a:pt x="0" y="160909"/>
                  </a:moveTo>
                  <a:cubicBezTo>
                    <a:pt x="0" y="71882"/>
                    <a:pt x="72390" y="0"/>
                    <a:pt x="161544" y="0"/>
                  </a:cubicBezTo>
                  <a:lnTo>
                    <a:pt x="10718165" y="0"/>
                  </a:lnTo>
                  <a:lnTo>
                    <a:pt x="10718165" y="19050"/>
                  </a:lnTo>
                  <a:lnTo>
                    <a:pt x="10718165" y="0"/>
                  </a:lnTo>
                  <a:cubicBezTo>
                    <a:pt x="10807319" y="0"/>
                    <a:pt x="10879709" y="71882"/>
                    <a:pt x="10879709" y="160909"/>
                  </a:cubicBezTo>
                  <a:lnTo>
                    <a:pt x="10860659" y="160909"/>
                  </a:lnTo>
                  <a:lnTo>
                    <a:pt x="10879709" y="160909"/>
                  </a:lnTo>
                  <a:lnTo>
                    <a:pt x="10879709" y="4195191"/>
                  </a:lnTo>
                  <a:lnTo>
                    <a:pt x="10860659" y="4195191"/>
                  </a:lnTo>
                  <a:lnTo>
                    <a:pt x="10879709" y="4195191"/>
                  </a:lnTo>
                  <a:cubicBezTo>
                    <a:pt x="10879709" y="4284091"/>
                    <a:pt x="10807319" y="4356100"/>
                    <a:pt x="10718165" y="4356100"/>
                  </a:cubicBezTo>
                  <a:lnTo>
                    <a:pt x="10718165" y="4337050"/>
                  </a:lnTo>
                  <a:lnTo>
                    <a:pt x="10718165" y="4356100"/>
                  </a:lnTo>
                  <a:lnTo>
                    <a:pt x="161544" y="4356100"/>
                  </a:lnTo>
                  <a:lnTo>
                    <a:pt x="161544" y="4337050"/>
                  </a:lnTo>
                  <a:lnTo>
                    <a:pt x="161544" y="4356100"/>
                  </a:lnTo>
                  <a:cubicBezTo>
                    <a:pt x="72390" y="4356100"/>
                    <a:pt x="0" y="4284218"/>
                    <a:pt x="0" y="4195191"/>
                  </a:cubicBezTo>
                  <a:lnTo>
                    <a:pt x="0" y="160909"/>
                  </a:lnTo>
                  <a:lnTo>
                    <a:pt x="19050" y="160909"/>
                  </a:lnTo>
                  <a:lnTo>
                    <a:pt x="0" y="160909"/>
                  </a:lnTo>
                  <a:moveTo>
                    <a:pt x="38100" y="160909"/>
                  </a:moveTo>
                  <a:lnTo>
                    <a:pt x="38100" y="4195191"/>
                  </a:lnTo>
                  <a:lnTo>
                    <a:pt x="19050" y="4195191"/>
                  </a:lnTo>
                  <a:lnTo>
                    <a:pt x="38100" y="4195191"/>
                  </a:lnTo>
                  <a:cubicBezTo>
                    <a:pt x="38100" y="4262882"/>
                    <a:pt x="93345" y="4318000"/>
                    <a:pt x="161544" y="4318000"/>
                  </a:cubicBezTo>
                  <a:lnTo>
                    <a:pt x="10718165" y="4318000"/>
                  </a:lnTo>
                  <a:cubicBezTo>
                    <a:pt x="10786491" y="4318000"/>
                    <a:pt x="10841609" y="4263009"/>
                    <a:pt x="10841609" y="4195191"/>
                  </a:cubicBezTo>
                  <a:lnTo>
                    <a:pt x="10841609" y="160909"/>
                  </a:lnTo>
                  <a:cubicBezTo>
                    <a:pt x="10841609" y="93218"/>
                    <a:pt x="10786364" y="38100"/>
                    <a:pt x="10718165" y="38100"/>
                  </a:cubicBezTo>
                  <a:lnTo>
                    <a:pt x="161544" y="38100"/>
                  </a:lnTo>
                  <a:lnTo>
                    <a:pt x="161544" y="19050"/>
                  </a:lnTo>
                  <a:lnTo>
                    <a:pt x="161544" y="38100"/>
                  </a:lnTo>
                  <a:cubicBezTo>
                    <a:pt x="93345" y="38100"/>
                    <a:pt x="38100" y="93091"/>
                    <a:pt x="38100" y="160909"/>
                  </a:cubicBezTo>
                  <a:close/>
                </a:path>
              </a:pathLst>
            </a:custGeom>
            <a:solidFill>
              <a:srgbClr val="C0C1D7"/>
            </a:solidFill>
          </p:spPr>
        </p:sp>
      </p:grpSp>
      <p:grpSp>
        <p:nvGrpSpPr>
          <p:cNvPr id="38" name="Group 38"/>
          <p:cNvGrpSpPr/>
          <p:nvPr/>
        </p:nvGrpSpPr>
        <p:grpSpPr>
          <a:xfrm>
            <a:off x="9299079" y="6292602"/>
            <a:ext cx="8074075" cy="759768"/>
            <a:chOff x="0" y="0"/>
            <a:chExt cx="10765433" cy="1013023"/>
          </a:xfrm>
        </p:grpSpPr>
        <p:sp>
          <p:nvSpPr>
            <p:cNvPr id="39" name="Freeform 39"/>
            <p:cNvSpPr/>
            <p:nvPr/>
          </p:nvSpPr>
          <p:spPr>
            <a:xfrm>
              <a:off x="0" y="0"/>
              <a:ext cx="10765409" cy="1013079"/>
            </a:xfrm>
            <a:custGeom>
              <a:avLst/>
              <a:gdLst/>
              <a:ahLst/>
              <a:cxnLst/>
              <a:rect l="l" t="t" r="r" b="b"/>
              <a:pathLst>
                <a:path w="10765409" h="1013079">
                  <a:moveTo>
                    <a:pt x="0" y="96139"/>
                  </a:moveTo>
                  <a:cubicBezTo>
                    <a:pt x="0" y="43053"/>
                    <a:pt x="43053" y="0"/>
                    <a:pt x="96139" y="0"/>
                  </a:cubicBezTo>
                  <a:lnTo>
                    <a:pt x="10669270" y="0"/>
                  </a:lnTo>
                  <a:cubicBezTo>
                    <a:pt x="10722356" y="0"/>
                    <a:pt x="10765409" y="43053"/>
                    <a:pt x="10765409" y="96139"/>
                  </a:cubicBezTo>
                  <a:lnTo>
                    <a:pt x="10765409" y="916940"/>
                  </a:lnTo>
                  <a:cubicBezTo>
                    <a:pt x="10765409" y="970026"/>
                    <a:pt x="10722356" y="1013079"/>
                    <a:pt x="10669270" y="1013079"/>
                  </a:cubicBezTo>
                  <a:lnTo>
                    <a:pt x="96139" y="1013079"/>
                  </a:lnTo>
                  <a:cubicBezTo>
                    <a:pt x="43053" y="1013079"/>
                    <a:pt x="0" y="970026"/>
                    <a:pt x="0" y="916940"/>
                  </a:cubicBezTo>
                  <a:close/>
                </a:path>
              </a:pathLst>
            </a:custGeom>
            <a:solidFill>
              <a:srgbClr val="DADBF1"/>
            </a:solidFill>
          </p:spPr>
        </p:sp>
      </p:grpSp>
      <p:sp>
        <p:nvSpPr>
          <p:cNvPr id="40" name="TextBox 40"/>
          <p:cNvSpPr txBox="1"/>
          <p:nvPr/>
        </p:nvSpPr>
        <p:spPr>
          <a:xfrm>
            <a:off x="13146137" y="6487418"/>
            <a:ext cx="379810" cy="417611"/>
          </a:xfrm>
          <a:prstGeom prst="rect">
            <a:avLst/>
          </a:prstGeom>
        </p:spPr>
        <p:txBody>
          <a:bodyPr lIns="0" tIns="0" rIns="0" bIns="0" rtlCol="0" anchor="t">
            <a:spAutoFit/>
          </a:bodyPr>
          <a:lstStyle/>
          <a:p>
            <a:pPr algn="l">
              <a:lnSpc>
                <a:spcPts val="2937"/>
              </a:lnSpc>
            </a:pPr>
            <a:r>
              <a:rPr lang="en-US" sz="2937" b="1">
                <a:solidFill>
                  <a:srgbClr val="272525"/>
                </a:solidFill>
                <a:latin typeface="Inter Bold"/>
                <a:ea typeface="Inter Bold"/>
                <a:cs typeface="Inter Bold"/>
                <a:sym typeface="Inter Bold"/>
              </a:rPr>
              <a:t>4</a:t>
            </a:r>
          </a:p>
        </p:txBody>
      </p:sp>
      <p:sp>
        <p:nvSpPr>
          <p:cNvPr id="41" name="TextBox 41"/>
          <p:cNvSpPr txBox="1"/>
          <p:nvPr/>
        </p:nvSpPr>
        <p:spPr>
          <a:xfrm>
            <a:off x="9552235" y="7286476"/>
            <a:ext cx="3165574" cy="414635"/>
          </a:xfrm>
          <a:prstGeom prst="rect">
            <a:avLst/>
          </a:prstGeom>
        </p:spPr>
        <p:txBody>
          <a:bodyPr lIns="0" tIns="0" rIns="0" bIns="0" rtlCol="0" anchor="t">
            <a:spAutoFit/>
          </a:bodyPr>
          <a:lstStyle/>
          <a:p>
            <a:pPr algn="l">
              <a:lnSpc>
                <a:spcPts val="3062"/>
              </a:lnSpc>
            </a:pPr>
            <a:r>
              <a:rPr lang="en-US" sz="2437" b="1">
                <a:solidFill>
                  <a:srgbClr val="272525"/>
                </a:solidFill>
                <a:latin typeface="Inter Bold"/>
                <a:ea typeface="Inter Bold"/>
                <a:cs typeface="Inter Bold"/>
                <a:sym typeface="Inter Bold"/>
              </a:rPr>
              <a:t>Batch Studies</a:t>
            </a:r>
          </a:p>
        </p:txBody>
      </p:sp>
      <p:sp>
        <p:nvSpPr>
          <p:cNvPr id="42" name="TextBox 42"/>
          <p:cNvSpPr txBox="1"/>
          <p:nvPr/>
        </p:nvSpPr>
        <p:spPr>
          <a:xfrm>
            <a:off x="9552235" y="7767340"/>
            <a:ext cx="7567761" cy="368114"/>
          </a:xfrm>
          <a:prstGeom prst="rect">
            <a:avLst/>
          </a:prstGeom>
        </p:spPr>
        <p:txBody>
          <a:bodyPr lIns="0" tIns="0" rIns="0" bIns="0" rtlCol="0" anchor="t">
            <a:spAutoFit/>
          </a:bodyPr>
          <a:lstStyle/>
          <a:p>
            <a:pPr algn="l">
              <a:lnSpc>
                <a:spcPts val="3187"/>
              </a:lnSpc>
            </a:pPr>
            <a:r>
              <a:rPr lang="en-US" sz="2000" b="1" dirty="0">
                <a:solidFill>
                  <a:srgbClr val="272525"/>
                </a:solidFill>
                <a:latin typeface="Inter Bold"/>
                <a:ea typeface="Inter Bold"/>
                <a:cs typeface="Inter Bold"/>
                <a:sym typeface="Inter Bold"/>
              </a:rPr>
              <a:t>Approach:</a:t>
            </a:r>
            <a:r>
              <a:rPr lang="en-US" sz="2000" dirty="0">
                <a:solidFill>
                  <a:srgbClr val="272525"/>
                </a:solidFill>
                <a:latin typeface="Inter"/>
                <a:ea typeface="Inter"/>
                <a:cs typeface="Inter"/>
                <a:sym typeface="Inter"/>
              </a:rPr>
              <a:t> Sequential project evaluations</a:t>
            </a:r>
          </a:p>
        </p:txBody>
      </p:sp>
      <p:sp>
        <p:nvSpPr>
          <p:cNvPr id="43" name="TextBox 43"/>
          <p:cNvSpPr txBox="1"/>
          <p:nvPr/>
        </p:nvSpPr>
        <p:spPr>
          <a:xfrm>
            <a:off x="9552235" y="8324553"/>
            <a:ext cx="7567761" cy="778483"/>
          </a:xfrm>
          <a:prstGeom prst="rect">
            <a:avLst/>
          </a:prstGeom>
        </p:spPr>
        <p:txBody>
          <a:bodyPr lIns="0" tIns="0" rIns="0" bIns="0" rtlCol="0" anchor="t">
            <a:spAutoFit/>
          </a:bodyPr>
          <a:lstStyle/>
          <a:p>
            <a:pPr algn="l">
              <a:lnSpc>
                <a:spcPts val="3187"/>
              </a:lnSpc>
            </a:pPr>
            <a:r>
              <a:rPr lang="en-US" sz="2000" b="1" dirty="0">
                <a:solidFill>
                  <a:srgbClr val="272525"/>
                </a:solidFill>
                <a:latin typeface="Inter Bold"/>
                <a:ea typeface="Inter Bold"/>
                <a:cs typeface="Inter Bold"/>
                <a:sym typeface="Inter Bold"/>
              </a:rPr>
              <a:t>Limitation:</a:t>
            </a:r>
            <a:r>
              <a:rPr lang="en-US" sz="2000" dirty="0">
                <a:solidFill>
                  <a:srgbClr val="272525"/>
                </a:solidFill>
                <a:latin typeface="Inter"/>
                <a:ea typeface="Inter"/>
                <a:cs typeface="Inter"/>
                <a:sym typeface="Inter"/>
              </a:rPr>
              <a:t> Creates cascading backlogs across the entire queue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16049019" y="9686925"/>
            <a:ext cx="2153256" cy="514350"/>
            <a:chOff x="0" y="0"/>
            <a:chExt cx="2871008" cy="685800"/>
          </a:xfrm>
        </p:grpSpPr>
        <p:sp>
          <p:nvSpPr>
            <p:cNvPr id="7" name="Freeform 7" descr="preencoded.png">
              <a:hlinkClick r:id="rId2"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3"/>
              <a:stretch>
                <a:fillRect r="-1"/>
              </a:stretch>
            </a:blipFill>
          </p:spPr>
        </p:sp>
      </p:grpSp>
      <p:grpSp>
        <p:nvGrpSpPr>
          <p:cNvPr id="8" name="Group 8"/>
          <p:cNvGrpSpPr/>
          <p:nvPr/>
        </p:nvGrpSpPr>
        <p:grpSpPr>
          <a:xfrm>
            <a:off x="11430000" y="0"/>
            <a:ext cx="6858000" cy="10350848"/>
            <a:chOff x="0" y="0"/>
            <a:chExt cx="9144000" cy="13801130"/>
          </a:xfrm>
        </p:grpSpPr>
        <p:sp>
          <p:nvSpPr>
            <p:cNvPr id="9" name="Freeform 9" descr="preencoded.png"/>
            <p:cNvSpPr/>
            <p:nvPr/>
          </p:nvSpPr>
          <p:spPr>
            <a:xfrm>
              <a:off x="0" y="0"/>
              <a:ext cx="9144000" cy="13801089"/>
            </a:xfrm>
            <a:custGeom>
              <a:avLst/>
              <a:gdLst/>
              <a:ahLst/>
              <a:cxnLst/>
              <a:rect l="l" t="t" r="r" b="b"/>
              <a:pathLst>
                <a:path w="9144000" h="13801089">
                  <a:moveTo>
                    <a:pt x="0" y="0"/>
                  </a:moveTo>
                  <a:lnTo>
                    <a:pt x="9144000" y="0"/>
                  </a:lnTo>
                  <a:lnTo>
                    <a:pt x="9144000" y="13801089"/>
                  </a:lnTo>
                  <a:lnTo>
                    <a:pt x="0" y="13801089"/>
                  </a:lnTo>
                  <a:lnTo>
                    <a:pt x="0" y="0"/>
                  </a:lnTo>
                  <a:close/>
                </a:path>
              </a:pathLst>
            </a:custGeom>
            <a:blipFill>
              <a:blip r:embed="rId4"/>
              <a:stretch>
                <a:fillRect t="-13" b="-13"/>
              </a:stretch>
            </a:blipFill>
          </p:spPr>
        </p:sp>
      </p:grpSp>
      <p:sp>
        <p:nvSpPr>
          <p:cNvPr id="10" name="TextBox 10"/>
          <p:cNvSpPr txBox="1"/>
          <p:nvPr/>
        </p:nvSpPr>
        <p:spPr>
          <a:xfrm>
            <a:off x="496044" y="370731"/>
            <a:ext cx="7278737" cy="461962"/>
          </a:xfrm>
          <a:prstGeom prst="rect">
            <a:avLst/>
          </a:prstGeom>
        </p:spPr>
        <p:txBody>
          <a:bodyPr lIns="0" tIns="0" rIns="0" bIns="0" rtlCol="0" anchor="t">
            <a:spAutoFit/>
          </a:bodyPr>
          <a:lstStyle/>
          <a:p>
            <a:pPr algn="l">
              <a:lnSpc>
                <a:spcPts val="3437"/>
              </a:lnSpc>
            </a:pPr>
            <a:r>
              <a:rPr lang="en-US" sz="2750" b="1">
                <a:solidFill>
                  <a:srgbClr val="000000"/>
                </a:solidFill>
                <a:latin typeface="Inter Bold"/>
                <a:ea typeface="Inter Bold"/>
                <a:cs typeface="Inter Bold"/>
                <a:sym typeface="Inter Bold"/>
              </a:rPr>
              <a:t>AI-Solvable Challenges in Interconnection</a:t>
            </a:r>
          </a:p>
        </p:txBody>
      </p:sp>
      <p:sp>
        <p:nvSpPr>
          <p:cNvPr id="11" name="TextBox 11"/>
          <p:cNvSpPr txBox="1"/>
          <p:nvPr/>
        </p:nvSpPr>
        <p:spPr>
          <a:xfrm>
            <a:off x="496044" y="997595"/>
            <a:ext cx="10437911" cy="461665"/>
          </a:xfrm>
          <a:prstGeom prst="rect">
            <a:avLst/>
          </a:prstGeom>
        </p:spPr>
        <p:txBody>
          <a:bodyPr lIns="0" tIns="0" rIns="0" bIns="0" rtlCol="0" anchor="t">
            <a:spAutoFit/>
          </a:bodyPr>
          <a:lstStyle/>
          <a:p>
            <a:pPr algn="l">
              <a:lnSpc>
                <a:spcPts val="1750"/>
              </a:lnSpc>
            </a:pPr>
            <a:r>
              <a:rPr lang="en-US" sz="1600" dirty="0">
                <a:solidFill>
                  <a:srgbClr val="272525"/>
                </a:solidFill>
                <a:latin typeface="Inter"/>
                <a:ea typeface="Inter"/>
                <a:cs typeface="Inter"/>
                <a:sym typeface="Inter"/>
              </a:rPr>
              <a:t>Artificial intelligence offers targeted solutions across four critical domains, each with defined implementation timelines and proven methodologies.</a:t>
            </a:r>
          </a:p>
        </p:txBody>
      </p:sp>
      <p:grpSp>
        <p:nvGrpSpPr>
          <p:cNvPr id="12" name="Group 12"/>
          <p:cNvGrpSpPr/>
          <p:nvPr/>
        </p:nvGrpSpPr>
        <p:grpSpPr>
          <a:xfrm>
            <a:off x="491281" y="1426666"/>
            <a:ext cx="10447436" cy="2035671"/>
            <a:chOff x="0" y="0"/>
            <a:chExt cx="13929915" cy="2714228"/>
          </a:xfrm>
        </p:grpSpPr>
        <p:sp>
          <p:nvSpPr>
            <p:cNvPr id="13" name="Freeform 13"/>
            <p:cNvSpPr/>
            <p:nvPr/>
          </p:nvSpPr>
          <p:spPr>
            <a:xfrm>
              <a:off x="6350" y="6350"/>
              <a:ext cx="13917295" cy="2701544"/>
            </a:xfrm>
            <a:custGeom>
              <a:avLst/>
              <a:gdLst/>
              <a:ahLst/>
              <a:cxnLst/>
              <a:rect l="l" t="t" r="r" b="b"/>
              <a:pathLst>
                <a:path w="13917295" h="2701544">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p:spPr>
        </p:sp>
        <p:sp>
          <p:nvSpPr>
            <p:cNvPr id="14" name="Freeform 14"/>
            <p:cNvSpPr/>
            <p:nvPr/>
          </p:nvSpPr>
          <p:spPr>
            <a:xfrm>
              <a:off x="0" y="0"/>
              <a:ext cx="13929995" cy="2714244"/>
            </a:xfrm>
            <a:custGeom>
              <a:avLst/>
              <a:gdLst/>
              <a:ahLst/>
              <a:cxnLst/>
              <a:rect l="l" t="t" r="r" b="b"/>
              <a:pathLst>
                <a:path w="13929995" h="2714244">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p:spPr>
        </p:sp>
      </p:grpSp>
      <p:grpSp>
        <p:nvGrpSpPr>
          <p:cNvPr id="15" name="Group 15"/>
          <p:cNvGrpSpPr/>
          <p:nvPr/>
        </p:nvGrpSpPr>
        <p:grpSpPr>
          <a:xfrm>
            <a:off x="647254" y="1582639"/>
            <a:ext cx="425202" cy="425203"/>
            <a:chOff x="0" y="0"/>
            <a:chExt cx="566937" cy="566937"/>
          </a:xfrm>
        </p:grpSpPr>
        <p:sp>
          <p:nvSpPr>
            <p:cNvPr id="16" name="Freeform 16"/>
            <p:cNvSpPr/>
            <p:nvPr/>
          </p:nvSpPr>
          <p:spPr>
            <a:xfrm>
              <a:off x="0" y="0"/>
              <a:ext cx="566928" cy="566928"/>
            </a:xfrm>
            <a:custGeom>
              <a:avLst/>
              <a:gdLst/>
              <a:ahLst/>
              <a:cxnLst/>
              <a:rect l="l" t="t" r="r" b="b"/>
              <a:pathLst>
                <a:path w="566928" h="566928">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p:spPr>
        </p:sp>
      </p:grpSp>
      <p:sp>
        <p:nvSpPr>
          <p:cNvPr id="17" name="Freeform 17" descr="preencoded.png"/>
          <p:cNvSpPr/>
          <p:nvPr/>
        </p:nvSpPr>
        <p:spPr>
          <a:xfrm>
            <a:off x="764232" y="1699618"/>
            <a:ext cx="191244" cy="191244"/>
          </a:xfrm>
          <a:custGeom>
            <a:avLst/>
            <a:gdLst/>
            <a:ahLst/>
            <a:cxnLst/>
            <a:rect l="l" t="t" r="r" b="b"/>
            <a:pathLst>
              <a:path w="191244" h="191244">
                <a:moveTo>
                  <a:pt x="0" y="0"/>
                </a:moveTo>
                <a:lnTo>
                  <a:pt x="191244" y="0"/>
                </a:lnTo>
                <a:lnTo>
                  <a:pt x="191244" y="191243"/>
                </a:lnTo>
                <a:lnTo>
                  <a:pt x="0" y="191243"/>
                </a:lnTo>
                <a:lnTo>
                  <a:pt x="0" y="0"/>
                </a:lnTo>
                <a:close/>
              </a:path>
            </a:pathLst>
          </a:custGeom>
          <a:blipFill>
            <a:blip r:embed="rId5">
              <a:extLst>
                <a:ext uri="{96DAC541-7B7A-43D3-8B79-37D633B846F1}">
                  <asvg:svgBlip xmlns:asvg="http://schemas.microsoft.com/office/drawing/2016/SVG/main" r:embed="rId6"/>
                </a:ext>
              </a:extLst>
            </a:blip>
            <a:stretch>
              <a:fillRect t="-9523" b="-9523"/>
            </a:stretch>
          </a:blipFill>
        </p:spPr>
      </p:sp>
      <p:sp>
        <p:nvSpPr>
          <p:cNvPr id="19" name="TextBox 19"/>
          <p:cNvSpPr txBox="1"/>
          <p:nvPr/>
        </p:nvSpPr>
        <p:spPr>
          <a:xfrm>
            <a:off x="2419201" y="1726977"/>
            <a:ext cx="7914442" cy="1615827"/>
          </a:xfrm>
          <a:prstGeom prst="rect">
            <a:avLst/>
          </a:prstGeom>
        </p:spPr>
        <p:txBody>
          <a:bodyPr wrap="square" lIns="0" tIns="0" rIns="0" bIns="0" rtlCol="0" anchor="t">
            <a:spAutoFit/>
          </a:bodyPr>
          <a:lstStyle/>
          <a:p>
            <a:pPr algn="l">
              <a:lnSpc>
                <a:spcPts val="1750"/>
              </a:lnSpc>
            </a:pPr>
            <a:r>
              <a:rPr lang="en-US" b="1" dirty="0">
                <a:solidFill>
                  <a:srgbClr val="272525"/>
                </a:solidFill>
                <a:latin typeface="Inter Bold"/>
                <a:ea typeface="Inter Bold"/>
                <a:cs typeface="Inter Bold"/>
                <a:sym typeface="Inter Bold"/>
              </a:rPr>
              <a:t>Document Processing</a:t>
            </a:r>
          </a:p>
          <a:p>
            <a:pPr algn="l">
              <a:lnSpc>
                <a:spcPts val="1750"/>
              </a:lnSpc>
            </a:pPr>
            <a:endParaRPr lang="en-US" b="1" dirty="0">
              <a:solidFill>
                <a:srgbClr val="272525"/>
              </a:solidFill>
              <a:latin typeface="Inter Bold"/>
              <a:ea typeface="Inter Bold"/>
              <a:cs typeface="Inter Bold"/>
              <a:sym typeface="Inter Bold"/>
            </a:endParaRPr>
          </a:p>
          <a:p>
            <a:pPr algn="l">
              <a:lnSpc>
                <a:spcPts val="1750"/>
              </a:lnSpc>
            </a:pPr>
            <a:r>
              <a:rPr lang="en-US" b="1" dirty="0">
                <a:solidFill>
                  <a:srgbClr val="272525"/>
                </a:solidFill>
                <a:latin typeface="Inter Bold"/>
                <a:ea typeface="Inter Bold"/>
                <a:cs typeface="Inter Bold"/>
                <a:sym typeface="Inter Bold"/>
              </a:rPr>
              <a:t> Challenge:</a:t>
            </a:r>
            <a:r>
              <a:rPr lang="en-US" dirty="0">
                <a:solidFill>
                  <a:srgbClr val="272525"/>
                </a:solidFill>
                <a:latin typeface="Inter"/>
                <a:ea typeface="Inter"/>
                <a:cs typeface="Inter"/>
                <a:sym typeface="Inter"/>
              </a:rPr>
              <a:t> Application review &amp; validation</a:t>
            </a:r>
          </a:p>
          <a:p>
            <a:pPr algn="l">
              <a:lnSpc>
                <a:spcPts val="1750"/>
              </a:lnSpc>
            </a:pPr>
            <a:endParaRPr lang="en-US" dirty="0">
              <a:solidFill>
                <a:srgbClr val="272525"/>
              </a:solidFill>
              <a:latin typeface="Inter"/>
              <a:ea typeface="Inter"/>
              <a:cs typeface="Inter"/>
              <a:sym typeface="Inter"/>
            </a:endParaRPr>
          </a:p>
          <a:p>
            <a:pPr algn="l">
              <a:lnSpc>
                <a:spcPts val="1750"/>
              </a:lnSpc>
            </a:pPr>
            <a:r>
              <a:rPr lang="en-US" b="1" dirty="0">
                <a:solidFill>
                  <a:srgbClr val="272525"/>
                </a:solidFill>
                <a:latin typeface="Inter"/>
                <a:ea typeface="Inter"/>
                <a:cs typeface="Inter"/>
                <a:sym typeface="Inter"/>
              </a:rPr>
              <a:t>AI Solution:</a:t>
            </a:r>
            <a:r>
              <a:rPr lang="en-US" dirty="0">
                <a:solidFill>
                  <a:srgbClr val="272525"/>
                </a:solidFill>
                <a:latin typeface="Inter"/>
                <a:ea typeface="Inter"/>
                <a:cs typeface="Inter"/>
                <a:sym typeface="Inter"/>
              </a:rPr>
              <a:t> LLM + RAG</a:t>
            </a:r>
          </a:p>
          <a:p>
            <a:pPr algn="l">
              <a:lnSpc>
                <a:spcPts val="1750"/>
              </a:lnSpc>
            </a:pPr>
            <a:endParaRPr lang="en-US" b="1" dirty="0">
              <a:solidFill>
                <a:srgbClr val="272525"/>
              </a:solidFill>
              <a:latin typeface="Inter"/>
              <a:ea typeface="Inter"/>
              <a:cs typeface="Inter"/>
              <a:sym typeface="Inter"/>
            </a:endParaRPr>
          </a:p>
          <a:p>
            <a:pPr algn="l">
              <a:lnSpc>
                <a:spcPts val="1750"/>
              </a:lnSpc>
            </a:pPr>
            <a:r>
              <a:rPr lang="en-US" b="1" dirty="0">
                <a:solidFill>
                  <a:srgbClr val="272525"/>
                </a:solidFill>
                <a:latin typeface="Inter"/>
                <a:ea typeface="Inter"/>
                <a:cs typeface="Inter"/>
                <a:sym typeface="Inter"/>
              </a:rPr>
              <a:t>Timeline:</a:t>
            </a:r>
            <a:r>
              <a:rPr lang="en-US" dirty="0">
                <a:solidFill>
                  <a:srgbClr val="272525"/>
                </a:solidFill>
                <a:latin typeface="Inter"/>
                <a:ea typeface="Inter"/>
                <a:cs typeface="Inter"/>
                <a:sym typeface="Inter"/>
              </a:rPr>
              <a:t> up to 6 months</a:t>
            </a:r>
          </a:p>
        </p:txBody>
      </p:sp>
      <p:grpSp>
        <p:nvGrpSpPr>
          <p:cNvPr id="22" name="Group 22"/>
          <p:cNvGrpSpPr/>
          <p:nvPr/>
        </p:nvGrpSpPr>
        <p:grpSpPr>
          <a:xfrm>
            <a:off x="491281" y="3594498"/>
            <a:ext cx="10447436" cy="2035671"/>
            <a:chOff x="0" y="0"/>
            <a:chExt cx="13929915" cy="2714228"/>
          </a:xfrm>
        </p:grpSpPr>
        <p:sp>
          <p:nvSpPr>
            <p:cNvPr id="23" name="Freeform 23"/>
            <p:cNvSpPr/>
            <p:nvPr/>
          </p:nvSpPr>
          <p:spPr>
            <a:xfrm>
              <a:off x="6350" y="6350"/>
              <a:ext cx="13917295" cy="2701544"/>
            </a:xfrm>
            <a:custGeom>
              <a:avLst/>
              <a:gdLst/>
              <a:ahLst/>
              <a:cxnLst/>
              <a:rect l="l" t="t" r="r" b="b"/>
              <a:pathLst>
                <a:path w="13917295" h="2701544">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p:spPr>
        </p:sp>
        <p:sp>
          <p:nvSpPr>
            <p:cNvPr id="24" name="Freeform 24"/>
            <p:cNvSpPr/>
            <p:nvPr/>
          </p:nvSpPr>
          <p:spPr>
            <a:xfrm>
              <a:off x="0" y="0"/>
              <a:ext cx="13929995" cy="2714244"/>
            </a:xfrm>
            <a:custGeom>
              <a:avLst/>
              <a:gdLst/>
              <a:ahLst/>
              <a:cxnLst/>
              <a:rect l="l" t="t" r="r" b="b"/>
              <a:pathLst>
                <a:path w="13929995" h="2714244">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p:spPr>
        </p:sp>
      </p:grpSp>
      <p:grpSp>
        <p:nvGrpSpPr>
          <p:cNvPr id="25" name="Group 25"/>
          <p:cNvGrpSpPr/>
          <p:nvPr/>
        </p:nvGrpSpPr>
        <p:grpSpPr>
          <a:xfrm>
            <a:off x="647254" y="3750469"/>
            <a:ext cx="425202" cy="425203"/>
            <a:chOff x="0" y="0"/>
            <a:chExt cx="566937" cy="566937"/>
          </a:xfrm>
        </p:grpSpPr>
        <p:sp>
          <p:nvSpPr>
            <p:cNvPr id="26" name="Freeform 26"/>
            <p:cNvSpPr/>
            <p:nvPr/>
          </p:nvSpPr>
          <p:spPr>
            <a:xfrm>
              <a:off x="0" y="0"/>
              <a:ext cx="566928" cy="566928"/>
            </a:xfrm>
            <a:custGeom>
              <a:avLst/>
              <a:gdLst/>
              <a:ahLst/>
              <a:cxnLst/>
              <a:rect l="l" t="t" r="r" b="b"/>
              <a:pathLst>
                <a:path w="566928" h="566928">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p:spPr>
        </p:sp>
      </p:grpSp>
      <p:sp>
        <p:nvSpPr>
          <p:cNvPr id="27" name="Freeform 27" descr="preencoded.png"/>
          <p:cNvSpPr/>
          <p:nvPr/>
        </p:nvSpPr>
        <p:spPr>
          <a:xfrm>
            <a:off x="764232" y="3867447"/>
            <a:ext cx="191244" cy="191244"/>
          </a:xfrm>
          <a:custGeom>
            <a:avLst/>
            <a:gdLst/>
            <a:ahLst/>
            <a:cxnLst/>
            <a:rect l="l" t="t" r="r" b="b"/>
            <a:pathLst>
              <a:path w="191244" h="191244">
                <a:moveTo>
                  <a:pt x="0" y="0"/>
                </a:moveTo>
                <a:lnTo>
                  <a:pt x="191244" y="0"/>
                </a:lnTo>
                <a:lnTo>
                  <a:pt x="191244" y="191244"/>
                </a:lnTo>
                <a:lnTo>
                  <a:pt x="0" y="191244"/>
                </a:lnTo>
                <a:lnTo>
                  <a:pt x="0" y="0"/>
                </a:lnTo>
                <a:close/>
              </a:path>
            </a:pathLst>
          </a:custGeom>
          <a:blipFill>
            <a:blip r:embed="rId7">
              <a:extLst>
                <a:ext uri="{96DAC541-7B7A-43D3-8B79-37D633B846F1}">
                  <asvg:svgBlip xmlns:asvg="http://schemas.microsoft.com/office/drawing/2016/SVG/main" r:embed="rId8"/>
                </a:ext>
              </a:extLst>
            </a:blip>
            <a:stretch>
              <a:fillRect t="-2380" b="-2380"/>
            </a:stretch>
          </a:blipFill>
        </p:spPr>
      </p:sp>
      <p:sp>
        <p:nvSpPr>
          <p:cNvPr id="28" name="TextBox 28"/>
          <p:cNvSpPr txBox="1"/>
          <p:nvPr/>
        </p:nvSpPr>
        <p:spPr>
          <a:xfrm>
            <a:off x="2465687" y="3668547"/>
            <a:ext cx="6515546" cy="1531894"/>
          </a:xfrm>
          <a:prstGeom prst="rect">
            <a:avLst/>
          </a:prstGeom>
        </p:spPr>
        <p:txBody>
          <a:bodyPr wrap="square" lIns="0" tIns="0" rIns="0" bIns="0" rtlCol="0" anchor="t">
            <a:spAutoFit/>
          </a:bodyPr>
          <a:lstStyle/>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Technical Studies</a:t>
            </a:r>
          </a:p>
          <a:p>
            <a:pPr algn="l">
              <a:lnSpc>
                <a:spcPts val="1687"/>
              </a:lnSpc>
            </a:pPr>
            <a:endParaRPr lang="en-US" sz="2000" b="1" dirty="0">
              <a:solidFill>
                <a:srgbClr val="272525"/>
              </a:solidFill>
              <a:latin typeface="Inter" panose="020B0604020202020204" charset="0"/>
              <a:ea typeface="Inter" panose="020B0604020202020204" charset="0"/>
              <a:cs typeface="Inter Bold"/>
              <a:sym typeface="Inter Bold"/>
            </a:endParaRPr>
          </a:p>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Challenge:</a:t>
            </a:r>
            <a:r>
              <a:rPr lang="en-US" sz="2000" dirty="0">
                <a:solidFill>
                  <a:srgbClr val="272525"/>
                </a:solidFill>
                <a:latin typeface="Inter" panose="020B0604020202020204" charset="0"/>
                <a:ea typeface="Inter" panose="020B0604020202020204" charset="0"/>
                <a:cs typeface="Inter Bold"/>
                <a:sym typeface="Inter Bold"/>
              </a:rPr>
              <a:t> Grid impact analysis &amp; modeling</a:t>
            </a:r>
          </a:p>
          <a:p>
            <a:pPr algn="l">
              <a:lnSpc>
                <a:spcPts val="1687"/>
              </a:lnSpc>
            </a:pPr>
            <a:endParaRPr lang="en-US" sz="2000" b="1" dirty="0">
              <a:solidFill>
                <a:srgbClr val="272525"/>
              </a:solidFill>
              <a:latin typeface="Inter" panose="020B0604020202020204" charset="0"/>
              <a:ea typeface="Inter" panose="020B0604020202020204" charset="0"/>
              <a:cs typeface="Inter Bold"/>
              <a:sym typeface="Inter Bold"/>
            </a:endParaRPr>
          </a:p>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AI Solution:</a:t>
            </a:r>
            <a:r>
              <a:rPr lang="en-US" sz="2000" dirty="0">
                <a:solidFill>
                  <a:srgbClr val="272525"/>
                </a:solidFill>
                <a:latin typeface="Inter" panose="020B0604020202020204" charset="0"/>
                <a:ea typeface="Inter" panose="020B0604020202020204" charset="0"/>
                <a:cs typeface="Inter Bold"/>
                <a:sym typeface="Inter Bold"/>
              </a:rPr>
              <a:t> ML Models + Agents</a:t>
            </a:r>
          </a:p>
          <a:p>
            <a:pPr algn="l">
              <a:lnSpc>
                <a:spcPts val="1687"/>
              </a:lnSpc>
            </a:pPr>
            <a:endParaRPr lang="en-US" sz="2000" b="1" dirty="0">
              <a:solidFill>
                <a:srgbClr val="272525"/>
              </a:solidFill>
              <a:latin typeface="Inter" panose="020B0604020202020204" charset="0"/>
              <a:ea typeface="Inter" panose="020B0604020202020204" charset="0"/>
              <a:cs typeface="Inter Bold"/>
              <a:sym typeface="Inter Bold"/>
            </a:endParaRPr>
          </a:p>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Timeline:</a:t>
            </a:r>
            <a:r>
              <a:rPr lang="en-US" sz="2000" dirty="0">
                <a:solidFill>
                  <a:srgbClr val="272525"/>
                </a:solidFill>
                <a:latin typeface="Inter" panose="020B0604020202020204" charset="0"/>
                <a:ea typeface="Inter" panose="020B0604020202020204" charset="0"/>
                <a:cs typeface="Inter Bold"/>
                <a:sym typeface="Inter Bold"/>
              </a:rPr>
              <a:t> up to 1 to 1.5 years</a:t>
            </a:r>
          </a:p>
        </p:txBody>
      </p:sp>
      <p:grpSp>
        <p:nvGrpSpPr>
          <p:cNvPr id="32" name="Group 32"/>
          <p:cNvGrpSpPr/>
          <p:nvPr/>
        </p:nvGrpSpPr>
        <p:grpSpPr>
          <a:xfrm>
            <a:off x="491281" y="5762327"/>
            <a:ext cx="10447436" cy="2035671"/>
            <a:chOff x="0" y="0"/>
            <a:chExt cx="13929915" cy="2714228"/>
          </a:xfrm>
        </p:grpSpPr>
        <p:sp>
          <p:nvSpPr>
            <p:cNvPr id="33" name="Freeform 33"/>
            <p:cNvSpPr/>
            <p:nvPr/>
          </p:nvSpPr>
          <p:spPr>
            <a:xfrm>
              <a:off x="6350" y="6350"/>
              <a:ext cx="13917295" cy="2701544"/>
            </a:xfrm>
            <a:custGeom>
              <a:avLst/>
              <a:gdLst/>
              <a:ahLst/>
              <a:cxnLst/>
              <a:rect l="l" t="t" r="r" b="b"/>
              <a:pathLst>
                <a:path w="13917295" h="2701544">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p:spPr>
        </p:sp>
        <p:sp>
          <p:nvSpPr>
            <p:cNvPr id="34" name="Freeform 34"/>
            <p:cNvSpPr/>
            <p:nvPr/>
          </p:nvSpPr>
          <p:spPr>
            <a:xfrm>
              <a:off x="0" y="0"/>
              <a:ext cx="13929995" cy="2714244"/>
            </a:xfrm>
            <a:custGeom>
              <a:avLst/>
              <a:gdLst/>
              <a:ahLst/>
              <a:cxnLst/>
              <a:rect l="l" t="t" r="r" b="b"/>
              <a:pathLst>
                <a:path w="13929995" h="2714244">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p:spPr>
        </p:sp>
      </p:grpSp>
      <p:grpSp>
        <p:nvGrpSpPr>
          <p:cNvPr id="35" name="Group 35"/>
          <p:cNvGrpSpPr/>
          <p:nvPr/>
        </p:nvGrpSpPr>
        <p:grpSpPr>
          <a:xfrm>
            <a:off x="647254" y="5918299"/>
            <a:ext cx="425202" cy="425203"/>
            <a:chOff x="0" y="0"/>
            <a:chExt cx="566937" cy="566937"/>
          </a:xfrm>
        </p:grpSpPr>
        <p:sp>
          <p:nvSpPr>
            <p:cNvPr id="36" name="Freeform 36"/>
            <p:cNvSpPr/>
            <p:nvPr/>
          </p:nvSpPr>
          <p:spPr>
            <a:xfrm>
              <a:off x="0" y="0"/>
              <a:ext cx="566928" cy="566928"/>
            </a:xfrm>
            <a:custGeom>
              <a:avLst/>
              <a:gdLst/>
              <a:ahLst/>
              <a:cxnLst/>
              <a:rect l="l" t="t" r="r" b="b"/>
              <a:pathLst>
                <a:path w="566928" h="566928">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p:spPr>
        </p:sp>
      </p:grpSp>
      <p:sp>
        <p:nvSpPr>
          <p:cNvPr id="37" name="Freeform 37" descr="preencoded.png"/>
          <p:cNvSpPr/>
          <p:nvPr/>
        </p:nvSpPr>
        <p:spPr>
          <a:xfrm>
            <a:off x="764232" y="6035279"/>
            <a:ext cx="191244" cy="191244"/>
          </a:xfrm>
          <a:custGeom>
            <a:avLst/>
            <a:gdLst/>
            <a:ahLst/>
            <a:cxnLst/>
            <a:rect l="l" t="t" r="r" b="b"/>
            <a:pathLst>
              <a:path w="191244" h="191244">
                <a:moveTo>
                  <a:pt x="0" y="0"/>
                </a:moveTo>
                <a:lnTo>
                  <a:pt x="191244" y="0"/>
                </a:lnTo>
                <a:lnTo>
                  <a:pt x="191244" y="191244"/>
                </a:lnTo>
                <a:lnTo>
                  <a:pt x="0" y="1912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42" name="Group 42"/>
          <p:cNvGrpSpPr/>
          <p:nvPr/>
        </p:nvGrpSpPr>
        <p:grpSpPr>
          <a:xfrm>
            <a:off x="491281" y="7930158"/>
            <a:ext cx="10447436" cy="2035671"/>
            <a:chOff x="0" y="0"/>
            <a:chExt cx="13929915" cy="2714228"/>
          </a:xfrm>
        </p:grpSpPr>
        <p:sp>
          <p:nvSpPr>
            <p:cNvPr id="43" name="Freeform 43"/>
            <p:cNvSpPr/>
            <p:nvPr/>
          </p:nvSpPr>
          <p:spPr>
            <a:xfrm>
              <a:off x="6350" y="6350"/>
              <a:ext cx="13917295" cy="2701544"/>
            </a:xfrm>
            <a:custGeom>
              <a:avLst/>
              <a:gdLst/>
              <a:ahLst/>
              <a:cxnLst/>
              <a:rect l="l" t="t" r="r" b="b"/>
              <a:pathLst>
                <a:path w="13917295" h="2701544">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p:spPr>
        </p:sp>
        <p:sp>
          <p:nvSpPr>
            <p:cNvPr id="44" name="Freeform 44"/>
            <p:cNvSpPr/>
            <p:nvPr/>
          </p:nvSpPr>
          <p:spPr>
            <a:xfrm>
              <a:off x="0" y="0"/>
              <a:ext cx="13929995" cy="2714244"/>
            </a:xfrm>
            <a:custGeom>
              <a:avLst/>
              <a:gdLst/>
              <a:ahLst/>
              <a:cxnLst/>
              <a:rect l="l" t="t" r="r" b="b"/>
              <a:pathLst>
                <a:path w="13929995" h="2714244">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p:spPr>
        </p:sp>
      </p:grpSp>
      <p:grpSp>
        <p:nvGrpSpPr>
          <p:cNvPr id="45" name="Group 45"/>
          <p:cNvGrpSpPr/>
          <p:nvPr/>
        </p:nvGrpSpPr>
        <p:grpSpPr>
          <a:xfrm>
            <a:off x="647254" y="8086130"/>
            <a:ext cx="425202" cy="425203"/>
            <a:chOff x="0" y="0"/>
            <a:chExt cx="566937" cy="566937"/>
          </a:xfrm>
        </p:grpSpPr>
        <p:sp>
          <p:nvSpPr>
            <p:cNvPr id="46" name="Freeform 46"/>
            <p:cNvSpPr/>
            <p:nvPr/>
          </p:nvSpPr>
          <p:spPr>
            <a:xfrm>
              <a:off x="0" y="0"/>
              <a:ext cx="566928" cy="566928"/>
            </a:xfrm>
            <a:custGeom>
              <a:avLst/>
              <a:gdLst/>
              <a:ahLst/>
              <a:cxnLst/>
              <a:rect l="l" t="t" r="r" b="b"/>
              <a:pathLst>
                <a:path w="566928" h="566928">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p:spPr>
        </p:sp>
      </p:grpSp>
      <p:sp>
        <p:nvSpPr>
          <p:cNvPr id="47" name="Freeform 47" descr="preencoded.png"/>
          <p:cNvSpPr/>
          <p:nvPr/>
        </p:nvSpPr>
        <p:spPr>
          <a:xfrm>
            <a:off x="764232" y="8203109"/>
            <a:ext cx="191244" cy="191244"/>
          </a:xfrm>
          <a:custGeom>
            <a:avLst/>
            <a:gdLst/>
            <a:ahLst/>
            <a:cxnLst/>
            <a:rect l="l" t="t" r="r" b="b"/>
            <a:pathLst>
              <a:path w="191244" h="191244">
                <a:moveTo>
                  <a:pt x="0" y="0"/>
                </a:moveTo>
                <a:lnTo>
                  <a:pt x="191244" y="0"/>
                </a:lnTo>
                <a:lnTo>
                  <a:pt x="191244" y="191243"/>
                </a:lnTo>
                <a:lnTo>
                  <a:pt x="0" y="191243"/>
                </a:lnTo>
                <a:lnTo>
                  <a:pt x="0" y="0"/>
                </a:lnTo>
                <a:close/>
              </a:path>
            </a:pathLst>
          </a:custGeom>
          <a:blipFill>
            <a:blip r:embed="rId11">
              <a:extLst>
                <a:ext uri="{96DAC541-7B7A-43D3-8B79-37D633B846F1}">
                  <asvg:svgBlip xmlns:asvg="http://schemas.microsoft.com/office/drawing/2016/SVG/main" r:embed="rId12"/>
                </a:ext>
              </a:extLst>
            </a:blip>
            <a:stretch>
              <a:fillRect l="-7142" r="-7142"/>
            </a:stretch>
          </a:blipFill>
        </p:spPr>
      </p:sp>
      <p:sp>
        <p:nvSpPr>
          <p:cNvPr id="52" name="TextBox 28">
            <a:extLst>
              <a:ext uri="{FF2B5EF4-FFF2-40B4-BE49-F238E27FC236}">
                <a16:creationId xmlns:a16="http://schemas.microsoft.com/office/drawing/2014/main" id="{DBD392F9-B41F-7E9F-53D7-723639B58CD8}"/>
              </a:ext>
            </a:extLst>
          </p:cNvPr>
          <p:cNvSpPr txBox="1"/>
          <p:nvPr/>
        </p:nvSpPr>
        <p:spPr>
          <a:xfrm>
            <a:off x="2503218" y="5980066"/>
            <a:ext cx="6515546" cy="1531894"/>
          </a:xfrm>
          <a:prstGeom prst="rect">
            <a:avLst/>
          </a:prstGeom>
        </p:spPr>
        <p:txBody>
          <a:bodyPr wrap="square" lIns="0" tIns="0" rIns="0" bIns="0" rtlCol="0" anchor="t">
            <a:spAutoFit/>
          </a:bodyPr>
          <a:lstStyle/>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Capacity Planning</a:t>
            </a:r>
          </a:p>
          <a:p>
            <a:pPr algn="l">
              <a:lnSpc>
                <a:spcPts val="1687"/>
              </a:lnSpc>
            </a:pPr>
            <a:endParaRPr lang="en-US" sz="2000" b="1" dirty="0">
              <a:solidFill>
                <a:srgbClr val="272525"/>
              </a:solidFill>
              <a:latin typeface="Inter" panose="020B0604020202020204" charset="0"/>
              <a:ea typeface="Inter" panose="020B0604020202020204" charset="0"/>
              <a:cs typeface="Inter Bold"/>
              <a:sym typeface="Inter Bold"/>
            </a:endParaRPr>
          </a:p>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Challenge:</a:t>
            </a:r>
            <a:r>
              <a:rPr lang="en-US" sz="2000" dirty="0">
                <a:solidFill>
                  <a:srgbClr val="272525"/>
                </a:solidFill>
                <a:latin typeface="Inter" panose="020B0604020202020204" charset="0"/>
                <a:ea typeface="Inter" panose="020B0604020202020204" charset="0"/>
                <a:cs typeface="Inter Bold"/>
                <a:sym typeface="Inter Bold"/>
              </a:rPr>
              <a:t> Dynamic line rating &amp; optimization</a:t>
            </a:r>
          </a:p>
          <a:p>
            <a:pPr algn="l">
              <a:lnSpc>
                <a:spcPts val="1687"/>
              </a:lnSpc>
            </a:pPr>
            <a:endParaRPr lang="en-US" sz="2000" b="1" dirty="0">
              <a:solidFill>
                <a:srgbClr val="272525"/>
              </a:solidFill>
              <a:latin typeface="Inter" panose="020B0604020202020204" charset="0"/>
              <a:ea typeface="Inter" panose="020B0604020202020204" charset="0"/>
              <a:cs typeface="Inter Bold"/>
              <a:sym typeface="Inter Bold"/>
            </a:endParaRPr>
          </a:p>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AI Solution:</a:t>
            </a:r>
            <a:r>
              <a:rPr lang="en-US" sz="2000" dirty="0">
                <a:solidFill>
                  <a:srgbClr val="272525"/>
                </a:solidFill>
                <a:latin typeface="Inter" panose="020B0604020202020204" charset="0"/>
                <a:ea typeface="Inter" panose="020B0604020202020204" charset="0"/>
                <a:cs typeface="Inter Bold"/>
                <a:sym typeface="Inter Bold"/>
              </a:rPr>
              <a:t> predictive ML &amp; Real-time Analytics</a:t>
            </a:r>
          </a:p>
          <a:p>
            <a:pPr algn="l">
              <a:lnSpc>
                <a:spcPts val="1687"/>
              </a:lnSpc>
            </a:pPr>
            <a:endParaRPr lang="en-US" sz="2000" b="1" dirty="0">
              <a:solidFill>
                <a:srgbClr val="272525"/>
              </a:solidFill>
              <a:latin typeface="Inter" panose="020B0604020202020204" charset="0"/>
              <a:ea typeface="Inter" panose="020B0604020202020204" charset="0"/>
              <a:cs typeface="Inter Bold"/>
              <a:sym typeface="Inter Bold"/>
            </a:endParaRPr>
          </a:p>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Timeline:</a:t>
            </a:r>
            <a:r>
              <a:rPr lang="en-US" sz="2000" dirty="0">
                <a:solidFill>
                  <a:srgbClr val="272525"/>
                </a:solidFill>
                <a:latin typeface="Inter" panose="020B0604020202020204" charset="0"/>
                <a:ea typeface="Inter" panose="020B0604020202020204" charset="0"/>
                <a:cs typeface="Inter Bold"/>
                <a:sym typeface="Inter Bold"/>
              </a:rPr>
              <a:t> up to 2 to 2.5 years</a:t>
            </a:r>
          </a:p>
        </p:txBody>
      </p:sp>
      <p:sp>
        <p:nvSpPr>
          <p:cNvPr id="53" name="TextBox 28">
            <a:extLst>
              <a:ext uri="{FF2B5EF4-FFF2-40B4-BE49-F238E27FC236}">
                <a16:creationId xmlns:a16="http://schemas.microsoft.com/office/drawing/2014/main" id="{EAD43CFB-E07A-F46A-E501-B780111A3050}"/>
              </a:ext>
            </a:extLst>
          </p:cNvPr>
          <p:cNvSpPr txBox="1"/>
          <p:nvPr/>
        </p:nvSpPr>
        <p:spPr>
          <a:xfrm>
            <a:off x="2457227" y="8038194"/>
            <a:ext cx="6515546" cy="1531894"/>
          </a:xfrm>
          <a:prstGeom prst="rect">
            <a:avLst/>
          </a:prstGeom>
        </p:spPr>
        <p:txBody>
          <a:bodyPr wrap="square" lIns="0" tIns="0" rIns="0" bIns="0" rtlCol="0" anchor="t">
            <a:spAutoFit/>
          </a:bodyPr>
          <a:lstStyle/>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Decision Support</a:t>
            </a:r>
          </a:p>
          <a:p>
            <a:pPr algn="l">
              <a:lnSpc>
                <a:spcPts val="1687"/>
              </a:lnSpc>
            </a:pPr>
            <a:endParaRPr lang="en-US" sz="2000" b="1" dirty="0">
              <a:solidFill>
                <a:srgbClr val="272525"/>
              </a:solidFill>
              <a:latin typeface="Inter" panose="020B0604020202020204" charset="0"/>
              <a:ea typeface="Inter" panose="020B0604020202020204" charset="0"/>
              <a:cs typeface="Inter Bold"/>
              <a:sym typeface="Inter Bold"/>
            </a:endParaRPr>
          </a:p>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Challenge:</a:t>
            </a:r>
            <a:r>
              <a:rPr lang="en-US" sz="2000" dirty="0">
                <a:solidFill>
                  <a:srgbClr val="272525"/>
                </a:solidFill>
                <a:latin typeface="Inter" panose="020B0604020202020204" charset="0"/>
                <a:ea typeface="Inter" panose="020B0604020202020204" charset="0"/>
                <a:cs typeface="Inter Bold"/>
                <a:sym typeface="Inter Bold"/>
              </a:rPr>
              <a:t> Multi-stakeholder coordination</a:t>
            </a:r>
          </a:p>
          <a:p>
            <a:pPr algn="l">
              <a:lnSpc>
                <a:spcPts val="1687"/>
              </a:lnSpc>
            </a:pPr>
            <a:endParaRPr lang="en-US" sz="2000" b="1" dirty="0">
              <a:solidFill>
                <a:srgbClr val="272525"/>
              </a:solidFill>
              <a:latin typeface="Inter" panose="020B0604020202020204" charset="0"/>
              <a:ea typeface="Inter" panose="020B0604020202020204" charset="0"/>
              <a:cs typeface="Inter Bold"/>
              <a:sym typeface="Inter Bold"/>
            </a:endParaRPr>
          </a:p>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AI Solution:</a:t>
            </a:r>
            <a:r>
              <a:rPr lang="en-US" sz="2000" dirty="0">
                <a:solidFill>
                  <a:srgbClr val="272525"/>
                </a:solidFill>
                <a:latin typeface="Inter" panose="020B0604020202020204" charset="0"/>
                <a:ea typeface="Inter" panose="020B0604020202020204" charset="0"/>
                <a:cs typeface="Inter Bold"/>
                <a:sym typeface="Inter Bold"/>
              </a:rPr>
              <a:t> Multi-Agent Systems</a:t>
            </a:r>
          </a:p>
          <a:p>
            <a:pPr algn="l">
              <a:lnSpc>
                <a:spcPts val="1687"/>
              </a:lnSpc>
            </a:pPr>
            <a:endParaRPr lang="en-US" sz="2000" b="1" dirty="0">
              <a:solidFill>
                <a:srgbClr val="272525"/>
              </a:solidFill>
              <a:latin typeface="Inter" panose="020B0604020202020204" charset="0"/>
              <a:ea typeface="Inter" panose="020B0604020202020204" charset="0"/>
              <a:cs typeface="Inter Bold"/>
              <a:sym typeface="Inter Bold"/>
            </a:endParaRPr>
          </a:p>
          <a:p>
            <a:pPr algn="l">
              <a:lnSpc>
                <a:spcPts val="1687"/>
              </a:lnSpc>
            </a:pPr>
            <a:r>
              <a:rPr lang="en-US" sz="2000" b="1" dirty="0">
                <a:solidFill>
                  <a:srgbClr val="272525"/>
                </a:solidFill>
                <a:latin typeface="Inter" panose="020B0604020202020204" charset="0"/>
                <a:ea typeface="Inter" panose="020B0604020202020204" charset="0"/>
                <a:cs typeface="Inter Bold"/>
                <a:sym typeface="Inter Bold"/>
              </a:rPr>
              <a:t>Timeline:</a:t>
            </a:r>
            <a:r>
              <a:rPr lang="en-US" sz="2000" dirty="0">
                <a:solidFill>
                  <a:srgbClr val="272525"/>
                </a:solidFill>
                <a:latin typeface="Inter" panose="020B0604020202020204" charset="0"/>
                <a:ea typeface="Inter" panose="020B0604020202020204" charset="0"/>
                <a:cs typeface="Inter Bold"/>
                <a:sym typeface="Inter Bold"/>
              </a:rPr>
              <a:t> More than 2 years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567630" y="426988"/>
            <a:ext cx="9227641" cy="525959"/>
          </a:xfrm>
          <a:prstGeom prst="rect">
            <a:avLst/>
          </a:prstGeom>
        </p:spPr>
        <p:txBody>
          <a:bodyPr lIns="0" tIns="0" rIns="0" bIns="0" rtlCol="0" anchor="t">
            <a:spAutoFit/>
          </a:bodyPr>
          <a:lstStyle/>
          <a:p>
            <a:pPr algn="l">
              <a:lnSpc>
                <a:spcPts val="3937"/>
              </a:lnSpc>
            </a:pPr>
            <a:r>
              <a:rPr lang="en-US" sz="3187" b="1">
                <a:solidFill>
                  <a:srgbClr val="000000"/>
                </a:solidFill>
                <a:latin typeface="Inter Bold"/>
                <a:ea typeface="Inter Bold"/>
                <a:cs typeface="Inter Bold"/>
                <a:sym typeface="Inter Bold"/>
              </a:rPr>
              <a:t>Challenge 1: Application Document Processing</a:t>
            </a:r>
          </a:p>
        </p:txBody>
      </p:sp>
      <p:grpSp>
        <p:nvGrpSpPr>
          <p:cNvPr id="7" name="Group 7"/>
          <p:cNvGrpSpPr/>
          <p:nvPr/>
        </p:nvGrpSpPr>
        <p:grpSpPr>
          <a:xfrm>
            <a:off x="567630" y="1378595"/>
            <a:ext cx="6413937" cy="4784338"/>
            <a:chOff x="0" y="0"/>
            <a:chExt cx="8551917" cy="6379117"/>
          </a:xfrm>
        </p:grpSpPr>
        <p:sp>
          <p:nvSpPr>
            <p:cNvPr id="8" name="Freeform 8" descr="preencoded.png"/>
            <p:cNvSpPr/>
            <p:nvPr/>
          </p:nvSpPr>
          <p:spPr>
            <a:xfrm>
              <a:off x="0" y="0"/>
              <a:ext cx="8551926" cy="6379083"/>
            </a:xfrm>
            <a:custGeom>
              <a:avLst/>
              <a:gdLst/>
              <a:ahLst/>
              <a:cxnLst/>
              <a:rect l="l" t="t" r="r" b="b"/>
              <a:pathLst>
                <a:path w="8551926" h="6379083">
                  <a:moveTo>
                    <a:pt x="0" y="0"/>
                  </a:moveTo>
                  <a:lnTo>
                    <a:pt x="8551926" y="0"/>
                  </a:lnTo>
                  <a:lnTo>
                    <a:pt x="8551926" y="6379083"/>
                  </a:lnTo>
                  <a:lnTo>
                    <a:pt x="0" y="6379083"/>
                  </a:lnTo>
                  <a:lnTo>
                    <a:pt x="0" y="0"/>
                  </a:lnTo>
                  <a:close/>
                </a:path>
              </a:pathLst>
            </a:custGeom>
            <a:blipFill>
              <a:blip r:embed="rId2"/>
              <a:stretch>
                <a:fillRect t="-17030" b="-17031"/>
              </a:stretch>
            </a:blipFill>
          </p:spPr>
        </p:sp>
      </p:grpSp>
      <p:sp>
        <p:nvSpPr>
          <p:cNvPr id="9" name="TextBox 9"/>
          <p:cNvSpPr txBox="1"/>
          <p:nvPr/>
        </p:nvSpPr>
        <p:spPr>
          <a:xfrm>
            <a:off x="7549204" y="1378595"/>
            <a:ext cx="9548515" cy="4442306"/>
          </a:xfrm>
          <a:prstGeom prst="rect">
            <a:avLst/>
          </a:prstGeom>
        </p:spPr>
        <p:txBody>
          <a:bodyPr wrap="square" lIns="0" tIns="0" rIns="0" bIns="0" rtlCol="0" anchor="t">
            <a:spAutoFit/>
          </a:bodyPr>
          <a:lstStyle/>
          <a:p>
            <a:pPr algn="l">
              <a:lnSpc>
                <a:spcPts val="2375"/>
              </a:lnSpc>
            </a:pPr>
            <a:endParaRPr lang="en-US" sz="2000" b="1" dirty="0">
              <a:solidFill>
                <a:srgbClr val="000000"/>
              </a:solidFill>
              <a:latin typeface="Inter Bold"/>
              <a:ea typeface="Inter Bold"/>
              <a:cs typeface="Inter Bold"/>
              <a:sym typeface="Inter Bold"/>
            </a:endParaRPr>
          </a:p>
          <a:p>
            <a:pPr algn="l">
              <a:lnSpc>
                <a:spcPts val="2375"/>
              </a:lnSpc>
            </a:pPr>
            <a:r>
              <a:rPr lang="en-US" sz="2000" b="1" dirty="0">
                <a:solidFill>
                  <a:srgbClr val="000000"/>
                </a:solidFill>
                <a:latin typeface="Inter Bold"/>
                <a:ea typeface="Inter Bold"/>
                <a:cs typeface="Inter Bold"/>
                <a:sym typeface="Inter Bold"/>
              </a:rPr>
              <a:t>The Problem</a:t>
            </a:r>
          </a:p>
          <a:p>
            <a:pPr>
              <a:lnSpc>
                <a:spcPts val="2375"/>
              </a:lnSpc>
            </a:pPr>
            <a:endParaRPr lang="en-US" sz="2400" dirty="0">
              <a:solidFill>
                <a:srgbClr val="272525"/>
              </a:solidFill>
              <a:latin typeface="Inter"/>
              <a:ea typeface="Inter"/>
              <a:cs typeface="Inter"/>
              <a:sym typeface="Inter"/>
            </a:endParaRPr>
          </a:p>
          <a:p>
            <a:pPr>
              <a:lnSpc>
                <a:spcPts val="2375"/>
              </a:lnSpc>
            </a:pPr>
            <a:r>
              <a:rPr lang="en-US" sz="2400" dirty="0">
                <a:solidFill>
                  <a:srgbClr val="272525"/>
                </a:solidFill>
                <a:latin typeface="Inter"/>
                <a:ea typeface="Inter"/>
                <a:cs typeface="Inter"/>
                <a:sym typeface="Inter"/>
              </a:rPr>
              <a:t>Manual review of thousands of pages including technical specifications, grid studies, environmental reports, and compliance documentation creates severe processing delays.</a:t>
            </a:r>
          </a:p>
          <a:p>
            <a:pPr>
              <a:lnSpc>
                <a:spcPts val="2375"/>
              </a:lnSpc>
            </a:pPr>
            <a:endParaRPr lang="en-US" sz="2400" dirty="0">
              <a:solidFill>
                <a:srgbClr val="272525"/>
              </a:solidFill>
              <a:latin typeface="Inter"/>
              <a:ea typeface="Inter"/>
              <a:cs typeface="Inter"/>
              <a:sym typeface="Inter"/>
            </a:endParaRPr>
          </a:p>
          <a:p>
            <a:pPr>
              <a:lnSpc>
                <a:spcPts val="2375"/>
              </a:lnSpc>
            </a:pPr>
            <a:endParaRPr lang="en-US" sz="2400" dirty="0">
              <a:solidFill>
                <a:srgbClr val="272525"/>
              </a:solidFill>
              <a:latin typeface="Inter"/>
              <a:ea typeface="Inter"/>
              <a:cs typeface="Inter"/>
              <a:sym typeface="Inter"/>
            </a:endParaRPr>
          </a:p>
          <a:p>
            <a:pPr>
              <a:lnSpc>
                <a:spcPts val="2375"/>
              </a:lnSpc>
            </a:pPr>
            <a:endParaRPr lang="en-US" sz="2400" dirty="0">
              <a:solidFill>
                <a:srgbClr val="272525"/>
              </a:solidFill>
              <a:latin typeface="Inter"/>
              <a:ea typeface="Inter"/>
              <a:cs typeface="Inter"/>
              <a:sym typeface="Inter"/>
            </a:endParaRPr>
          </a:p>
          <a:p>
            <a:pPr>
              <a:lnSpc>
                <a:spcPts val="2375"/>
              </a:lnSpc>
            </a:pPr>
            <a:r>
              <a:rPr lang="en-US" sz="2400" b="1" dirty="0">
                <a:solidFill>
                  <a:srgbClr val="272525"/>
                </a:solidFill>
                <a:latin typeface="Inter"/>
                <a:ea typeface="Inter"/>
                <a:cs typeface="Inter"/>
                <a:sym typeface="Inter"/>
              </a:rPr>
              <a:t>Current State</a:t>
            </a:r>
          </a:p>
          <a:p>
            <a:pPr>
              <a:lnSpc>
                <a:spcPts val="2375"/>
              </a:lnSpc>
            </a:pPr>
            <a:endParaRPr lang="en-US" sz="2400" dirty="0">
              <a:solidFill>
                <a:srgbClr val="272525"/>
              </a:solidFill>
              <a:latin typeface="Inter"/>
              <a:ea typeface="Inter"/>
              <a:cs typeface="Inter"/>
              <a:sym typeface="Inter"/>
            </a:endParaRPr>
          </a:p>
          <a:p>
            <a:pPr algn="l">
              <a:lnSpc>
                <a:spcPts val="2000"/>
              </a:lnSpc>
            </a:pPr>
            <a:r>
              <a:rPr lang="en-US" sz="2400" dirty="0">
                <a:solidFill>
                  <a:srgbClr val="272525"/>
                </a:solidFill>
                <a:latin typeface="Inter"/>
                <a:ea typeface="Inter"/>
                <a:cs typeface="Inter"/>
                <a:sym typeface="Inter"/>
              </a:rPr>
              <a:t>Applications take weeks to months per review with high error rates, inconsistent standards across reviewers, and frequent rework cycles.</a:t>
            </a:r>
          </a:p>
          <a:p>
            <a:pPr algn="l">
              <a:lnSpc>
                <a:spcPts val="2375"/>
              </a:lnSpc>
            </a:pPr>
            <a:endParaRPr lang="en-US" sz="1874" b="1" dirty="0">
              <a:solidFill>
                <a:srgbClr val="000000"/>
              </a:solidFill>
              <a:latin typeface="Inter Bold"/>
              <a:ea typeface="Inter Bold"/>
              <a:cs typeface="Inter Bold"/>
              <a:sym typeface="Inter Bold"/>
            </a:endParaRPr>
          </a:p>
        </p:txBody>
      </p:sp>
      <p:grpSp>
        <p:nvGrpSpPr>
          <p:cNvPr id="13" name="Group 13"/>
          <p:cNvGrpSpPr/>
          <p:nvPr/>
        </p:nvGrpSpPr>
        <p:grpSpPr>
          <a:xfrm>
            <a:off x="454744" y="6678875"/>
            <a:ext cx="17162264" cy="1896964"/>
            <a:chOff x="0" y="0"/>
            <a:chExt cx="22883018" cy="2529285"/>
          </a:xfrm>
        </p:grpSpPr>
        <p:sp>
          <p:nvSpPr>
            <p:cNvPr id="14" name="Freeform 14"/>
            <p:cNvSpPr/>
            <p:nvPr/>
          </p:nvSpPr>
          <p:spPr>
            <a:xfrm>
              <a:off x="6350" y="6350"/>
              <a:ext cx="22870415" cy="2516505"/>
            </a:xfrm>
            <a:custGeom>
              <a:avLst/>
              <a:gdLst/>
              <a:ahLst/>
              <a:cxnLst/>
              <a:rect l="l" t="t" r="r" b="b"/>
              <a:pathLst>
                <a:path w="22870415" h="2516505">
                  <a:moveTo>
                    <a:pt x="0" y="90805"/>
                  </a:moveTo>
                  <a:cubicBezTo>
                    <a:pt x="0" y="40640"/>
                    <a:pt x="40894" y="0"/>
                    <a:pt x="91313" y="0"/>
                  </a:cubicBezTo>
                  <a:lnTo>
                    <a:pt x="22779101" y="0"/>
                  </a:lnTo>
                  <a:cubicBezTo>
                    <a:pt x="22829520" y="0"/>
                    <a:pt x="22870415" y="40640"/>
                    <a:pt x="22870415" y="90805"/>
                  </a:cubicBezTo>
                  <a:lnTo>
                    <a:pt x="22870415" y="2425700"/>
                  </a:lnTo>
                  <a:cubicBezTo>
                    <a:pt x="22870415" y="2475865"/>
                    <a:pt x="22829520" y="2516505"/>
                    <a:pt x="22779101" y="2516505"/>
                  </a:cubicBezTo>
                  <a:lnTo>
                    <a:pt x="91313" y="2516505"/>
                  </a:lnTo>
                  <a:cubicBezTo>
                    <a:pt x="40894" y="2516505"/>
                    <a:pt x="0" y="2475865"/>
                    <a:pt x="0" y="2425700"/>
                  </a:cubicBezTo>
                  <a:close/>
                </a:path>
              </a:pathLst>
            </a:custGeom>
            <a:solidFill>
              <a:srgbClr val="DADBF1"/>
            </a:solidFill>
          </p:spPr>
        </p:sp>
        <p:sp>
          <p:nvSpPr>
            <p:cNvPr id="15" name="Freeform 15"/>
            <p:cNvSpPr/>
            <p:nvPr/>
          </p:nvSpPr>
          <p:spPr>
            <a:xfrm>
              <a:off x="0" y="0"/>
              <a:ext cx="22883115" cy="2529205"/>
            </a:xfrm>
            <a:custGeom>
              <a:avLst/>
              <a:gdLst/>
              <a:ahLst/>
              <a:cxnLst/>
              <a:rect l="l" t="t" r="r" b="b"/>
              <a:pathLst>
                <a:path w="22883115" h="2529205">
                  <a:moveTo>
                    <a:pt x="0" y="97155"/>
                  </a:moveTo>
                  <a:cubicBezTo>
                    <a:pt x="0" y="43434"/>
                    <a:pt x="43688" y="0"/>
                    <a:pt x="97663" y="0"/>
                  </a:cubicBezTo>
                  <a:lnTo>
                    <a:pt x="22785451" y="0"/>
                  </a:lnTo>
                  <a:lnTo>
                    <a:pt x="22785451" y="6350"/>
                  </a:lnTo>
                  <a:lnTo>
                    <a:pt x="22785451" y="0"/>
                  </a:lnTo>
                  <a:cubicBezTo>
                    <a:pt x="22839299" y="0"/>
                    <a:pt x="22883115" y="43434"/>
                    <a:pt x="22883115" y="97155"/>
                  </a:cubicBezTo>
                  <a:lnTo>
                    <a:pt x="22876765" y="97155"/>
                  </a:lnTo>
                  <a:lnTo>
                    <a:pt x="22883115" y="97155"/>
                  </a:lnTo>
                  <a:lnTo>
                    <a:pt x="22883115" y="2432050"/>
                  </a:lnTo>
                  <a:lnTo>
                    <a:pt x="22876765" y="2432050"/>
                  </a:lnTo>
                  <a:lnTo>
                    <a:pt x="22883115" y="2432050"/>
                  </a:lnTo>
                  <a:cubicBezTo>
                    <a:pt x="22883115" y="2485771"/>
                    <a:pt x="22839426" y="2529205"/>
                    <a:pt x="22785451" y="2529205"/>
                  </a:cubicBezTo>
                  <a:lnTo>
                    <a:pt x="22785451" y="2522855"/>
                  </a:lnTo>
                  <a:lnTo>
                    <a:pt x="22785451" y="2529205"/>
                  </a:lnTo>
                  <a:lnTo>
                    <a:pt x="97663" y="2529205"/>
                  </a:lnTo>
                  <a:lnTo>
                    <a:pt x="97663" y="2522855"/>
                  </a:lnTo>
                  <a:lnTo>
                    <a:pt x="97663" y="2529205"/>
                  </a:lnTo>
                  <a:cubicBezTo>
                    <a:pt x="43815" y="2529205"/>
                    <a:pt x="0" y="2485771"/>
                    <a:pt x="0" y="2432050"/>
                  </a:cubicBezTo>
                  <a:lnTo>
                    <a:pt x="0" y="97155"/>
                  </a:lnTo>
                  <a:lnTo>
                    <a:pt x="6350" y="97155"/>
                  </a:lnTo>
                  <a:lnTo>
                    <a:pt x="0" y="97155"/>
                  </a:lnTo>
                  <a:moveTo>
                    <a:pt x="12700" y="97155"/>
                  </a:moveTo>
                  <a:lnTo>
                    <a:pt x="12700" y="2432050"/>
                  </a:lnTo>
                  <a:lnTo>
                    <a:pt x="6350" y="2432050"/>
                  </a:lnTo>
                  <a:lnTo>
                    <a:pt x="12700" y="2432050"/>
                  </a:lnTo>
                  <a:cubicBezTo>
                    <a:pt x="12700" y="2478659"/>
                    <a:pt x="50673" y="2516505"/>
                    <a:pt x="97663" y="2516505"/>
                  </a:cubicBezTo>
                  <a:lnTo>
                    <a:pt x="22785451" y="2516505"/>
                  </a:lnTo>
                  <a:cubicBezTo>
                    <a:pt x="22832315" y="2516505"/>
                    <a:pt x="22870415" y="2478659"/>
                    <a:pt x="22870415" y="2432050"/>
                  </a:cubicBezTo>
                  <a:lnTo>
                    <a:pt x="22870415" y="97155"/>
                  </a:lnTo>
                  <a:cubicBezTo>
                    <a:pt x="22870415" y="50546"/>
                    <a:pt x="22832440" y="12700"/>
                    <a:pt x="22785451" y="12700"/>
                  </a:cubicBezTo>
                  <a:lnTo>
                    <a:pt x="97663" y="12700"/>
                  </a:lnTo>
                  <a:lnTo>
                    <a:pt x="97663" y="6350"/>
                  </a:lnTo>
                  <a:lnTo>
                    <a:pt x="97663" y="12700"/>
                  </a:lnTo>
                  <a:cubicBezTo>
                    <a:pt x="50673" y="12700"/>
                    <a:pt x="12700" y="50546"/>
                    <a:pt x="12700" y="97155"/>
                  </a:cubicBezTo>
                  <a:close/>
                </a:path>
              </a:pathLst>
            </a:custGeom>
            <a:solidFill>
              <a:srgbClr val="C0C1D7"/>
            </a:solidFill>
          </p:spPr>
        </p:sp>
      </p:grpSp>
      <p:grpSp>
        <p:nvGrpSpPr>
          <p:cNvPr id="16" name="Group 16"/>
          <p:cNvGrpSpPr/>
          <p:nvPr/>
        </p:nvGrpSpPr>
        <p:grpSpPr>
          <a:xfrm>
            <a:off x="469031" y="6693162"/>
            <a:ext cx="8566845" cy="934194"/>
            <a:chOff x="0" y="0"/>
            <a:chExt cx="11422460" cy="1245592"/>
          </a:xfrm>
        </p:grpSpPr>
        <p:sp>
          <p:nvSpPr>
            <p:cNvPr id="17" name="Freeform 17"/>
            <p:cNvSpPr/>
            <p:nvPr/>
          </p:nvSpPr>
          <p:spPr>
            <a:xfrm>
              <a:off x="0" y="0"/>
              <a:ext cx="11422380" cy="1245616"/>
            </a:xfrm>
            <a:custGeom>
              <a:avLst/>
              <a:gdLst/>
              <a:ahLst/>
              <a:cxnLst/>
              <a:rect l="l" t="t" r="r" b="b"/>
              <a:pathLst>
                <a:path w="11422380" h="1245616">
                  <a:moveTo>
                    <a:pt x="0" y="90805"/>
                  </a:moveTo>
                  <a:cubicBezTo>
                    <a:pt x="0" y="40640"/>
                    <a:pt x="40640" y="0"/>
                    <a:pt x="90805" y="0"/>
                  </a:cubicBezTo>
                  <a:lnTo>
                    <a:pt x="11331575" y="0"/>
                  </a:lnTo>
                  <a:cubicBezTo>
                    <a:pt x="11381739" y="0"/>
                    <a:pt x="11422380" y="40640"/>
                    <a:pt x="11422380" y="90805"/>
                  </a:cubicBezTo>
                  <a:lnTo>
                    <a:pt x="11422380" y="1154811"/>
                  </a:lnTo>
                  <a:cubicBezTo>
                    <a:pt x="11422380" y="1204976"/>
                    <a:pt x="11381739" y="1245616"/>
                    <a:pt x="11331575" y="1245616"/>
                  </a:cubicBezTo>
                  <a:lnTo>
                    <a:pt x="90805" y="1245616"/>
                  </a:lnTo>
                  <a:cubicBezTo>
                    <a:pt x="40640" y="1245616"/>
                    <a:pt x="0" y="1204976"/>
                    <a:pt x="0" y="1154811"/>
                  </a:cubicBezTo>
                  <a:close/>
                </a:path>
              </a:pathLst>
            </a:custGeom>
            <a:solidFill>
              <a:srgbClr val="DADBF1"/>
            </a:solidFill>
          </p:spPr>
        </p:sp>
      </p:grpSp>
      <p:sp>
        <p:nvSpPr>
          <p:cNvPr id="18" name="TextBox 18"/>
          <p:cNvSpPr txBox="1"/>
          <p:nvPr/>
        </p:nvSpPr>
        <p:spPr>
          <a:xfrm>
            <a:off x="631105" y="6845711"/>
            <a:ext cx="2027635" cy="262830"/>
          </a:xfrm>
          <a:prstGeom prst="rect">
            <a:avLst/>
          </a:prstGeom>
        </p:spPr>
        <p:txBody>
          <a:bodyPr lIns="0" tIns="0" rIns="0" bIns="0" rtlCol="0" anchor="t">
            <a:spAutoFit/>
          </a:bodyPr>
          <a:lstStyle/>
          <a:p>
            <a:pPr algn="l">
              <a:lnSpc>
                <a:spcPts val="1937"/>
              </a:lnSpc>
            </a:pPr>
            <a:r>
              <a:rPr lang="en-US" sz="1562" b="1">
                <a:solidFill>
                  <a:srgbClr val="272525"/>
                </a:solidFill>
                <a:latin typeface="Inter Bold"/>
                <a:ea typeface="Inter Bold"/>
                <a:cs typeface="Inter Bold"/>
                <a:sym typeface="Inter Bold"/>
              </a:rPr>
              <a:t>Foundation LLMs</a:t>
            </a:r>
          </a:p>
        </p:txBody>
      </p:sp>
      <p:sp>
        <p:nvSpPr>
          <p:cNvPr id="19" name="TextBox 19"/>
          <p:cNvSpPr txBox="1"/>
          <p:nvPr/>
        </p:nvSpPr>
        <p:spPr>
          <a:xfrm>
            <a:off x="631105" y="7158101"/>
            <a:ext cx="7999362" cy="512961"/>
          </a:xfrm>
          <a:prstGeom prst="rect">
            <a:avLst/>
          </a:prstGeom>
        </p:spPr>
        <p:txBody>
          <a:bodyPr lIns="0" tIns="0" rIns="0" bIns="0" rtlCol="0" anchor="t">
            <a:spAutoFit/>
          </a:bodyPr>
          <a:lstStyle/>
          <a:p>
            <a:pPr algn="l">
              <a:lnSpc>
                <a:spcPts val="2000"/>
              </a:lnSpc>
            </a:pPr>
            <a:r>
              <a:rPr lang="en-US" dirty="0">
                <a:solidFill>
                  <a:srgbClr val="272525"/>
                </a:solidFill>
                <a:latin typeface="Inter"/>
                <a:ea typeface="Inter"/>
                <a:cs typeface="Inter"/>
                <a:sym typeface="Inter"/>
              </a:rPr>
              <a:t>GPT-4 and Claude for deep document understanding and context extraction</a:t>
            </a:r>
          </a:p>
        </p:txBody>
      </p:sp>
      <p:grpSp>
        <p:nvGrpSpPr>
          <p:cNvPr id="20" name="Group 20"/>
          <p:cNvGrpSpPr/>
          <p:nvPr/>
        </p:nvGrpSpPr>
        <p:grpSpPr>
          <a:xfrm>
            <a:off x="9035876" y="6693162"/>
            <a:ext cx="8566845" cy="934194"/>
            <a:chOff x="0" y="0"/>
            <a:chExt cx="11422460" cy="1245592"/>
          </a:xfrm>
        </p:grpSpPr>
        <p:sp>
          <p:nvSpPr>
            <p:cNvPr id="21" name="Freeform 21"/>
            <p:cNvSpPr/>
            <p:nvPr/>
          </p:nvSpPr>
          <p:spPr>
            <a:xfrm>
              <a:off x="0" y="0"/>
              <a:ext cx="11422507" cy="1245616"/>
            </a:xfrm>
            <a:custGeom>
              <a:avLst/>
              <a:gdLst/>
              <a:ahLst/>
              <a:cxnLst/>
              <a:rect l="l" t="t" r="r" b="b"/>
              <a:pathLst>
                <a:path w="11422507" h="1245616">
                  <a:moveTo>
                    <a:pt x="0" y="0"/>
                  </a:moveTo>
                  <a:lnTo>
                    <a:pt x="11422507" y="0"/>
                  </a:lnTo>
                  <a:lnTo>
                    <a:pt x="11422507" y="1245616"/>
                  </a:lnTo>
                  <a:lnTo>
                    <a:pt x="0" y="1245616"/>
                  </a:lnTo>
                  <a:close/>
                </a:path>
              </a:pathLst>
            </a:custGeom>
            <a:solidFill>
              <a:srgbClr val="DADBF1"/>
            </a:solidFill>
          </p:spPr>
        </p:sp>
      </p:grpSp>
      <p:grpSp>
        <p:nvGrpSpPr>
          <p:cNvPr id="22" name="Group 22"/>
          <p:cNvGrpSpPr/>
          <p:nvPr/>
        </p:nvGrpSpPr>
        <p:grpSpPr>
          <a:xfrm>
            <a:off x="9035876" y="6693162"/>
            <a:ext cx="19050" cy="934194"/>
            <a:chOff x="0" y="0"/>
            <a:chExt cx="25400" cy="1245592"/>
          </a:xfrm>
        </p:grpSpPr>
        <p:sp>
          <p:nvSpPr>
            <p:cNvPr id="23" name="Freeform 23"/>
            <p:cNvSpPr/>
            <p:nvPr/>
          </p:nvSpPr>
          <p:spPr>
            <a:xfrm>
              <a:off x="0" y="0"/>
              <a:ext cx="25400" cy="1245616"/>
            </a:xfrm>
            <a:custGeom>
              <a:avLst/>
              <a:gdLst/>
              <a:ahLst/>
              <a:cxnLst/>
              <a:rect l="l" t="t" r="r" b="b"/>
              <a:pathLst>
                <a:path w="25400" h="1245616">
                  <a:moveTo>
                    <a:pt x="0" y="12700"/>
                  </a:moveTo>
                  <a:cubicBezTo>
                    <a:pt x="0" y="5715"/>
                    <a:pt x="5715" y="0"/>
                    <a:pt x="12700" y="0"/>
                  </a:cubicBezTo>
                  <a:cubicBezTo>
                    <a:pt x="19685" y="0"/>
                    <a:pt x="25400" y="5715"/>
                    <a:pt x="25400" y="12700"/>
                  </a:cubicBezTo>
                  <a:lnTo>
                    <a:pt x="25400" y="1232916"/>
                  </a:lnTo>
                  <a:cubicBezTo>
                    <a:pt x="25400" y="1239901"/>
                    <a:pt x="19685" y="1245616"/>
                    <a:pt x="12700" y="1245616"/>
                  </a:cubicBezTo>
                  <a:cubicBezTo>
                    <a:pt x="5715" y="1245616"/>
                    <a:pt x="0" y="1239901"/>
                    <a:pt x="0" y="1232916"/>
                  </a:cubicBezTo>
                  <a:close/>
                </a:path>
              </a:pathLst>
            </a:custGeom>
            <a:solidFill>
              <a:srgbClr val="C0C1D7"/>
            </a:solidFill>
          </p:spPr>
        </p:sp>
      </p:grpSp>
      <p:sp>
        <p:nvSpPr>
          <p:cNvPr id="24" name="TextBox 24"/>
          <p:cNvSpPr txBox="1"/>
          <p:nvPr/>
        </p:nvSpPr>
        <p:spPr>
          <a:xfrm>
            <a:off x="9441284" y="6845711"/>
            <a:ext cx="2027635" cy="262830"/>
          </a:xfrm>
          <a:prstGeom prst="rect">
            <a:avLst/>
          </a:prstGeom>
        </p:spPr>
        <p:txBody>
          <a:bodyPr lIns="0" tIns="0" rIns="0" bIns="0" rtlCol="0" anchor="t">
            <a:spAutoFit/>
          </a:bodyPr>
          <a:lstStyle/>
          <a:p>
            <a:pPr algn="l">
              <a:lnSpc>
                <a:spcPts val="1937"/>
              </a:lnSpc>
            </a:pPr>
            <a:r>
              <a:rPr lang="en-US" sz="1562" b="1">
                <a:solidFill>
                  <a:srgbClr val="272525"/>
                </a:solidFill>
                <a:latin typeface="Inter Bold"/>
                <a:ea typeface="Inter Bold"/>
                <a:cs typeface="Inter Bold"/>
                <a:sym typeface="Inter Bold"/>
              </a:rPr>
              <a:t>RAG System</a:t>
            </a:r>
          </a:p>
        </p:txBody>
      </p:sp>
      <p:sp>
        <p:nvSpPr>
          <p:cNvPr id="25" name="TextBox 25"/>
          <p:cNvSpPr txBox="1"/>
          <p:nvPr/>
        </p:nvSpPr>
        <p:spPr>
          <a:xfrm>
            <a:off x="9441284" y="7158101"/>
            <a:ext cx="7999362" cy="240643"/>
          </a:xfrm>
          <a:prstGeom prst="rect">
            <a:avLst/>
          </a:prstGeom>
        </p:spPr>
        <p:txBody>
          <a:bodyPr lIns="0" tIns="0" rIns="0" bIns="0" rtlCol="0" anchor="t">
            <a:spAutoFit/>
          </a:bodyPr>
          <a:lstStyle/>
          <a:p>
            <a:pPr algn="l">
              <a:lnSpc>
                <a:spcPts val="2000"/>
              </a:lnSpc>
            </a:pPr>
            <a:r>
              <a:rPr lang="en-US" sz="1600" dirty="0">
                <a:solidFill>
                  <a:srgbClr val="272525"/>
                </a:solidFill>
                <a:latin typeface="Inter"/>
                <a:ea typeface="Inter"/>
                <a:cs typeface="Inter"/>
                <a:sym typeface="Inter"/>
              </a:rPr>
              <a:t>Regulatory knowledge base with historical precedents and compliance rules</a:t>
            </a:r>
          </a:p>
        </p:txBody>
      </p:sp>
      <p:grpSp>
        <p:nvGrpSpPr>
          <p:cNvPr id="26" name="Group 26"/>
          <p:cNvGrpSpPr/>
          <p:nvPr/>
        </p:nvGrpSpPr>
        <p:grpSpPr>
          <a:xfrm>
            <a:off x="8823647" y="6947956"/>
            <a:ext cx="424458" cy="424458"/>
            <a:chOff x="0" y="0"/>
            <a:chExt cx="565943" cy="565943"/>
          </a:xfrm>
        </p:grpSpPr>
        <p:sp>
          <p:nvSpPr>
            <p:cNvPr id="27" name="Freeform 27"/>
            <p:cNvSpPr/>
            <p:nvPr/>
          </p:nvSpPr>
          <p:spPr>
            <a:xfrm>
              <a:off x="12700" y="12700"/>
              <a:ext cx="540512" cy="540512"/>
            </a:xfrm>
            <a:custGeom>
              <a:avLst/>
              <a:gdLst/>
              <a:ahLst/>
              <a:cxnLst/>
              <a:rect l="l" t="t" r="r" b="b"/>
              <a:pathLst>
                <a:path w="540512" h="540512">
                  <a:moveTo>
                    <a:pt x="0" y="90805"/>
                  </a:moveTo>
                  <a:cubicBezTo>
                    <a:pt x="0" y="40640"/>
                    <a:pt x="40640" y="0"/>
                    <a:pt x="90805" y="0"/>
                  </a:cubicBezTo>
                  <a:lnTo>
                    <a:pt x="449707" y="0"/>
                  </a:lnTo>
                  <a:cubicBezTo>
                    <a:pt x="499872" y="0"/>
                    <a:pt x="540512" y="40640"/>
                    <a:pt x="540512" y="90805"/>
                  </a:cubicBezTo>
                  <a:lnTo>
                    <a:pt x="540512" y="449707"/>
                  </a:lnTo>
                  <a:cubicBezTo>
                    <a:pt x="540512" y="499872"/>
                    <a:pt x="499872" y="540512"/>
                    <a:pt x="449707" y="540512"/>
                  </a:cubicBezTo>
                  <a:lnTo>
                    <a:pt x="90805" y="540512"/>
                  </a:lnTo>
                  <a:cubicBezTo>
                    <a:pt x="40640" y="540512"/>
                    <a:pt x="0" y="499872"/>
                    <a:pt x="0" y="449707"/>
                  </a:cubicBezTo>
                  <a:close/>
                </a:path>
              </a:pathLst>
            </a:custGeom>
            <a:solidFill>
              <a:srgbClr val="FFFFFF"/>
            </a:solidFill>
          </p:spPr>
        </p:sp>
        <p:sp>
          <p:nvSpPr>
            <p:cNvPr id="28" name="Freeform 28"/>
            <p:cNvSpPr/>
            <p:nvPr/>
          </p:nvSpPr>
          <p:spPr>
            <a:xfrm>
              <a:off x="0" y="0"/>
              <a:ext cx="565912" cy="565912"/>
            </a:xfrm>
            <a:custGeom>
              <a:avLst/>
              <a:gdLst/>
              <a:ahLst/>
              <a:cxnLst/>
              <a:rect l="l" t="t" r="r" b="b"/>
              <a:pathLst>
                <a:path w="565912" h="565912">
                  <a:moveTo>
                    <a:pt x="0" y="103505"/>
                  </a:moveTo>
                  <a:cubicBezTo>
                    <a:pt x="0" y="46355"/>
                    <a:pt x="46355" y="0"/>
                    <a:pt x="103505" y="0"/>
                  </a:cubicBezTo>
                  <a:lnTo>
                    <a:pt x="462407" y="0"/>
                  </a:lnTo>
                  <a:lnTo>
                    <a:pt x="462407" y="12700"/>
                  </a:lnTo>
                  <a:lnTo>
                    <a:pt x="462407" y="0"/>
                  </a:lnTo>
                  <a:lnTo>
                    <a:pt x="462407" y="12700"/>
                  </a:lnTo>
                  <a:lnTo>
                    <a:pt x="462407" y="0"/>
                  </a:lnTo>
                  <a:cubicBezTo>
                    <a:pt x="519557" y="0"/>
                    <a:pt x="565912" y="46355"/>
                    <a:pt x="565912" y="103505"/>
                  </a:cubicBezTo>
                  <a:lnTo>
                    <a:pt x="553212" y="103505"/>
                  </a:lnTo>
                  <a:lnTo>
                    <a:pt x="565912" y="103505"/>
                  </a:lnTo>
                  <a:lnTo>
                    <a:pt x="565912" y="462407"/>
                  </a:lnTo>
                  <a:lnTo>
                    <a:pt x="553212" y="462407"/>
                  </a:lnTo>
                  <a:lnTo>
                    <a:pt x="565912" y="462407"/>
                  </a:lnTo>
                  <a:cubicBezTo>
                    <a:pt x="565912" y="519557"/>
                    <a:pt x="519557" y="565912"/>
                    <a:pt x="462407" y="565912"/>
                  </a:cubicBezTo>
                  <a:lnTo>
                    <a:pt x="462407" y="553212"/>
                  </a:lnTo>
                  <a:lnTo>
                    <a:pt x="462407" y="565912"/>
                  </a:lnTo>
                  <a:lnTo>
                    <a:pt x="103505" y="565912"/>
                  </a:lnTo>
                  <a:lnTo>
                    <a:pt x="103505" y="553212"/>
                  </a:lnTo>
                  <a:lnTo>
                    <a:pt x="103505" y="565912"/>
                  </a:lnTo>
                  <a:cubicBezTo>
                    <a:pt x="46355" y="565912"/>
                    <a:pt x="0" y="519557"/>
                    <a:pt x="0" y="462407"/>
                  </a:cubicBezTo>
                  <a:lnTo>
                    <a:pt x="0" y="103505"/>
                  </a:lnTo>
                  <a:lnTo>
                    <a:pt x="12700" y="103505"/>
                  </a:lnTo>
                  <a:lnTo>
                    <a:pt x="0" y="103505"/>
                  </a:lnTo>
                  <a:moveTo>
                    <a:pt x="25400" y="103505"/>
                  </a:moveTo>
                  <a:lnTo>
                    <a:pt x="25400" y="462407"/>
                  </a:lnTo>
                  <a:lnTo>
                    <a:pt x="12700" y="462407"/>
                  </a:lnTo>
                  <a:lnTo>
                    <a:pt x="25400" y="462407"/>
                  </a:lnTo>
                  <a:cubicBezTo>
                    <a:pt x="25400" y="505587"/>
                    <a:pt x="60325" y="540512"/>
                    <a:pt x="103505" y="540512"/>
                  </a:cubicBezTo>
                  <a:lnTo>
                    <a:pt x="462407" y="540512"/>
                  </a:lnTo>
                  <a:cubicBezTo>
                    <a:pt x="505587" y="540512"/>
                    <a:pt x="540512" y="505587"/>
                    <a:pt x="540512" y="462407"/>
                  </a:cubicBezTo>
                  <a:lnTo>
                    <a:pt x="540512" y="103505"/>
                  </a:lnTo>
                  <a:cubicBezTo>
                    <a:pt x="540512" y="60325"/>
                    <a:pt x="505587" y="25400"/>
                    <a:pt x="462407" y="25400"/>
                  </a:cubicBezTo>
                  <a:lnTo>
                    <a:pt x="103505" y="25400"/>
                  </a:lnTo>
                  <a:lnTo>
                    <a:pt x="103505" y="12700"/>
                  </a:lnTo>
                  <a:lnTo>
                    <a:pt x="103505" y="25400"/>
                  </a:lnTo>
                  <a:cubicBezTo>
                    <a:pt x="60325" y="25400"/>
                    <a:pt x="25400" y="60325"/>
                    <a:pt x="25400" y="103505"/>
                  </a:cubicBezTo>
                  <a:close/>
                </a:path>
              </a:pathLst>
            </a:custGeom>
            <a:solidFill>
              <a:srgbClr val="C0C1D7"/>
            </a:solidFill>
          </p:spPr>
        </p:sp>
      </p:grpSp>
      <p:sp>
        <p:nvSpPr>
          <p:cNvPr id="29" name="Freeform 29" descr="preencoded.png"/>
          <p:cNvSpPr/>
          <p:nvPr/>
        </p:nvSpPr>
        <p:spPr>
          <a:xfrm>
            <a:off x="8934524" y="7058684"/>
            <a:ext cx="202704" cy="202704"/>
          </a:xfrm>
          <a:custGeom>
            <a:avLst/>
            <a:gdLst/>
            <a:ahLst/>
            <a:cxnLst/>
            <a:rect l="l" t="t" r="r" b="b"/>
            <a:pathLst>
              <a:path w="202704" h="202704">
                <a:moveTo>
                  <a:pt x="0" y="0"/>
                </a:moveTo>
                <a:lnTo>
                  <a:pt x="202703" y="0"/>
                </a:lnTo>
                <a:lnTo>
                  <a:pt x="202703" y="202704"/>
                </a:lnTo>
                <a:lnTo>
                  <a:pt x="0" y="2027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0" name="Group 30"/>
          <p:cNvGrpSpPr/>
          <p:nvPr/>
        </p:nvGrpSpPr>
        <p:grpSpPr>
          <a:xfrm>
            <a:off x="469031" y="7627356"/>
            <a:ext cx="8566845" cy="934194"/>
            <a:chOff x="0" y="0"/>
            <a:chExt cx="11422460" cy="1245592"/>
          </a:xfrm>
        </p:grpSpPr>
        <p:sp>
          <p:nvSpPr>
            <p:cNvPr id="31" name="Freeform 31"/>
            <p:cNvSpPr/>
            <p:nvPr/>
          </p:nvSpPr>
          <p:spPr>
            <a:xfrm>
              <a:off x="0" y="0"/>
              <a:ext cx="11422507" cy="1245616"/>
            </a:xfrm>
            <a:custGeom>
              <a:avLst/>
              <a:gdLst/>
              <a:ahLst/>
              <a:cxnLst/>
              <a:rect l="l" t="t" r="r" b="b"/>
              <a:pathLst>
                <a:path w="11422507" h="1245616">
                  <a:moveTo>
                    <a:pt x="0" y="0"/>
                  </a:moveTo>
                  <a:lnTo>
                    <a:pt x="11422507" y="0"/>
                  </a:lnTo>
                  <a:lnTo>
                    <a:pt x="11422507" y="1245616"/>
                  </a:lnTo>
                  <a:lnTo>
                    <a:pt x="0" y="1245616"/>
                  </a:lnTo>
                  <a:close/>
                </a:path>
              </a:pathLst>
            </a:custGeom>
            <a:solidFill>
              <a:srgbClr val="DADBF1"/>
            </a:solidFill>
          </p:spPr>
        </p:sp>
      </p:grpSp>
      <p:grpSp>
        <p:nvGrpSpPr>
          <p:cNvPr id="32" name="Group 32"/>
          <p:cNvGrpSpPr/>
          <p:nvPr/>
        </p:nvGrpSpPr>
        <p:grpSpPr>
          <a:xfrm>
            <a:off x="469031" y="7627356"/>
            <a:ext cx="8566845" cy="19050"/>
            <a:chOff x="0" y="0"/>
            <a:chExt cx="11422460" cy="25400"/>
          </a:xfrm>
        </p:grpSpPr>
        <p:sp>
          <p:nvSpPr>
            <p:cNvPr id="33" name="Freeform 33"/>
            <p:cNvSpPr/>
            <p:nvPr/>
          </p:nvSpPr>
          <p:spPr>
            <a:xfrm>
              <a:off x="0" y="0"/>
              <a:ext cx="11422507" cy="25400"/>
            </a:xfrm>
            <a:custGeom>
              <a:avLst/>
              <a:gdLst/>
              <a:ahLst/>
              <a:cxnLst/>
              <a:rect l="l" t="t" r="r" b="b"/>
              <a:pathLst>
                <a:path w="11422507" h="25400">
                  <a:moveTo>
                    <a:pt x="0" y="12700"/>
                  </a:moveTo>
                  <a:cubicBezTo>
                    <a:pt x="0" y="5715"/>
                    <a:pt x="5715" y="0"/>
                    <a:pt x="12700" y="0"/>
                  </a:cubicBezTo>
                  <a:lnTo>
                    <a:pt x="11409807" y="0"/>
                  </a:lnTo>
                  <a:cubicBezTo>
                    <a:pt x="11416792" y="0"/>
                    <a:pt x="11422507" y="5715"/>
                    <a:pt x="11422507" y="12700"/>
                  </a:cubicBezTo>
                  <a:cubicBezTo>
                    <a:pt x="11422507" y="19685"/>
                    <a:pt x="11416792" y="25400"/>
                    <a:pt x="11409807" y="25400"/>
                  </a:cubicBezTo>
                  <a:lnTo>
                    <a:pt x="12700" y="25400"/>
                  </a:lnTo>
                  <a:cubicBezTo>
                    <a:pt x="5715" y="25400"/>
                    <a:pt x="0" y="19685"/>
                    <a:pt x="0" y="12700"/>
                  </a:cubicBezTo>
                  <a:close/>
                </a:path>
              </a:pathLst>
            </a:custGeom>
            <a:solidFill>
              <a:srgbClr val="C0C1D7"/>
            </a:solidFill>
          </p:spPr>
        </p:sp>
      </p:grpSp>
      <p:sp>
        <p:nvSpPr>
          <p:cNvPr id="34" name="TextBox 34"/>
          <p:cNvSpPr txBox="1"/>
          <p:nvPr/>
        </p:nvSpPr>
        <p:spPr>
          <a:xfrm>
            <a:off x="631105" y="7779905"/>
            <a:ext cx="2136130" cy="262830"/>
          </a:xfrm>
          <a:prstGeom prst="rect">
            <a:avLst/>
          </a:prstGeom>
        </p:spPr>
        <p:txBody>
          <a:bodyPr lIns="0" tIns="0" rIns="0" bIns="0" rtlCol="0" anchor="t">
            <a:spAutoFit/>
          </a:bodyPr>
          <a:lstStyle/>
          <a:p>
            <a:pPr algn="l">
              <a:lnSpc>
                <a:spcPts val="1937"/>
              </a:lnSpc>
            </a:pPr>
            <a:r>
              <a:rPr lang="en-US" sz="1562" b="1">
                <a:solidFill>
                  <a:srgbClr val="272525"/>
                </a:solidFill>
                <a:latin typeface="Inter Bold"/>
                <a:ea typeface="Inter Bold"/>
                <a:cs typeface="Inter Bold"/>
                <a:sym typeface="Inter Bold"/>
              </a:rPr>
              <a:t>Automated Validation</a:t>
            </a:r>
          </a:p>
        </p:txBody>
      </p:sp>
      <p:sp>
        <p:nvSpPr>
          <p:cNvPr id="35" name="TextBox 35"/>
          <p:cNvSpPr txBox="1"/>
          <p:nvPr/>
        </p:nvSpPr>
        <p:spPr>
          <a:xfrm>
            <a:off x="631105" y="8092295"/>
            <a:ext cx="7999362" cy="240643"/>
          </a:xfrm>
          <a:prstGeom prst="rect">
            <a:avLst/>
          </a:prstGeom>
        </p:spPr>
        <p:txBody>
          <a:bodyPr lIns="0" tIns="0" rIns="0" bIns="0" rtlCol="0" anchor="t">
            <a:spAutoFit/>
          </a:bodyPr>
          <a:lstStyle/>
          <a:p>
            <a:pPr algn="l">
              <a:lnSpc>
                <a:spcPts val="2000"/>
              </a:lnSpc>
            </a:pPr>
            <a:r>
              <a:rPr lang="en-US" sz="1600" dirty="0">
                <a:solidFill>
                  <a:srgbClr val="272525"/>
                </a:solidFill>
                <a:latin typeface="Inter"/>
                <a:ea typeface="Inter"/>
                <a:cs typeface="Inter"/>
                <a:sym typeface="Inter"/>
              </a:rPr>
              <a:t>Real-time verification against regulatory requirements and technical standards</a:t>
            </a:r>
          </a:p>
        </p:txBody>
      </p:sp>
      <p:grpSp>
        <p:nvGrpSpPr>
          <p:cNvPr id="36" name="Group 36"/>
          <p:cNvGrpSpPr/>
          <p:nvPr/>
        </p:nvGrpSpPr>
        <p:grpSpPr>
          <a:xfrm>
            <a:off x="9035876" y="7627356"/>
            <a:ext cx="8566845" cy="934194"/>
            <a:chOff x="0" y="0"/>
            <a:chExt cx="11422460" cy="1245592"/>
          </a:xfrm>
        </p:grpSpPr>
        <p:sp>
          <p:nvSpPr>
            <p:cNvPr id="37" name="Freeform 37"/>
            <p:cNvSpPr/>
            <p:nvPr/>
          </p:nvSpPr>
          <p:spPr>
            <a:xfrm>
              <a:off x="0" y="0"/>
              <a:ext cx="11422507" cy="1245616"/>
            </a:xfrm>
            <a:custGeom>
              <a:avLst/>
              <a:gdLst/>
              <a:ahLst/>
              <a:cxnLst/>
              <a:rect l="l" t="t" r="r" b="b"/>
              <a:pathLst>
                <a:path w="11422507" h="1245616">
                  <a:moveTo>
                    <a:pt x="0" y="0"/>
                  </a:moveTo>
                  <a:lnTo>
                    <a:pt x="11422507" y="0"/>
                  </a:lnTo>
                  <a:lnTo>
                    <a:pt x="11422507" y="1245616"/>
                  </a:lnTo>
                  <a:lnTo>
                    <a:pt x="0" y="1245616"/>
                  </a:lnTo>
                  <a:close/>
                </a:path>
              </a:pathLst>
            </a:custGeom>
            <a:solidFill>
              <a:srgbClr val="DADBF1"/>
            </a:solidFill>
          </p:spPr>
        </p:sp>
      </p:grpSp>
      <p:grpSp>
        <p:nvGrpSpPr>
          <p:cNvPr id="38" name="Group 38"/>
          <p:cNvGrpSpPr/>
          <p:nvPr/>
        </p:nvGrpSpPr>
        <p:grpSpPr>
          <a:xfrm>
            <a:off x="9035876" y="7627356"/>
            <a:ext cx="19050" cy="934194"/>
            <a:chOff x="0" y="0"/>
            <a:chExt cx="25400" cy="1245592"/>
          </a:xfrm>
        </p:grpSpPr>
        <p:sp>
          <p:nvSpPr>
            <p:cNvPr id="39" name="Freeform 39"/>
            <p:cNvSpPr/>
            <p:nvPr/>
          </p:nvSpPr>
          <p:spPr>
            <a:xfrm>
              <a:off x="0" y="0"/>
              <a:ext cx="25400" cy="1245616"/>
            </a:xfrm>
            <a:custGeom>
              <a:avLst/>
              <a:gdLst/>
              <a:ahLst/>
              <a:cxnLst/>
              <a:rect l="l" t="t" r="r" b="b"/>
              <a:pathLst>
                <a:path w="25400" h="1245616">
                  <a:moveTo>
                    <a:pt x="0" y="12700"/>
                  </a:moveTo>
                  <a:cubicBezTo>
                    <a:pt x="0" y="5715"/>
                    <a:pt x="5715" y="0"/>
                    <a:pt x="12700" y="0"/>
                  </a:cubicBezTo>
                  <a:cubicBezTo>
                    <a:pt x="19685" y="0"/>
                    <a:pt x="25400" y="5715"/>
                    <a:pt x="25400" y="12700"/>
                  </a:cubicBezTo>
                  <a:lnTo>
                    <a:pt x="25400" y="1232916"/>
                  </a:lnTo>
                  <a:cubicBezTo>
                    <a:pt x="25400" y="1239901"/>
                    <a:pt x="19685" y="1245616"/>
                    <a:pt x="12700" y="1245616"/>
                  </a:cubicBezTo>
                  <a:cubicBezTo>
                    <a:pt x="5715" y="1245616"/>
                    <a:pt x="0" y="1239901"/>
                    <a:pt x="0" y="1232916"/>
                  </a:cubicBezTo>
                  <a:close/>
                </a:path>
              </a:pathLst>
            </a:custGeom>
            <a:solidFill>
              <a:srgbClr val="C0C1D7"/>
            </a:solidFill>
          </p:spPr>
        </p:sp>
      </p:grpSp>
      <p:grpSp>
        <p:nvGrpSpPr>
          <p:cNvPr id="40" name="Group 40"/>
          <p:cNvGrpSpPr/>
          <p:nvPr/>
        </p:nvGrpSpPr>
        <p:grpSpPr>
          <a:xfrm>
            <a:off x="9035876" y="7627356"/>
            <a:ext cx="8566845" cy="19050"/>
            <a:chOff x="0" y="0"/>
            <a:chExt cx="11422460" cy="25400"/>
          </a:xfrm>
        </p:grpSpPr>
        <p:sp>
          <p:nvSpPr>
            <p:cNvPr id="41" name="Freeform 41"/>
            <p:cNvSpPr/>
            <p:nvPr/>
          </p:nvSpPr>
          <p:spPr>
            <a:xfrm>
              <a:off x="0" y="0"/>
              <a:ext cx="11422507" cy="25400"/>
            </a:xfrm>
            <a:custGeom>
              <a:avLst/>
              <a:gdLst/>
              <a:ahLst/>
              <a:cxnLst/>
              <a:rect l="l" t="t" r="r" b="b"/>
              <a:pathLst>
                <a:path w="11422507" h="25400">
                  <a:moveTo>
                    <a:pt x="0" y="12700"/>
                  </a:moveTo>
                  <a:cubicBezTo>
                    <a:pt x="0" y="5715"/>
                    <a:pt x="5715" y="0"/>
                    <a:pt x="12700" y="0"/>
                  </a:cubicBezTo>
                  <a:lnTo>
                    <a:pt x="11409807" y="0"/>
                  </a:lnTo>
                  <a:cubicBezTo>
                    <a:pt x="11416792" y="0"/>
                    <a:pt x="11422507" y="5715"/>
                    <a:pt x="11422507" y="12700"/>
                  </a:cubicBezTo>
                  <a:cubicBezTo>
                    <a:pt x="11422507" y="19685"/>
                    <a:pt x="11416792" y="25400"/>
                    <a:pt x="11409807" y="25400"/>
                  </a:cubicBezTo>
                  <a:lnTo>
                    <a:pt x="12700" y="25400"/>
                  </a:lnTo>
                  <a:cubicBezTo>
                    <a:pt x="5715" y="25400"/>
                    <a:pt x="0" y="19685"/>
                    <a:pt x="0" y="12700"/>
                  </a:cubicBezTo>
                  <a:close/>
                </a:path>
              </a:pathLst>
            </a:custGeom>
            <a:solidFill>
              <a:srgbClr val="C0C1D7"/>
            </a:solidFill>
          </p:spPr>
        </p:sp>
      </p:grpSp>
      <p:sp>
        <p:nvSpPr>
          <p:cNvPr id="42" name="TextBox 42"/>
          <p:cNvSpPr txBox="1"/>
          <p:nvPr/>
        </p:nvSpPr>
        <p:spPr>
          <a:xfrm>
            <a:off x="9441284" y="7779905"/>
            <a:ext cx="2027635" cy="262830"/>
          </a:xfrm>
          <a:prstGeom prst="rect">
            <a:avLst/>
          </a:prstGeom>
        </p:spPr>
        <p:txBody>
          <a:bodyPr lIns="0" tIns="0" rIns="0" bIns="0" rtlCol="0" anchor="t">
            <a:spAutoFit/>
          </a:bodyPr>
          <a:lstStyle/>
          <a:p>
            <a:pPr algn="l">
              <a:lnSpc>
                <a:spcPts val="1937"/>
              </a:lnSpc>
            </a:pPr>
            <a:r>
              <a:rPr lang="en-US" sz="1562" b="1">
                <a:solidFill>
                  <a:srgbClr val="272525"/>
                </a:solidFill>
                <a:latin typeface="Inter Bold"/>
                <a:ea typeface="Inter Bold"/>
                <a:cs typeface="Inter Bold"/>
                <a:sym typeface="Inter Bold"/>
              </a:rPr>
              <a:t>Smart Extraction</a:t>
            </a:r>
          </a:p>
        </p:txBody>
      </p:sp>
      <p:sp>
        <p:nvSpPr>
          <p:cNvPr id="43" name="TextBox 43"/>
          <p:cNvSpPr txBox="1"/>
          <p:nvPr/>
        </p:nvSpPr>
        <p:spPr>
          <a:xfrm>
            <a:off x="9441284" y="8092295"/>
            <a:ext cx="7999362" cy="240643"/>
          </a:xfrm>
          <a:prstGeom prst="rect">
            <a:avLst/>
          </a:prstGeom>
        </p:spPr>
        <p:txBody>
          <a:bodyPr lIns="0" tIns="0" rIns="0" bIns="0" rtlCol="0" anchor="t">
            <a:spAutoFit/>
          </a:bodyPr>
          <a:lstStyle/>
          <a:p>
            <a:pPr algn="l">
              <a:lnSpc>
                <a:spcPts val="2000"/>
              </a:lnSpc>
            </a:pPr>
            <a:r>
              <a:rPr lang="en-US" sz="1600" dirty="0">
                <a:solidFill>
                  <a:srgbClr val="272525"/>
                </a:solidFill>
                <a:latin typeface="Inter"/>
                <a:ea typeface="Inter"/>
                <a:cs typeface="Inter"/>
                <a:sym typeface="Inter"/>
              </a:rPr>
              <a:t>Intelligent parsing of technical specifications and key data points</a:t>
            </a:r>
          </a:p>
        </p:txBody>
      </p:sp>
      <p:grpSp>
        <p:nvGrpSpPr>
          <p:cNvPr id="44" name="Group 44"/>
          <p:cNvGrpSpPr/>
          <p:nvPr/>
        </p:nvGrpSpPr>
        <p:grpSpPr>
          <a:xfrm>
            <a:off x="8823647" y="7882150"/>
            <a:ext cx="424458" cy="424458"/>
            <a:chOff x="0" y="0"/>
            <a:chExt cx="565943" cy="565943"/>
          </a:xfrm>
        </p:grpSpPr>
        <p:sp>
          <p:nvSpPr>
            <p:cNvPr id="45" name="Freeform 45"/>
            <p:cNvSpPr/>
            <p:nvPr/>
          </p:nvSpPr>
          <p:spPr>
            <a:xfrm>
              <a:off x="12700" y="12700"/>
              <a:ext cx="540512" cy="540512"/>
            </a:xfrm>
            <a:custGeom>
              <a:avLst/>
              <a:gdLst/>
              <a:ahLst/>
              <a:cxnLst/>
              <a:rect l="l" t="t" r="r" b="b"/>
              <a:pathLst>
                <a:path w="540512" h="540512">
                  <a:moveTo>
                    <a:pt x="0" y="90805"/>
                  </a:moveTo>
                  <a:cubicBezTo>
                    <a:pt x="0" y="40640"/>
                    <a:pt x="40640" y="0"/>
                    <a:pt x="90805" y="0"/>
                  </a:cubicBezTo>
                  <a:lnTo>
                    <a:pt x="449707" y="0"/>
                  </a:lnTo>
                  <a:cubicBezTo>
                    <a:pt x="499872" y="0"/>
                    <a:pt x="540512" y="40640"/>
                    <a:pt x="540512" y="90805"/>
                  </a:cubicBezTo>
                  <a:lnTo>
                    <a:pt x="540512" y="449707"/>
                  </a:lnTo>
                  <a:cubicBezTo>
                    <a:pt x="540512" y="499872"/>
                    <a:pt x="499872" y="540512"/>
                    <a:pt x="449707" y="540512"/>
                  </a:cubicBezTo>
                  <a:lnTo>
                    <a:pt x="90805" y="540512"/>
                  </a:lnTo>
                  <a:cubicBezTo>
                    <a:pt x="40640" y="540512"/>
                    <a:pt x="0" y="499872"/>
                    <a:pt x="0" y="449707"/>
                  </a:cubicBezTo>
                  <a:close/>
                </a:path>
              </a:pathLst>
            </a:custGeom>
            <a:solidFill>
              <a:srgbClr val="FFFFFF"/>
            </a:solidFill>
          </p:spPr>
        </p:sp>
        <p:sp>
          <p:nvSpPr>
            <p:cNvPr id="46" name="Freeform 46"/>
            <p:cNvSpPr/>
            <p:nvPr/>
          </p:nvSpPr>
          <p:spPr>
            <a:xfrm>
              <a:off x="0" y="0"/>
              <a:ext cx="565912" cy="565912"/>
            </a:xfrm>
            <a:custGeom>
              <a:avLst/>
              <a:gdLst/>
              <a:ahLst/>
              <a:cxnLst/>
              <a:rect l="l" t="t" r="r" b="b"/>
              <a:pathLst>
                <a:path w="565912" h="565912">
                  <a:moveTo>
                    <a:pt x="0" y="103505"/>
                  </a:moveTo>
                  <a:cubicBezTo>
                    <a:pt x="0" y="46355"/>
                    <a:pt x="46355" y="0"/>
                    <a:pt x="103505" y="0"/>
                  </a:cubicBezTo>
                  <a:lnTo>
                    <a:pt x="462407" y="0"/>
                  </a:lnTo>
                  <a:lnTo>
                    <a:pt x="462407" y="12700"/>
                  </a:lnTo>
                  <a:lnTo>
                    <a:pt x="462407" y="0"/>
                  </a:lnTo>
                  <a:lnTo>
                    <a:pt x="462407" y="12700"/>
                  </a:lnTo>
                  <a:lnTo>
                    <a:pt x="462407" y="0"/>
                  </a:lnTo>
                  <a:cubicBezTo>
                    <a:pt x="519557" y="0"/>
                    <a:pt x="565912" y="46355"/>
                    <a:pt x="565912" y="103505"/>
                  </a:cubicBezTo>
                  <a:lnTo>
                    <a:pt x="553212" y="103505"/>
                  </a:lnTo>
                  <a:lnTo>
                    <a:pt x="565912" y="103505"/>
                  </a:lnTo>
                  <a:lnTo>
                    <a:pt x="565912" y="462407"/>
                  </a:lnTo>
                  <a:lnTo>
                    <a:pt x="553212" y="462407"/>
                  </a:lnTo>
                  <a:lnTo>
                    <a:pt x="565912" y="462407"/>
                  </a:lnTo>
                  <a:cubicBezTo>
                    <a:pt x="565912" y="519557"/>
                    <a:pt x="519557" y="565912"/>
                    <a:pt x="462407" y="565912"/>
                  </a:cubicBezTo>
                  <a:lnTo>
                    <a:pt x="462407" y="553212"/>
                  </a:lnTo>
                  <a:lnTo>
                    <a:pt x="462407" y="565912"/>
                  </a:lnTo>
                  <a:lnTo>
                    <a:pt x="103505" y="565912"/>
                  </a:lnTo>
                  <a:lnTo>
                    <a:pt x="103505" y="553212"/>
                  </a:lnTo>
                  <a:lnTo>
                    <a:pt x="103505" y="565912"/>
                  </a:lnTo>
                  <a:cubicBezTo>
                    <a:pt x="46355" y="565912"/>
                    <a:pt x="0" y="519557"/>
                    <a:pt x="0" y="462407"/>
                  </a:cubicBezTo>
                  <a:lnTo>
                    <a:pt x="0" y="103505"/>
                  </a:lnTo>
                  <a:lnTo>
                    <a:pt x="12700" y="103505"/>
                  </a:lnTo>
                  <a:lnTo>
                    <a:pt x="0" y="103505"/>
                  </a:lnTo>
                  <a:moveTo>
                    <a:pt x="25400" y="103505"/>
                  </a:moveTo>
                  <a:lnTo>
                    <a:pt x="25400" y="462407"/>
                  </a:lnTo>
                  <a:lnTo>
                    <a:pt x="12700" y="462407"/>
                  </a:lnTo>
                  <a:lnTo>
                    <a:pt x="25400" y="462407"/>
                  </a:lnTo>
                  <a:cubicBezTo>
                    <a:pt x="25400" y="505587"/>
                    <a:pt x="60325" y="540512"/>
                    <a:pt x="103505" y="540512"/>
                  </a:cubicBezTo>
                  <a:lnTo>
                    <a:pt x="462407" y="540512"/>
                  </a:lnTo>
                  <a:cubicBezTo>
                    <a:pt x="505587" y="540512"/>
                    <a:pt x="540512" y="505587"/>
                    <a:pt x="540512" y="462407"/>
                  </a:cubicBezTo>
                  <a:lnTo>
                    <a:pt x="540512" y="103505"/>
                  </a:lnTo>
                  <a:cubicBezTo>
                    <a:pt x="540512" y="60325"/>
                    <a:pt x="505587" y="25400"/>
                    <a:pt x="462407" y="25400"/>
                  </a:cubicBezTo>
                  <a:lnTo>
                    <a:pt x="103505" y="25400"/>
                  </a:lnTo>
                  <a:lnTo>
                    <a:pt x="103505" y="12700"/>
                  </a:lnTo>
                  <a:lnTo>
                    <a:pt x="103505" y="25400"/>
                  </a:lnTo>
                  <a:cubicBezTo>
                    <a:pt x="60325" y="25400"/>
                    <a:pt x="25400" y="60325"/>
                    <a:pt x="25400" y="103505"/>
                  </a:cubicBezTo>
                  <a:close/>
                </a:path>
              </a:pathLst>
            </a:custGeom>
            <a:solidFill>
              <a:srgbClr val="C0C1D7"/>
            </a:solidFill>
          </p:spPr>
        </p:sp>
      </p:grpSp>
      <p:sp>
        <p:nvSpPr>
          <p:cNvPr id="47" name="Freeform 47" descr="preencoded.png"/>
          <p:cNvSpPr/>
          <p:nvPr/>
        </p:nvSpPr>
        <p:spPr>
          <a:xfrm>
            <a:off x="8934524" y="7992879"/>
            <a:ext cx="202704" cy="202704"/>
          </a:xfrm>
          <a:custGeom>
            <a:avLst/>
            <a:gdLst/>
            <a:ahLst/>
            <a:cxnLst/>
            <a:rect l="l" t="t" r="r" b="b"/>
            <a:pathLst>
              <a:path w="202704" h="202704">
                <a:moveTo>
                  <a:pt x="0" y="0"/>
                </a:moveTo>
                <a:lnTo>
                  <a:pt x="202703" y="0"/>
                </a:lnTo>
                <a:lnTo>
                  <a:pt x="202703" y="202703"/>
                </a:lnTo>
                <a:lnTo>
                  <a:pt x="0" y="202703"/>
                </a:lnTo>
                <a:lnTo>
                  <a:pt x="0" y="0"/>
                </a:lnTo>
                <a:close/>
              </a:path>
            </a:pathLst>
          </a:custGeom>
          <a:blipFill>
            <a:blip r:embed="rId5">
              <a:extLst>
                <a:ext uri="{96DAC541-7B7A-43D3-8B79-37D633B846F1}">
                  <asvg:svgBlip xmlns:asvg="http://schemas.microsoft.com/office/drawing/2016/SVG/main" r:embed="rId6"/>
                </a:ext>
              </a:extLst>
            </a:blip>
            <a:stretch>
              <a:fillRect t="-2272" b="-2272"/>
            </a:stretch>
          </a:blipFill>
        </p:spPr>
      </p:sp>
      <p:grpSp>
        <p:nvGrpSpPr>
          <p:cNvPr id="48" name="Group 48"/>
          <p:cNvGrpSpPr/>
          <p:nvPr/>
        </p:nvGrpSpPr>
        <p:grpSpPr>
          <a:xfrm>
            <a:off x="459506" y="8753539"/>
            <a:ext cx="17152739" cy="688925"/>
            <a:chOff x="0" y="0"/>
            <a:chExt cx="22870318" cy="918567"/>
          </a:xfrm>
        </p:grpSpPr>
        <p:sp>
          <p:nvSpPr>
            <p:cNvPr id="49" name="Freeform 49"/>
            <p:cNvSpPr/>
            <p:nvPr/>
          </p:nvSpPr>
          <p:spPr>
            <a:xfrm>
              <a:off x="0" y="0"/>
              <a:ext cx="22870288" cy="918591"/>
            </a:xfrm>
            <a:custGeom>
              <a:avLst/>
              <a:gdLst/>
              <a:ahLst/>
              <a:cxnLst/>
              <a:rect l="l" t="t" r="r" b="b"/>
              <a:pathLst>
                <a:path w="22870288" h="918591">
                  <a:moveTo>
                    <a:pt x="0" y="90805"/>
                  </a:moveTo>
                  <a:cubicBezTo>
                    <a:pt x="0" y="40640"/>
                    <a:pt x="40640" y="0"/>
                    <a:pt x="90805" y="0"/>
                  </a:cubicBezTo>
                  <a:lnTo>
                    <a:pt x="22779482" y="0"/>
                  </a:lnTo>
                  <a:cubicBezTo>
                    <a:pt x="22829647" y="0"/>
                    <a:pt x="22870288" y="40640"/>
                    <a:pt x="22870288" y="90805"/>
                  </a:cubicBezTo>
                  <a:lnTo>
                    <a:pt x="22870288" y="827786"/>
                  </a:lnTo>
                  <a:cubicBezTo>
                    <a:pt x="22870288" y="877951"/>
                    <a:pt x="22829647" y="918591"/>
                    <a:pt x="22779482" y="918591"/>
                  </a:cubicBezTo>
                  <a:lnTo>
                    <a:pt x="90805" y="918591"/>
                  </a:lnTo>
                  <a:cubicBezTo>
                    <a:pt x="40640" y="918591"/>
                    <a:pt x="0" y="877951"/>
                    <a:pt x="0" y="827786"/>
                  </a:cubicBezTo>
                  <a:close/>
                </a:path>
              </a:pathLst>
            </a:custGeom>
            <a:solidFill>
              <a:srgbClr val="C7C9EA"/>
            </a:solidFill>
          </p:spPr>
        </p:sp>
      </p:grpSp>
      <p:grpSp>
        <p:nvGrpSpPr>
          <p:cNvPr id="50" name="Group 50"/>
          <p:cNvGrpSpPr/>
          <p:nvPr/>
        </p:nvGrpSpPr>
        <p:grpSpPr>
          <a:xfrm>
            <a:off x="621580" y="8995236"/>
            <a:ext cx="202704" cy="162074"/>
            <a:chOff x="0" y="0"/>
            <a:chExt cx="270272" cy="216098"/>
          </a:xfrm>
        </p:grpSpPr>
        <p:sp>
          <p:nvSpPr>
            <p:cNvPr id="51" name="Freeform 51" descr="preencoded.png"/>
            <p:cNvSpPr/>
            <p:nvPr/>
          </p:nvSpPr>
          <p:spPr>
            <a:xfrm>
              <a:off x="0" y="0"/>
              <a:ext cx="270256" cy="216154"/>
            </a:xfrm>
            <a:custGeom>
              <a:avLst/>
              <a:gdLst/>
              <a:ahLst/>
              <a:cxnLst/>
              <a:rect l="l" t="t" r="r" b="b"/>
              <a:pathLst>
                <a:path w="270256" h="216154">
                  <a:moveTo>
                    <a:pt x="0" y="0"/>
                  </a:moveTo>
                  <a:lnTo>
                    <a:pt x="270256" y="0"/>
                  </a:lnTo>
                  <a:lnTo>
                    <a:pt x="270256" y="216154"/>
                  </a:lnTo>
                  <a:lnTo>
                    <a:pt x="0" y="216154"/>
                  </a:lnTo>
                  <a:lnTo>
                    <a:pt x="0" y="0"/>
                  </a:lnTo>
                  <a:close/>
                </a:path>
              </a:pathLst>
            </a:custGeom>
            <a:blipFill>
              <a:blip r:embed="rId7"/>
              <a:stretch>
                <a:fillRect t="-622" r="-5" b="-597"/>
              </a:stretch>
            </a:blipFill>
          </p:spPr>
        </p:sp>
      </p:grpSp>
      <p:sp>
        <p:nvSpPr>
          <p:cNvPr id="52" name="TextBox 52"/>
          <p:cNvSpPr txBox="1"/>
          <p:nvPr/>
        </p:nvSpPr>
        <p:spPr>
          <a:xfrm>
            <a:off x="986359" y="8908469"/>
            <a:ext cx="16463814" cy="521233"/>
          </a:xfrm>
          <a:prstGeom prst="rect">
            <a:avLst/>
          </a:prstGeom>
        </p:spPr>
        <p:txBody>
          <a:bodyPr lIns="0" tIns="0" rIns="0" bIns="0" rtlCol="0" anchor="t">
            <a:spAutoFit/>
          </a:bodyPr>
          <a:lstStyle/>
          <a:p>
            <a:pPr algn="l">
              <a:lnSpc>
                <a:spcPts val="2000"/>
              </a:lnSpc>
            </a:pPr>
            <a:r>
              <a:rPr lang="en-US" sz="2400" b="1" dirty="0">
                <a:solidFill>
                  <a:srgbClr val="000000"/>
                </a:solidFill>
                <a:latin typeface="Inter Bold"/>
                <a:ea typeface="Inter Bold"/>
                <a:cs typeface="Inter Bold"/>
                <a:sym typeface="Inter Bold"/>
              </a:rPr>
              <a:t>Expected Impact:</a:t>
            </a:r>
            <a:r>
              <a:rPr lang="en-US" sz="2400" dirty="0">
                <a:solidFill>
                  <a:srgbClr val="000000"/>
                </a:solidFill>
                <a:latin typeface="Inter"/>
                <a:ea typeface="Inter"/>
                <a:cs typeface="Inter"/>
                <a:sym typeface="Inter"/>
              </a:rPr>
              <a:t> 70-80% reduction in review time with 90%+ accuracy rates, achievable within 6-12 months of implementation.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808732" y="609451"/>
            <a:ext cx="13004899" cy="750689"/>
          </a:xfrm>
          <a:prstGeom prst="rect">
            <a:avLst/>
          </a:prstGeom>
        </p:spPr>
        <p:txBody>
          <a:bodyPr lIns="0" tIns="0" rIns="0" bIns="0" rtlCol="0" anchor="t">
            <a:spAutoFit/>
          </a:bodyPr>
          <a:lstStyle/>
          <a:p>
            <a:pPr algn="l">
              <a:lnSpc>
                <a:spcPts val="5625"/>
              </a:lnSpc>
            </a:pPr>
            <a:r>
              <a:rPr lang="en-US" sz="4499" b="1">
                <a:solidFill>
                  <a:srgbClr val="000000"/>
                </a:solidFill>
                <a:latin typeface="Inter Bold"/>
                <a:ea typeface="Inter Bold"/>
                <a:cs typeface="Inter Bold"/>
                <a:sym typeface="Inter Bold"/>
              </a:rPr>
              <a:t>AI Approach: Intelligent Document Processing</a:t>
            </a:r>
          </a:p>
        </p:txBody>
      </p:sp>
      <p:sp>
        <p:nvSpPr>
          <p:cNvPr id="7" name="TextBox 7"/>
          <p:cNvSpPr txBox="1"/>
          <p:nvPr/>
        </p:nvSpPr>
        <p:spPr>
          <a:xfrm>
            <a:off x="808732" y="1443037"/>
            <a:ext cx="7060406" cy="442764"/>
          </a:xfrm>
          <a:prstGeom prst="rect">
            <a:avLst/>
          </a:prstGeom>
        </p:spPr>
        <p:txBody>
          <a:bodyPr lIns="0" tIns="0" rIns="0" bIns="0" rtlCol="0" anchor="t">
            <a:spAutoFit/>
          </a:bodyPr>
          <a:lstStyle/>
          <a:p>
            <a:pPr algn="l">
              <a:lnSpc>
                <a:spcPts val="3374"/>
              </a:lnSpc>
            </a:pPr>
            <a:r>
              <a:rPr lang="en-US" sz="2687" b="1">
                <a:solidFill>
                  <a:srgbClr val="000000"/>
                </a:solidFill>
                <a:latin typeface="Inter Bold"/>
                <a:ea typeface="Inter Bold"/>
                <a:cs typeface="Inter Bold"/>
                <a:sym typeface="Inter Bold"/>
              </a:rPr>
              <a:t>RAG-Powered Application Review System</a:t>
            </a:r>
          </a:p>
        </p:txBody>
      </p:sp>
      <p:grpSp>
        <p:nvGrpSpPr>
          <p:cNvPr id="8" name="Group 8"/>
          <p:cNvGrpSpPr/>
          <p:nvPr/>
        </p:nvGrpSpPr>
        <p:grpSpPr>
          <a:xfrm>
            <a:off x="808732" y="2232422"/>
            <a:ext cx="8335267" cy="924371"/>
            <a:chOff x="0" y="0"/>
            <a:chExt cx="11113690" cy="1232495"/>
          </a:xfrm>
        </p:grpSpPr>
        <p:sp>
          <p:nvSpPr>
            <p:cNvPr id="9" name="Freeform 9" descr="preencoded.png"/>
            <p:cNvSpPr/>
            <p:nvPr/>
          </p:nvSpPr>
          <p:spPr>
            <a:xfrm>
              <a:off x="0" y="0"/>
              <a:ext cx="11113643" cy="1232535"/>
            </a:xfrm>
            <a:custGeom>
              <a:avLst/>
              <a:gdLst/>
              <a:ahLst/>
              <a:cxnLst/>
              <a:rect l="l" t="t" r="r" b="b"/>
              <a:pathLst>
                <a:path w="11113643" h="1232535">
                  <a:moveTo>
                    <a:pt x="0" y="0"/>
                  </a:moveTo>
                  <a:lnTo>
                    <a:pt x="11113643" y="0"/>
                  </a:lnTo>
                  <a:lnTo>
                    <a:pt x="11113643" y="1232535"/>
                  </a:lnTo>
                  <a:lnTo>
                    <a:pt x="0" y="1232535"/>
                  </a:lnTo>
                  <a:lnTo>
                    <a:pt x="0" y="0"/>
                  </a:lnTo>
                  <a:close/>
                </a:path>
              </a:pathLst>
            </a:custGeom>
            <a:blipFill>
              <a:blip r:embed="rId2"/>
              <a:stretch>
                <a:fillRect l="-18" r="-19" b="3"/>
              </a:stretch>
            </a:blipFill>
          </p:spPr>
        </p:sp>
      </p:grpSp>
      <p:sp>
        <p:nvSpPr>
          <p:cNvPr id="10" name="TextBox 10"/>
          <p:cNvSpPr txBox="1"/>
          <p:nvPr/>
        </p:nvSpPr>
        <p:spPr>
          <a:xfrm>
            <a:off x="1039714" y="3368725"/>
            <a:ext cx="2888754" cy="380107"/>
          </a:xfrm>
          <a:prstGeom prst="rect">
            <a:avLst/>
          </a:prstGeom>
        </p:spPr>
        <p:txBody>
          <a:bodyPr lIns="0" tIns="0" rIns="0" bIns="0" rtlCol="0" anchor="t">
            <a:spAutoFit/>
          </a:bodyPr>
          <a:lstStyle/>
          <a:p>
            <a:pPr algn="l">
              <a:lnSpc>
                <a:spcPts val="2812"/>
              </a:lnSpc>
            </a:pPr>
            <a:r>
              <a:rPr lang="en-US" sz="2249" b="1">
                <a:solidFill>
                  <a:srgbClr val="272525"/>
                </a:solidFill>
                <a:latin typeface="Inter Bold"/>
                <a:ea typeface="Inter Bold"/>
                <a:cs typeface="Inter Bold"/>
                <a:sym typeface="Inter Bold"/>
              </a:rPr>
              <a:t>Document Ingestion</a:t>
            </a:r>
          </a:p>
        </p:txBody>
      </p:sp>
      <p:sp>
        <p:nvSpPr>
          <p:cNvPr id="11" name="TextBox 11"/>
          <p:cNvSpPr txBox="1"/>
          <p:nvPr/>
        </p:nvSpPr>
        <p:spPr>
          <a:xfrm>
            <a:off x="1039714" y="3820716"/>
            <a:ext cx="7873305" cy="806054"/>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PDF and Word parsing, OCR for scanned documents, automated metadata extraction</a:t>
            </a:r>
          </a:p>
        </p:txBody>
      </p:sp>
      <p:sp>
        <p:nvSpPr>
          <p:cNvPr id="12" name="TextBox 12"/>
          <p:cNvSpPr txBox="1"/>
          <p:nvPr/>
        </p:nvSpPr>
        <p:spPr>
          <a:xfrm>
            <a:off x="1039714" y="4698652"/>
            <a:ext cx="7873305" cy="436364"/>
          </a:xfrm>
          <a:prstGeom prst="rect">
            <a:avLst/>
          </a:prstGeom>
        </p:spPr>
        <p:txBody>
          <a:bodyPr lIns="0" tIns="0" rIns="0" bIns="0" rtlCol="0" anchor="t">
            <a:spAutoFit/>
          </a:bodyPr>
          <a:lstStyle/>
          <a:p>
            <a:pPr algn="l">
              <a:lnSpc>
                <a:spcPts val="2875"/>
              </a:lnSpc>
            </a:pPr>
            <a:r>
              <a:rPr lang="en-US" sz="1812" i="1">
                <a:solidFill>
                  <a:srgbClr val="272525"/>
                </a:solidFill>
                <a:latin typeface="Inter Italics"/>
                <a:ea typeface="Inter Italics"/>
                <a:cs typeface="Inter Italics"/>
                <a:sym typeface="Inter Italics"/>
              </a:rPr>
              <a:t>Tech: LangChain, PyPDF</a:t>
            </a:r>
          </a:p>
        </p:txBody>
      </p:sp>
      <p:grpSp>
        <p:nvGrpSpPr>
          <p:cNvPr id="13" name="Group 13"/>
          <p:cNvGrpSpPr/>
          <p:nvPr/>
        </p:nvGrpSpPr>
        <p:grpSpPr>
          <a:xfrm>
            <a:off x="9144000" y="2232422"/>
            <a:ext cx="8335267" cy="924371"/>
            <a:chOff x="0" y="0"/>
            <a:chExt cx="11113690" cy="1232495"/>
          </a:xfrm>
        </p:grpSpPr>
        <p:sp>
          <p:nvSpPr>
            <p:cNvPr id="14" name="Freeform 14" descr="preencoded.png"/>
            <p:cNvSpPr/>
            <p:nvPr/>
          </p:nvSpPr>
          <p:spPr>
            <a:xfrm>
              <a:off x="0" y="0"/>
              <a:ext cx="11113643" cy="1232535"/>
            </a:xfrm>
            <a:custGeom>
              <a:avLst/>
              <a:gdLst/>
              <a:ahLst/>
              <a:cxnLst/>
              <a:rect l="l" t="t" r="r" b="b"/>
              <a:pathLst>
                <a:path w="11113643" h="1232535">
                  <a:moveTo>
                    <a:pt x="0" y="0"/>
                  </a:moveTo>
                  <a:lnTo>
                    <a:pt x="11113643" y="0"/>
                  </a:lnTo>
                  <a:lnTo>
                    <a:pt x="11113643" y="1232535"/>
                  </a:lnTo>
                  <a:lnTo>
                    <a:pt x="0" y="1232535"/>
                  </a:lnTo>
                  <a:lnTo>
                    <a:pt x="0" y="0"/>
                  </a:lnTo>
                  <a:close/>
                </a:path>
              </a:pathLst>
            </a:custGeom>
            <a:blipFill>
              <a:blip r:embed="rId3"/>
              <a:stretch>
                <a:fillRect l="-18" r="-19" b="3"/>
              </a:stretch>
            </a:blipFill>
          </p:spPr>
        </p:sp>
      </p:grpSp>
      <p:sp>
        <p:nvSpPr>
          <p:cNvPr id="15" name="TextBox 15"/>
          <p:cNvSpPr txBox="1"/>
          <p:nvPr/>
        </p:nvSpPr>
        <p:spPr>
          <a:xfrm>
            <a:off x="9374981" y="3368725"/>
            <a:ext cx="3031629" cy="380107"/>
          </a:xfrm>
          <a:prstGeom prst="rect">
            <a:avLst/>
          </a:prstGeom>
        </p:spPr>
        <p:txBody>
          <a:bodyPr lIns="0" tIns="0" rIns="0" bIns="0" rtlCol="0" anchor="t">
            <a:spAutoFit/>
          </a:bodyPr>
          <a:lstStyle/>
          <a:p>
            <a:pPr algn="l">
              <a:lnSpc>
                <a:spcPts val="2812"/>
              </a:lnSpc>
            </a:pPr>
            <a:r>
              <a:rPr lang="en-US" sz="2249" b="1">
                <a:solidFill>
                  <a:srgbClr val="272525"/>
                </a:solidFill>
                <a:latin typeface="Inter Bold"/>
                <a:ea typeface="Inter Bold"/>
                <a:cs typeface="Inter Bold"/>
                <a:sym typeface="Inter Bold"/>
              </a:rPr>
              <a:t>RAG Knowledge Base</a:t>
            </a:r>
          </a:p>
        </p:txBody>
      </p:sp>
      <p:sp>
        <p:nvSpPr>
          <p:cNvPr id="16" name="TextBox 16"/>
          <p:cNvSpPr txBox="1"/>
          <p:nvPr/>
        </p:nvSpPr>
        <p:spPr>
          <a:xfrm>
            <a:off x="9374981" y="3820716"/>
            <a:ext cx="7873305" cy="806054"/>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Regulatory standards (FERC, NERC), historical applications, grid codes and requirements</a:t>
            </a:r>
          </a:p>
        </p:txBody>
      </p:sp>
      <p:sp>
        <p:nvSpPr>
          <p:cNvPr id="17" name="TextBox 17"/>
          <p:cNvSpPr txBox="1"/>
          <p:nvPr/>
        </p:nvSpPr>
        <p:spPr>
          <a:xfrm>
            <a:off x="9374981" y="4698652"/>
            <a:ext cx="7873305" cy="436364"/>
          </a:xfrm>
          <a:prstGeom prst="rect">
            <a:avLst/>
          </a:prstGeom>
        </p:spPr>
        <p:txBody>
          <a:bodyPr lIns="0" tIns="0" rIns="0" bIns="0" rtlCol="0" anchor="t">
            <a:spAutoFit/>
          </a:bodyPr>
          <a:lstStyle/>
          <a:p>
            <a:pPr algn="l">
              <a:lnSpc>
                <a:spcPts val="2875"/>
              </a:lnSpc>
            </a:pPr>
            <a:r>
              <a:rPr lang="en-US" sz="1812" i="1">
                <a:solidFill>
                  <a:srgbClr val="272525"/>
                </a:solidFill>
                <a:latin typeface="Inter Italics"/>
                <a:ea typeface="Inter Italics"/>
                <a:cs typeface="Inter Italics"/>
                <a:sym typeface="Inter Italics"/>
              </a:rPr>
              <a:t>Tech: Vector DB (Chroma/Pinecone)</a:t>
            </a:r>
          </a:p>
        </p:txBody>
      </p:sp>
      <p:grpSp>
        <p:nvGrpSpPr>
          <p:cNvPr id="18" name="Group 18"/>
          <p:cNvGrpSpPr/>
          <p:nvPr/>
        </p:nvGrpSpPr>
        <p:grpSpPr>
          <a:xfrm>
            <a:off x="808732" y="5365998"/>
            <a:ext cx="8335267" cy="924371"/>
            <a:chOff x="0" y="0"/>
            <a:chExt cx="11113690" cy="1232495"/>
          </a:xfrm>
        </p:grpSpPr>
        <p:sp>
          <p:nvSpPr>
            <p:cNvPr id="19" name="Freeform 19" descr="preencoded.png"/>
            <p:cNvSpPr/>
            <p:nvPr/>
          </p:nvSpPr>
          <p:spPr>
            <a:xfrm>
              <a:off x="0" y="0"/>
              <a:ext cx="11113643" cy="1232535"/>
            </a:xfrm>
            <a:custGeom>
              <a:avLst/>
              <a:gdLst/>
              <a:ahLst/>
              <a:cxnLst/>
              <a:rect l="l" t="t" r="r" b="b"/>
              <a:pathLst>
                <a:path w="11113643" h="1232535">
                  <a:moveTo>
                    <a:pt x="0" y="0"/>
                  </a:moveTo>
                  <a:lnTo>
                    <a:pt x="11113643" y="0"/>
                  </a:lnTo>
                  <a:lnTo>
                    <a:pt x="11113643" y="1232535"/>
                  </a:lnTo>
                  <a:lnTo>
                    <a:pt x="0" y="1232535"/>
                  </a:lnTo>
                  <a:lnTo>
                    <a:pt x="0" y="0"/>
                  </a:lnTo>
                  <a:close/>
                </a:path>
              </a:pathLst>
            </a:custGeom>
            <a:blipFill>
              <a:blip r:embed="rId4"/>
              <a:stretch>
                <a:fillRect l="-18" r="-19" b="3"/>
              </a:stretch>
            </a:blipFill>
          </p:spPr>
        </p:sp>
      </p:grpSp>
      <p:sp>
        <p:nvSpPr>
          <p:cNvPr id="20" name="TextBox 20"/>
          <p:cNvSpPr txBox="1"/>
          <p:nvPr/>
        </p:nvSpPr>
        <p:spPr>
          <a:xfrm>
            <a:off x="1039714" y="6502301"/>
            <a:ext cx="2888754" cy="380108"/>
          </a:xfrm>
          <a:prstGeom prst="rect">
            <a:avLst/>
          </a:prstGeom>
        </p:spPr>
        <p:txBody>
          <a:bodyPr lIns="0" tIns="0" rIns="0" bIns="0" rtlCol="0" anchor="t">
            <a:spAutoFit/>
          </a:bodyPr>
          <a:lstStyle/>
          <a:p>
            <a:pPr algn="l">
              <a:lnSpc>
                <a:spcPts val="2812"/>
              </a:lnSpc>
            </a:pPr>
            <a:r>
              <a:rPr lang="en-US" sz="2249" b="1">
                <a:solidFill>
                  <a:srgbClr val="272525"/>
                </a:solidFill>
                <a:latin typeface="Inter Bold"/>
                <a:ea typeface="Inter Bold"/>
                <a:cs typeface="Inter Bold"/>
                <a:sym typeface="Inter Bold"/>
              </a:rPr>
              <a:t>LLM Analysis</a:t>
            </a:r>
          </a:p>
        </p:txBody>
      </p:sp>
      <p:sp>
        <p:nvSpPr>
          <p:cNvPr id="21" name="TextBox 21"/>
          <p:cNvSpPr txBox="1"/>
          <p:nvPr/>
        </p:nvSpPr>
        <p:spPr>
          <a:xfrm>
            <a:off x="1039714" y="6954291"/>
            <a:ext cx="7873305" cy="806054"/>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Completeness verification, compliance validation, technical specification extraction, flag missing information</a:t>
            </a:r>
          </a:p>
        </p:txBody>
      </p:sp>
      <p:sp>
        <p:nvSpPr>
          <p:cNvPr id="22" name="TextBox 22"/>
          <p:cNvSpPr txBox="1"/>
          <p:nvPr/>
        </p:nvSpPr>
        <p:spPr>
          <a:xfrm>
            <a:off x="1039714" y="7832229"/>
            <a:ext cx="7873305" cy="436364"/>
          </a:xfrm>
          <a:prstGeom prst="rect">
            <a:avLst/>
          </a:prstGeom>
        </p:spPr>
        <p:txBody>
          <a:bodyPr lIns="0" tIns="0" rIns="0" bIns="0" rtlCol="0" anchor="t">
            <a:spAutoFit/>
          </a:bodyPr>
          <a:lstStyle/>
          <a:p>
            <a:pPr algn="l">
              <a:lnSpc>
                <a:spcPts val="2875"/>
              </a:lnSpc>
            </a:pPr>
            <a:r>
              <a:rPr lang="en-US" sz="1812" i="1">
                <a:solidFill>
                  <a:srgbClr val="272525"/>
                </a:solidFill>
                <a:latin typeface="Inter Italics"/>
                <a:ea typeface="Inter Italics"/>
                <a:cs typeface="Inter Italics"/>
                <a:sym typeface="Inter Italics"/>
              </a:rPr>
              <a:t>Tech: GPT-4 / Claude Sonnet</a:t>
            </a:r>
          </a:p>
        </p:txBody>
      </p:sp>
      <p:grpSp>
        <p:nvGrpSpPr>
          <p:cNvPr id="23" name="Group 23"/>
          <p:cNvGrpSpPr/>
          <p:nvPr/>
        </p:nvGrpSpPr>
        <p:grpSpPr>
          <a:xfrm>
            <a:off x="9144000" y="5365998"/>
            <a:ext cx="8335267" cy="924371"/>
            <a:chOff x="0" y="0"/>
            <a:chExt cx="11113690" cy="1232495"/>
          </a:xfrm>
        </p:grpSpPr>
        <p:sp>
          <p:nvSpPr>
            <p:cNvPr id="24" name="Freeform 24" descr="preencoded.png"/>
            <p:cNvSpPr/>
            <p:nvPr/>
          </p:nvSpPr>
          <p:spPr>
            <a:xfrm>
              <a:off x="0" y="0"/>
              <a:ext cx="11113643" cy="1232535"/>
            </a:xfrm>
            <a:custGeom>
              <a:avLst/>
              <a:gdLst/>
              <a:ahLst/>
              <a:cxnLst/>
              <a:rect l="l" t="t" r="r" b="b"/>
              <a:pathLst>
                <a:path w="11113643" h="1232535">
                  <a:moveTo>
                    <a:pt x="0" y="0"/>
                  </a:moveTo>
                  <a:lnTo>
                    <a:pt x="11113643" y="0"/>
                  </a:lnTo>
                  <a:lnTo>
                    <a:pt x="11113643" y="1232535"/>
                  </a:lnTo>
                  <a:lnTo>
                    <a:pt x="0" y="1232535"/>
                  </a:lnTo>
                  <a:lnTo>
                    <a:pt x="0" y="0"/>
                  </a:lnTo>
                  <a:close/>
                </a:path>
              </a:pathLst>
            </a:custGeom>
            <a:blipFill>
              <a:blip r:embed="rId5"/>
              <a:stretch>
                <a:fillRect l="-18" r="-19" b="3"/>
              </a:stretch>
            </a:blipFill>
          </p:spPr>
        </p:sp>
      </p:grpSp>
      <p:sp>
        <p:nvSpPr>
          <p:cNvPr id="25" name="TextBox 25"/>
          <p:cNvSpPr txBox="1"/>
          <p:nvPr/>
        </p:nvSpPr>
        <p:spPr>
          <a:xfrm>
            <a:off x="9374981" y="6502301"/>
            <a:ext cx="2888754" cy="380108"/>
          </a:xfrm>
          <a:prstGeom prst="rect">
            <a:avLst/>
          </a:prstGeom>
        </p:spPr>
        <p:txBody>
          <a:bodyPr lIns="0" tIns="0" rIns="0" bIns="0" rtlCol="0" anchor="t">
            <a:spAutoFit/>
          </a:bodyPr>
          <a:lstStyle/>
          <a:p>
            <a:pPr algn="l">
              <a:lnSpc>
                <a:spcPts val="2812"/>
              </a:lnSpc>
            </a:pPr>
            <a:r>
              <a:rPr lang="en-US" sz="2249" b="1">
                <a:solidFill>
                  <a:srgbClr val="272525"/>
                </a:solidFill>
                <a:latin typeface="Inter Bold"/>
                <a:ea typeface="Inter Bold"/>
                <a:cs typeface="Inter Bold"/>
                <a:sym typeface="Inter Bold"/>
              </a:rPr>
              <a:t>Automated Report</a:t>
            </a:r>
          </a:p>
        </p:txBody>
      </p:sp>
      <p:sp>
        <p:nvSpPr>
          <p:cNvPr id="26" name="TextBox 26"/>
          <p:cNvSpPr txBox="1"/>
          <p:nvPr/>
        </p:nvSpPr>
        <p:spPr>
          <a:xfrm>
            <a:off x="9374981" y="6954291"/>
            <a:ext cx="7873305" cy="806054"/>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Validation summary, required corrections, risk assessment, approval recommendation</a:t>
            </a:r>
          </a:p>
        </p:txBody>
      </p:sp>
      <p:sp>
        <p:nvSpPr>
          <p:cNvPr id="27" name="TextBox 27"/>
          <p:cNvSpPr txBox="1"/>
          <p:nvPr/>
        </p:nvSpPr>
        <p:spPr>
          <a:xfrm>
            <a:off x="9374981" y="7832229"/>
            <a:ext cx="7873305" cy="436364"/>
          </a:xfrm>
          <a:prstGeom prst="rect">
            <a:avLst/>
          </a:prstGeom>
        </p:spPr>
        <p:txBody>
          <a:bodyPr lIns="0" tIns="0" rIns="0" bIns="0" rtlCol="0" anchor="t">
            <a:spAutoFit/>
          </a:bodyPr>
          <a:lstStyle/>
          <a:p>
            <a:pPr algn="l">
              <a:lnSpc>
                <a:spcPts val="2875"/>
              </a:lnSpc>
            </a:pPr>
            <a:r>
              <a:rPr lang="en-US" sz="1812" i="1">
                <a:solidFill>
                  <a:srgbClr val="272525"/>
                </a:solidFill>
                <a:latin typeface="Inter Italics"/>
                <a:ea typeface="Inter Italics"/>
                <a:cs typeface="Inter Italics"/>
                <a:sym typeface="Inter Italics"/>
              </a:rPr>
              <a:t>Tech: Structured Outputs</a:t>
            </a:r>
          </a:p>
        </p:txBody>
      </p:sp>
      <p:sp>
        <p:nvSpPr>
          <p:cNvPr id="28" name="TextBox 28"/>
          <p:cNvSpPr txBox="1"/>
          <p:nvPr/>
        </p:nvSpPr>
        <p:spPr>
          <a:xfrm>
            <a:off x="1155352" y="8952608"/>
            <a:ext cx="16323915" cy="436364"/>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Key Benefit: Applications processed in hours instead of weeks, with consistent quality and comprehensive audit trails</a:t>
            </a:r>
          </a:p>
        </p:txBody>
      </p:sp>
      <p:grpSp>
        <p:nvGrpSpPr>
          <p:cNvPr id="29" name="Group 29"/>
          <p:cNvGrpSpPr/>
          <p:nvPr/>
        </p:nvGrpSpPr>
        <p:grpSpPr>
          <a:xfrm>
            <a:off x="808732" y="8759429"/>
            <a:ext cx="28575" cy="889397"/>
            <a:chOff x="0" y="0"/>
            <a:chExt cx="38100" cy="1185863"/>
          </a:xfrm>
        </p:grpSpPr>
        <p:sp>
          <p:nvSpPr>
            <p:cNvPr id="30" name="Freeform 30"/>
            <p:cNvSpPr/>
            <p:nvPr/>
          </p:nvSpPr>
          <p:spPr>
            <a:xfrm>
              <a:off x="0" y="0"/>
              <a:ext cx="38100" cy="1185926"/>
            </a:xfrm>
            <a:custGeom>
              <a:avLst/>
              <a:gdLst/>
              <a:ahLst/>
              <a:cxnLst/>
              <a:rect l="l" t="t" r="r" b="b"/>
              <a:pathLst>
                <a:path w="38100" h="1185926">
                  <a:moveTo>
                    <a:pt x="0" y="0"/>
                  </a:moveTo>
                  <a:lnTo>
                    <a:pt x="38100" y="0"/>
                  </a:lnTo>
                  <a:lnTo>
                    <a:pt x="38100" y="1185926"/>
                  </a:lnTo>
                  <a:lnTo>
                    <a:pt x="0" y="1185926"/>
                  </a:lnTo>
                  <a:close/>
                </a:path>
              </a:pathLst>
            </a:custGeom>
            <a:solidFill>
              <a:srgbClr val="4950BC"/>
            </a:solid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sp>
      </p:grpSp>
      <p:sp>
        <p:nvSpPr>
          <p:cNvPr id="8" name="TextBox 8"/>
          <p:cNvSpPr txBox="1"/>
          <p:nvPr/>
        </p:nvSpPr>
        <p:spPr>
          <a:xfrm>
            <a:off x="7533234" y="521642"/>
            <a:ext cx="7703046" cy="612427"/>
          </a:xfrm>
          <a:prstGeom prst="rect">
            <a:avLst/>
          </a:prstGeom>
        </p:spPr>
        <p:txBody>
          <a:bodyPr lIns="0" tIns="0" rIns="0" bIns="0" rtlCol="0" anchor="t">
            <a:spAutoFit/>
          </a:bodyPr>
          <a:lstStyle/>
          <a:p>
            <a:pPr algn="l">
              <a:lnSpc>
                <a:spcPts val="4687"/>
              </a:lnSpc>
            </a:pPr>
            <a:r>
              <a:rPr lang="en-US" sz="3749" b="1">
                <a:solidFill>
                  <a:srgbClr val="000000"/>
                </a:solidFill>
                <a:latin typeface="Inter Bold"/>
                <a:ea typeface="Inter Bold"/>
                <a:cs typeface="Inter Bold"/>
                <a:sym typeface="Inter Bold"/>
              </a:rPr>
              <a:t>Challenge 2: Grid Impact Studies</a:t>
            </a:r>
          </a:p>
        </p:txBody>
      </p:sp>
      <p:sp>
        <p:nvSpPr>
          <p:cNvPr id="9" name="TextBox 9"/>
          <p:cNvSpPr txBox="1"/>
          <p:nvPr/>
        </p:nvSpPr>
        <p:spPr>
          <a:xfrm>
            <a:off x="7533234" y="1597224"/>
            <a:ext cx="2894260" cy="380851"/>
          </a:xfrm>
          <a:prstGeom prst="rect">
            <a:avLst/>
          </a:prstGeom>
        </p:spPr>
        <p:txBody>
          <a:bodyPr lIns="0" tIns="0" rIns="0" bIns="0" rtlCol="0" anchor="t">
            <a:spAutoFit/>
          </a:bodyPr>
          <a:lstStyle/>
          <a:p>
            <a:pPr algn="l">
              <a:lnSpc>
                <a:spcPts val="2812"/>
              </a:lnSpc>
            </a:pPr>
            <a:r>
              <a:rPr lang="en-US" sz="2249" b="1">
                <a:solidFill>
                  <a:srgbClr val="000000"/>
                </a:solidFill>
                <a:latin typeface="Inter Bold"/>
                <a:ea typeface="Inter Bold"/>
                <a:cs typeface="Inter Bold"/>
                <a:sym typeface="Inter Bold"/>
              </a:rPr>
              <a:t>The Problem</a:t>
            </a:r>
          </a:p>
        </p:txBody>
      </p:sp>
      <p:sp>
        <p:nvSpPr>
          <p:cNvPr id="10" name="TextBox 10"/>
          <p:cNvSpPr txBox="1"/>
          <p:nvPr/>
        </p:nvSpPr>
        <p:spPr>
          <a:xfrm>
            <a:off x="7533234" y="2113806"/>
            <a:ext cx="4804470" cy="1292424"/>
          </a:xfrm>
          <a:prstGeom prst="rect">
            <a:avLst/>
          </a:prstGeom>
        </p:spPr>
        <p:txBody>
          <a:bodyPr lIns="0" tIns="0" rIns="0" bIns="0" rtlCol="0" anchor="t">
            <a:spAutoFit/>
          </a:bodyPr>
          <a:lstStyle/>
          <a:p>
            <a:pPr algn="l">
              <a:lnSpc>
                <a:spcPts val="2375"/>
              </a:lnSpc>
            </a:pPr>
            <a:r>
              <a:rPr lang="en-US" sz="1500">
                <a:solidFill>
                  <a:srgbClr val="272525"/>
                </a:solidFill>
                <a:latin typeface="Inter"/>
                <a:ea typeface="Inter"/>
                <a:cs typeface="Inter"/>
                <a:sym typeface="Inter"/>
              </a:rPr>
              <a:t>Complex simulations required to assess voltage stability, fault analysis, power flow dynamics, and overall system reliability before approving new connections.</a:t>
            </a:r>
          </a:p>
        </p:txBody>
      </p:sp>
      <p:sp>
        <p:nvSpPr>
          <p:cNvPr id="11" name="TextBox 11"/>
          <p:cNvSpPr txBox="1"/>
          <p:nvPr/>
        </p:nvSpPr>
        <p:spPr>
          <a:xfrm>
            <a:off x="7533234" y="3580060"/>
            <a:ext cx="2894260" cy="380851"/>
          </a:xfrm>
          <a:prstGeom prst="rect">
            <a:avLst/>
          </a:prstGeom>
        </p:spPr>
        <p:txBody>
          <a:bodyPr lIns="0" tIns="0" rIns="0" bIns="0" rtlCol="0" anchor="t">
            <a:spAutoFit/>
          </a:bodyPr>
          <a:lstStyle/>
          <a:p>
            <a:pPr algn="l">
              <a:lnSpc>
                <a:spcPts val="2812"/>
              </a:lnSpc>
            </a:pPr>
            <a:r>
              <a:rPr lang="en-US" sz="2249" b="1">
                <a:solidFill>
                  <a:srgbClr val="000000"/>
                </a:solidFill>
                <a:latin typeface="Inter Bold"/>
                <a:ea typeface="Inter Bold"/>
                <a:cs typeface="Inter Bold"/>
                <a:sym typeface="Inter Bold"/>
              </a:rPr>
              <a:t>Current State</a:t>
            </a:r>
          </a:p>
        </p:txBody>
      </p:sp>
      <p:sp>
        <p:nvSpPr>
          <p:cNvPr id="12" name="TextBox 12"/>
          <p:cNvSpPr txBox="1"/>
          <p:nvPr/>
        </p:nvSpPr>
        <p:spPr>
          <a:xfrm>
            <a:off x="7533234" y="4096643"/>
            <a:ext cx="4804470" cy="983605"/>
          </a:xfrm>
          <a:prstGeom prst="rect">
            <a:avLst/>
          </a:prstGeom>
        </p:spPr>
        <p:txBody>
          <a:bodyPr lIns="0" tIns="0" rIns="0" bIns="0" rtlCol="0" anchor="t">
            <a:spAutoFit/>
          </a:bodyPr>
          <a:lstStyle/>
          <a:p>
            <a:pPr algn="l">
              <a:lnSpc>
                <a:spcPts val="2375"/>
              </a:lnSpc>
            </a:pPr>
            <a:r>
              <a:rPr lang="en-US" sz="1500">
                <a:solidFill>
                  <a:srgbClr val="272525"/>
                </a:solidFill>
                <a:latin typeface="Inter"/>
                <a:ea typeface="Inter"/>
                <a:cs typeface="Inter"/>
                <a:sym typeface="Inter"/>
              </a:rPr>
              <a:t>Studies take months per project, require specialised engineers with deep expertise, and involve manual scenario modelling that's difficult to scale.</a:t>
            </a:r>
          </a:p>
        </p:txBody>
      </p:sp>
      <p:grpSp>
        <p:nvGrpSpPr>
          <p:cNvPr id="13" name="Group 13"/>
          <p:cNvGrpSpPr/>
          <p:nvPr/>
        </p:nvGrpSpPr>
        <p:grpSpPr>
          <a:xfrm>
            <a:off x="12803535" y="1626096"/>
            <a:ext cx="4833045" cy="1892350"/>
            <a:chOff x="0" y="0"/>
            <a:chExt cx="6444060" cy="2523133"/>
          </a:xfrm>
        </p:grpSpPr>
        <p:sp>
          <p:nvSpPr>
            <p:cNvPr id="14" name="Freeform 14"/>
            <p:cNvSpPr/>
            <p:nvPr/>
          </p:nvSpPr>
          <p:spPr>
            <a:xfrm>
              <a:off x="19050" y="19050"/>
              <a:ext cx="6406007" cy="2485009"/>
            </a:xfrm>
            <a:custGeom>
              <a:avLst/>
              <a:gdLst/>
              <a:ahLst/>
              <a:cxnLst/>
              <a:rect l="l" t="t" r="r" b="b"/>
              <a:pathLst>
                <a:path w="6406007" h="2485009">
                  <a:moveTo>
                    <a:pt x="0" y="108077"/>
                  </a:moveTo>
                  <a:cubicBezTo>
                    <a:pt x="0" y="48387"/>
                    <a:pt x="48768" y="0"/>
                    <a:pt x="109093" y="0"/>
                  </a:cubicBezTo>
                  <a:lnTo>
                    <a:pt x="6296914" y="0"/>
                  </a:lnTo>
                  <a:cubicBezTo>
                    <a:pt x="6357112" y="0"/>
                    <a:pt x="6406007" y="48387"/>
                    <a:pt x="6406007" y="108077"/>
                  </a:cubicBezTo>
                  <a:lnTo>
                    <a:pt x="6406007" y="2376932"/>
                  </a:lnTo>
                  <a:cubicBezTo>
                    <a:pt x="6406007" y="2436622"/>
                    <a:pt x="6357239" y="2485009"/>
                    <a:pt x="6296914" y="2485009"/>
                  </a:cubicBezTo>
                  <a:lnTo>
                    <a:pt x="109093" y="2485009"/>
                  </a:lnTo>
                  <a:cubicBezTo>
                    <a:pt x="48895" y="2485009"/>
                    <a:pt x="0" y="2436622"/>
                    <a:pt x="0" y="2376932"/>
                  </a:cubicBezTo>
                  <a:close/>
                </a:path>
              </a:pathLst>
            </a:custGeom>
            <a:solidFill>
              <a:srgbClr val="FFFFFF"/>
            </a:solidFill>
          </p:spPr>
        </p:sp>
        <p:sp>
          <p:nvSpPr>
            <p:cNvPr id="15" name="Freeform 15"/>
            <p:cNvSpPr/>
            <p:nvPr/>
          </p:nvSpPr>
          <p:spPr>
            <a:xfrm>
              <a:off x="0" y="0"/>
              <a:ext cx="6444107" cy="2523109"/>
            </a:xfrm>
            <a:custGeom>
              <a:avLst/>
              <a:gdLst/>
              <a:ahLst/>
              <a:cxnLst/>
              <a:rect l="l" t="t" r="r" b="b"/>
              <a:pathLst>
                <a:path w="6444107" h="2523109">
                  <a:moveTo>
                    <a:pt x="0" y="127127"/>
                  </a:moveTo>
                  <a:cubicBezTo>
                    <a:pt x="0" y="56769"/>
                    <a:pt x="57531" y="0"/>
                    <a:pt x="128143" y="0"/>
                  </a:cubicBezTo>
                  <a:lnTo>
                    <a:pt x="6315964" y="0"/>
                  </a:lnTo>
                  <a:lnTo>
                    <a:pt x="6315964" y="19050"/>
                  </a:lnTo>
                  <a:lnTo>
                    <a:pt x="6315964" y="0"/>
                  </a:lnTo>
                  <a:cubicBezTo>
                    <a:pt x="6386576" y="0"/>
                    <a:pt x="6444107" y="56769"/>
                    <a:pt x="6444107" y="127127"/>
                  </a:cubicBezTo>
                  <a:lnTo>
                    <a:pt x="6425057" y="127127"/>
                  </a:lnTo>
                  <a:lnTo>
                    <a:pt x="6444107" y="127127"/>
                  </a:lnTo>
                  <a:lnTo>
                    <a:pt x="6444107" y="2395982"/>
                  </a:lnTo>
                  <a:lnTo>
                    <a:pt x="6425057" y="2395982"/>
                  </a:lnTo>
                  <a:lnTo>
                    <a:pt x="6444107" y="2395982"/>
                  </a:lnTo>
                  <a:cubicBezTo>
                    <a:pt x="6444107" y="2466340"/>
                    <a:pt x="6386576" y="2523109"/>
                    <a:pt x="6315964" y="2523109"/>
                  </a:cubicBezTo>
                  <a:lnTo>
                    <a:pt x="6315964" y="2504059"/>
                  </a:lnTo>
                  <a:lnTo>
                    <a:pt x="6315964" y="2523109"/>
                  </a:lnTo>
                  <a:lnTo>
                    <a:pt x="128143" y="2523109"/>
                  </a:lnTo>
                  <a:lnTo>
                    <a:pt x="128143" y="2504059"/>
                  </a:lnTo>
                  <a:lnTo>
                    <a:pt x="128143" y="2523109"/>
                  </a:lnTo>
                  <a:cubicBezTo>
                    <a:pt x="57531" y="2523109"/>
                    <a:pt x="0" y="2466340"/>
                    <a:pt x="0" y="2395982"/>
                  </a:cubicBezTo>
                  <a:lnTo>
                    <a:pt x="0" y="127127"/>
                  </a:lnTo>
                  <a:lnTo>
                    <a:pt x="19050" y="127127"/>
                  </a:lnTo>
                  <a:lnTo>
                    <a:pt x="0" y="127127"/>
                  </a:lnTo>
                  <a:moveTo>
                    <a:pt x="38100" y="127127"/>
                  </a:moveTo>
                  <a:lnTo>
                    <a:pt x="38100" y="2395982"/>
                  </a:lnTo>
                  <a:lnTo>
                    <a:pt x="19050" y="2395982"/>
                  </a:lnTo>
                  <a:lnTo>
                    <a:pt x="38100" y="2395982"/>
                  </a:lnTo>
                  <a:cubicBezTo>
                    <a:pt x="38100" y="2445004"/>
                    <a:pt x="78232" y="2485009"/>
                    <a:pt x="128143" y="2485009"/>
                  </a:cubicBezTo>
                  <a:lnTo>
                    <a:pt x="6315964" y="2485009"/>
                  </a:lnTo>
                  <a:cubicBezTo>
                    <a:pt x="6365875" y="2485009"/>
                    <a:pt x="6406007" y="2445004"/>
                    <a:pt x="6406007" y="2395982"/>
                  </a:cubicBezTo>
                  <a:lnTo>
                    <a:pt x="6406007" y="127127"/>
                  </a:lnTo>
                  <a:cubicBezTo>
                    <a:pt x="6406007" y="78105"/>
                    <a:pt x="6365875" y="38100"/>
                    <a:pt x="6315964" y="38100"/>
                  </a:cubicBezTo>
                  <a:lnTo>
                    <a:pt x="128143" y="38100"/>
                  </a:lnTo>
                  <a:lnTo>
                    <a:pt x="128143" y="19050"/>
                  </a:lnTo>
                  <a:lnTo>
                    <a:pt x="128143" y="38100"/>
                  </a:lnTo>
                  <a:cubicBezTo>
                    <a:pt x="78232" y="38100"/>
                    <a:pt x="38100" y="78105"/>
                    <a:pt x="38100" y="127127"/>
                  </a:cubicBezTo>
                  <a:close/>
                </a:path>
              </a:pathLst>
            </a:custGeom>
            <a:solidFill>
              <a:srgbClr val="C0C1D7"/>
            </a:solidFill>
          </p:spPr>
        </p:sp>
      </p:grpSp>
      <p:sp>
        <p:nvSpPr>
          <p:cNvPr id="16" name="TextBox 16"/>
          <p:cNvSpPr txBox="1"/>
          <p:nvPr/>
        </p:nvSpPr>
        <p:spPr>
          <a:xfrm>
            <a:off x="13039279" y="1852315"/>
            <a:ext cx="2411909" cy="311051"/>
          </a:xfrm>
          <a:prstGeom prst="rect">
            <a:avLst/>
          </a:prstGeom>
        </p:spPr>
        <p:txBody>
          <a:bodyPr lIns="0" tIns="0" rIns="0" bIns="0" rtlCol="0" anchor="t">
            <a:spAutoFit/>
          </a:bodyPr>
          <a:lstStyle/>
          <a:p>
            <a:pPr algn="l">
              <a:lnSpc>
                <a:spcPts val="2312"/>
              </a:lnSpc>
            </a:pPr>
            <a:r>
              <a:rPr lang="en-US" sz="1874" b="1">
                <a:solidFill>
                  <a:srgbClr val="272525"/>
                </a:solidFill>
                <a:latin typeface="Inter Bold"/>
                <a:ea typeface="Inter Bold"/>
                <a:cs typeface="Inter Bold"/>
                <a:sym typeface="Inter Bold"/>
              </a:rPr>
              <a:t>Multi-Agent System</a:t>
            </a:r>
          </a:p>
        </p:txBody>
      </p:sp>
      <p:sp>
        <p:nvSpPr>
          <p:cNvPr id="17" name="TextBox 17"/>
          <p:cNvSpPr txBox="1"/>
          <p:nvPr/>
        </p:nvSpPr>
        <p:spPr>
          <a:xfrm>
            <a:off x="13039279" y="2299096"/>
            <a:ext cx="4361558" cy="983605"/>
          </a:xfrm>
          <a:prstGeom prst="rect">
            <a:avLst/>
          </a:prstGeom>
        </p:spPr>
        <p:txBody>
          <a:bodyPr lIns="0" tIns="0" rIns="0" bIns="0" rtlCol="0" anchor="t">
            <a:spAutoFit/>
          </a:bodyPr>
          <a:lstStyle/>
          <a:p>
            <a:pPr algn="l">
              <a:lnSpc>
                <a:spcPts val="2375"/>
              </a:lnSpc>
            </a:pPr>
            <a:r>
              <a:rPr lang="en-US" sz="1500">
                <a:solidFill>
                  <a:srgbClr val="272525"/>
                </a:solidFill>
                <a:latin typeface="Inter"/>
                <a:ea typeface="Inter"/>
                <a:cs typeface="Inter"/>
                <a:sym typeface="Inter"/>
              </a:rPr>
              <a:t>Specialised agents for each study type—voltage analysis, fault assessment, and power flow modelling</a:t>
            </a:r>
          </a:p>
        </p:txBody>
      </p:sp>
      <p:grpSp>
        <p:nvGrpSpPr>
          <p:cNvPr id="18" name="Group 18"/>
          <p:cNvGrpSpPr/>
          <p:nvPr/>
        </p:nvGrpSpPr>
        <p:grpSpPr>
          <a:xfrm>
            <a:off x="12803535" y="3682752"/>
            <a:ext cx="4833045" cy="1583531"/>
            <a:chOff x="0" y="0"/>
            <a:chExt cx="6444060" cy="2111375"/>
          </a:xfrm>
        </p:grpSpPr>
        <p:sp>
          <p:nvSpPr>
            <p:cNvPr id="19" name="Freeform 19"/>
            <p:cNvSpPr/>
            <p:nvPr/>
          </p:nvSpPr>
          <p:spPr>
            <a:xfrm>
              <a:off x="19050" y="19050"/>
              <a:ext cx="6405880" cy="2073275"/>
            </a:xfrm>
            <a:custGeom>
              <a:avLst/>
              <a:gdLst/>
              <a:ahLst/>
              <a:cxnLst/>
              <a:rect l="l" t="t" r="r" b="b"/>
              <a:pathLst>
                <a:path w="6405880" h="2073275">
                  <a:moveTo>
                    <a:pt x="0" y="108077"/>
                  </a:moveTo>
                  <a:cubicBezTo>
                    <a:pt x="0" y="48387"/>
                    <a:pt x="49022" y="0"/>
                    <a:pt x="109347" y="0"/>
                  </a:cubicBezTo>
                  <a:lnTo>
                    <a:pt x="6296533" y="0"/>
                  </a:lnTo>
                  <a:cubicBezTo>
                    <a:pt x="6356985" y="0"/>
                    <a:pt x="6405880" y="48387"/>
                    <a:pt x="6405880" y="108077"/>
                  </a:cubicBezTo>
                  <a:lnTo>
                    <a:pt x="6405880" y="1965198"/>
                  </a:lnTo>
                  <a:cubicBezTo>
                    <a:pt x="6405880" y="2024888"/>
                    <a:pt x="6356858" y="2073275"/>
                    <a:pt x="6296533" y="2073275"/>
                  </a:cubicBezTo>
                  <a:lnTo>
                    <a:pt x="109347" y="2073275"/>
                  </a:lnTo>
                  <a:cubicBezTo>
                    <a:pt x="48895" y="2073275"/>
                    <a:pt x="0" y="2024888"/>
                    <a:pt x="0" y="1965198"/>
                  </a:cubicBezTo>
                  <a:close/>
                </a:path>
              </a:pathLst>
            </a:custGeom>
            <a:solidFill>
              <a:srgbClr val="FFFFFF"/>
            </a:solidFill>
          </p:spPr>
        </p:sp>
        <p:sp>
          <p:nvSpPr>
            <p:cNvPr id="20" name="Freeform 20"/>
            <p:cNvSpPr/>
            <p:nvPr/>
          </p:nvSpPr>
          <p:spPr>
            <a:xfrm>
              <a:off x="0" y="0"/>
              <a:ext cx="6443980" cy="2111375"/>
            </a:xfrm>
            <a:custGeom>
              <a:avLst/>
              <a:gdLst/>
              <a:ahLst/>
              <a:cxnLst/>
              <a:rect l="l" t="t" r="r" b="b"/>
              <a:pathLst>
                <a:path w="6443980" h="2111375">
                  <a:moveTo>
                    <a:pt x="0" y="127127"/>
                  </a:moveTo>
                  <a:cubicBezTo>
                    <a:pt x="0" y="56642"/>
                    <a:pt x="57785" y="0"/>
                    <a:pt x="128397" y="0"/>
                  </a:cubicBezTo>
                  <a:lnTo>
                    <a:pt x="6315583" y="0"/>
                  </a:lnTo>
                  <a:lnTo>
                    <a:pt x="6315583" y="19050"/>
                  </a:lnTo>
                  <a:lnTo>
                    <a:pt x="6315583" y="0"/>
                  </a:lnTo>
                  <a:cubicBezTo>
                    <a:pt x="6386322" y="0"/>
                    <a:pt x="6443980" y="56642"/>
                    <a:pt x="6443980" y="127127"/>
                  </a:cubicBezTo>
                  <a:lnTo>
                    <a:pt x="6424930" y="127127"/>
                  </a:lnTo>
                  <a:lnTo>
                    <a:pt x="6443980" y="127127"/>
                  </a:lnTo>
                  <a:lnTo>
                    <a:pt x="6443980" y="1984248"/>
                  </a:lnTo>
                  <a:lnTo>
                    <a:pt x="6424930" y="1984248"/>
                  </a:lnTo>
                  <a:lnTo>
                    <a:pt x="6443980" y="1984248"/>
                  </a:lnTo>
                  <a:cubicBezTo>
                    <a:pt x="6443980" y="2054606"/>
                    <a:pt x="6386195" y="2111375"/>
                    <a:pt x="6315583" y="2111375"/>
                  </a:cubicBezTo>
                  <a:lnTo>
                    <a:pt x="6315583" y="2092325"/>
                  </a:lnTo>
                  <a:lnTo>
                    <a:pt x="6315583" y="2111375"/>
                  </a:lnTo>
                  <a:lnTo>
                    <a:pt x="128397" y="2111375"/>
                  </a:lnTo>
                  <a:lnTo>
                    <a:pt x="128397" y="2092325"/>
                  </a:lnTo>
                  <a:lnTo>
                    <a:pt x="128397" y="2111375"/>
                  </a:lnTo>
                  <a:cubicBezTo>
                    <a:pt x="57785" y="2111375"/>
                    <a:pt x="0" y="2054733"/>
                    <a:pt x="0" y="1984248"/>
                  </a:cubicBezTo>
                  <a:lnTo>
                    <a:pt x="0" y="127127"/>
                  </a:lnTo>
                  <a:lnTo>
                    <a:pt x="19050" y="127127"/>
                  </a:lnTo>
                  <a:lnTo>
                    <a:pt x="0" y="127127"/>
                  </a:lnTo>
                  <a:moveTo>
                    <a:pt x="38100" y="127127"/>
                  </a:moveTo>
                  <a:lnTo>
                    <a:pt x="38100" y="1984248"/>
                  </a:lnTo>
                  <a:lnTo>
                    <a:pt x="19050" y="1984248"/>
                  </a:lnTo>
                  <a:lnTo>
                    <a:pt x="38100" y="1984248"/>
                  </a:lnTo>
                  <a:cubicBezTo>
                    <a:pt x="38100" y="2033143"/>
                    <a:pt x="78359" y="2073275"/>
                    <a:pt x="128397" y="2073275"/>
                  </a:cubicBezTo>
                  <a:lnTo>
                    <a:pt x="6315583" y="2073275"/>
                  </a:lnTo>
                  <a:cubicBezTo>
                    <a:pt x="6365748" y="2073275"/>
                    <a:pt x="6405880" y="2033143"/>
                    <a:pt x="6405880" y="1984248"/>
                  </a:cubicBezTo>
                  <a:lnTo>
                    <a:pt x="6405880" y="127127"/>
                  </a:lnTo>
                  <a:cubicBezTo>
                    <a:pt x="6405880" y="78232"/>
                    <a:pt x="6365621" y="38100"/>
                    <a:pt x="6315583" y="38100"/>
                  </a:cubicBezTo>
                  <a:lnTo>
                    <a:pt x="128397" y="38100"/>
                  </a:lnTo>
                  <a:lnTo>
                    <a:pt x="128397" y="19050"/>
                  </a:lnTo>
                  <a:lnTo>
                    <a:pt x="128397" y="38100"/>
                  </a:lnTo>
                  <a:cubicBezTo>
                    <a:pt x="78359" y="38100"/>
                    <a:pt x="38100" y="78232"/>
                    <a:pt x="38100" y="127127"/>
                  </a:cubicBezTo>
                  <a:close/>
                </a:path>
              </a:pathLst>
            </a:custGeom>
            <a:solidFill>
              <a:srgbClr val="C0C1D7"/>
            </a:solidFill>
          </p:spPr>
        </p:sp>
      </p:grpSp>
      <p:sp>
        <p:nvSpPr>
          <p:cNvPr id="21" name="TextBox 21"/>
          <p:cNvSpPr txBox="1"/>
          <p:nvPr/>
        </p:nvSpPr>
        <p:spPr>
          <a:xfrm>
            <a:off x="13039279" y="3908971"/>
            <a:ext cx="2411909" cy="311051"/>
          </a:xfrm>
          <a:prstGeom prst="rect">
            <a:avLst/>
          </a:prstGeom>
        </p:spPr>
        <p:txBody>
          <a:bodyPr lIns="0" tIns="0" rIns="0" bIns="0" rtlCol="0" anchor="t">
            <a:spAutoFit/>
          </a:bodyPr>
          <a:lstStyle/>
          <a:p>
            <a:pPr algn="l">
              <a:lnSpc>
                <a:spcPts val="2312"/>
              </a:lnSpc>
            </a:pPr>
            <a:r>
              <a:rPr lang="en-US" sz="1874" b="1">
                <a:solidFill>
                  <a:srgbClr val="272525"/>
                </a:solidFill>
                <a:latin typeface="Inter Bold"/>
                <a:ea typeface="Inter Bold"/>
                <a:cs typeface="Inter Bold"/>
                <a:sym typeface="Inter Bold"/>
              </a:rPr>
              <a:t>ML Models</a:t>
            </a:r>
          </a:p>
        </p:txBody>
      </p:sp>
      <p:sp>
        <p:nvSpPr>
          <p:cNvPr id="22" name="TextBox 22"/>
          <p:cNvSpPr txBox="1"/>
          <p:nvPr/>
        </p:nvSpPr>
        <p:spPr>
          <a:xfrm>
            <a:off x="13039279" y="4355752"/>
            <a:ext cx="4361558" cy="674786"/>
          </a:xfrm>
          <a:prstGeom prst="rect">
            <a:avLst/>
          </a:prstGeom>
        </p:spPr>
        <p:txBody>
          <a:bodyPr lIns="0" tIns="0" rIns="0" bIns="0" rtlCol="0" anchor="t">
            <a:spAutoFit/>
          </a:bodyPr>
          <a:lstStyle/>
          <a:p>
            <a:pPr algn="l">
              <a:lnSpc>
                <a:spcPts val="2375"/>
              </a:lnSpc>
            </a:pPr>
            <a:r>
              <a:rPr lang="en-US" sz="1500">
                <a:solidFill>
                  <a:srgbClr val="272525"/>
                </a:solidFill>
                <a:latin typeface="Inter"/>
                <a:ea typeface="Inter"/>
                <a:cs typeface="Inter"/>
                <a:sym typeface="Inter"/>
              </a:rPr>
              <a:t>Trained on historical grid data to predict outcomes and identify patterns</a:t>
            </a:r>
          </a:p>
        </p:txBody>
      </p:sp>
      <p:grpSp>
        <p:nvGrpSpPr>
          <p:cNvPr id="23" name="Group 23"/>
          <p:cNvGrpSpPr/>
          <p:nvPr/>
        </p:nvGrpSpPr>
        <p:grpSpPr>
          <a:xfrm>
            <a:off x="12803535" y="5430590"/>
            <a:ext cx="4833045" cy="1583531"/>
            <a:chOff x="0" y="0"/>
            <a:chExt cx="6444060" cy="2111375"/>
          </a:xfrm>
        </p:grpSpPr>
        <p:sp>
          <p:nvSpPr>
            <p:cNvPr id="24" name="Freeform 24"/>
            <p:cNvSpPr/>
            <p:nvPr/>
          </p:nvSpPr>
          <p:spPr>
            <a:xfrm>
              <a:off x="19050" y="19050"/>
              <a:ext cx="6405880" cy="2073275"/>
            </a:xfrm>
            <a:custGeom>
              <a:avLst/>
              <a:gdLst/>
              <a:ahLst/>
              <a:cxnLst/>
              <a:rect l="l" t="t" r="r" b="b"/>
              <a:pathLst>
                <a:path w="6405880" h="2073275">
                  <a:moveTo>
                    <a:pt x="0" y="108077"/>
                  </a:moveTo>
                  <a:cubicBezTo>
                    <a:pt x="0" y="48387"/>
                    <a:pt x="49022" y="0"/>
                    <a:pt x="109347" y="0"/>
                  </a:cubicBezTo>
                  <a:lnTo>
                    <a:pt x="6296533" y="0"/>
                  </a:lnTo>
                  <a:cubicBezTo>
                    <a:pt x="6356985" y="0"/>
                    <a:pt x="6405880" y="48387"/>
                    <a:pt x="6405880" y="108077"/>
                  </a:cubicBezTo>
                  <a:lnTo>
                    <a:pt x="6405880" y="1965198"/>
                  </a:lnTo>
                  <a:cubicBezTo>
                    <a:pt x="6405880" y="2024888"/>
                    <a:pt x="6356858" y="2073275"/>
                    <a:pt x="6296533" y="2073275"/>
                  </a:cubicBezTo>
                  <a:lnTo>
                    <a:pt x="109347" y="2073275"/>
                  </a:lnTo>
                  <a:cubicBezTo>
                    <a:pt x="48895" y="2073275"/>
                    <a:pt x="0" y="2024888"/>
                    <a:pt x="0" y="1965198"/>
                  </a:cubicBezTo>
                  <a:close/>
                </a:path>
              </a:pathLst>
            </a:custGeom>
            <a:solidFill>
              <a:srgbClr val="FFFFFF"/>
            </a:solidFill>
          </p:spPr>
        </p:sp>
        <p:sp>
          <p:nvSpPr>
            <p:cNvPr id="25" name="Freeform 25"/>
            <p:cNvSpPr/>
            <p:nvPr/>
          </p:nvSpPr>
          <p:spPr>
            <a:xfrm>
              <a:off x="0" y="0"/>
              <a:ext cx="6443980" cy="2111375"/>
            </a:xfrm>
            <a:custGeom>
              <a:avLst/>
              <a:gdLst/>
              <a:ahLst/>
              <a:cxnLst/>
              <a:rect l="l" t="t" r="r" b="b"/>
              <a:pathLst>
                <a:path w="6443980" h="2111375">
                  <a:moveTo>
                    <a:pt x="0" y="127127"/>
                  </a:moveTo>
                  <a:cubicBezTo>
                    <a:pt x="0" y="56642"/>
                    <a:pt x="57785" y="0"/>
                    <a:pt x="128397" y="0"/>
                  </a:cubicBezTo>
                  <a:lnTo>
                    <a:pt x="6315583" y="0"/>
                  </a:lnTo>
                  <a:lnTo>
                    <a:pt x="6315583" y="19050"/>
                  </a:lnTo>
                  <a:lnTo>
                    <a:pt x="6315583" y="0"/>
                  </a:lnTo>
                  <a:cubicBezTo>
                    <a:pt x="6386322" y="0"/>
                    <a:pt x="6443980" y="56642"/>
                    <a:pt x="6443980" y="127127"/>
                  </a:cubicBezTo>
                  <a:lnTo>
                    <a:pt x="6424930" y="127127"/>
                  </a:lnTo>
                  <a:lnTo>
                    <a:pt x="6443980" y="127127"/>
                  </a:lnTo>
                  <a:lnTo>
                    <a:pt x="6443980" y="1984248"/>
                  </a:lnTo>
                  <a:lnTo>
                    <a:pt x="6424930" y="1984248"/>
                  </a:lnTo>
                  <a:lnTo>
                    <a:pt x="6443980" y="1984248"/>
                  </a:lnTo>
                  <a:cubicBezTo>
                    <a:pt x="6443980" y="2054606"/>
                    <a:pt x="6386195" y="2111375"/>
                    <a:pt x="6315583" y="2111375"/>
                  </a:cubicBezTo>
                  <a:lnTo>
                    <a:pt x="6315583" y="2092325"/>
                  </a:lnTo>
                  <a:lnTo>
                    <a:pt x="6315583" y="2111375"/>
                  </a:lnTo>
                  <a:lnTo>
                    <a:pt x="128397" y="2111375"/>
                  </a:lnTo>
                  <a:lnTo>
                    <a:pt x="128397" y="2092325"/>
                  </a:lnTo>
                  <a:lnTo>
                    <a:pt x="128397" y="2111375"/>
                  </a:lnTo>
                  <a:cubicBezTo>
                    <a:pt x="57785" y="2111375"/>
                    <a:pt x="0" y="2054733"/>
                    <a:pt x="0" y="1984248"/>
                  </a:cubicBezTo>
                  <a:lnTo>
                    <a:pt x="0" y="127127"/>
                  </a:lnTo>
                  <a:lnTo>
                    <a:pt x="19050" y="127127"/>
                  </a:lnTo>
                  <a:lnTo>
                    <a:pt x="0" y="127127"/>
                  </a:lnTo>
                  <a:moveTo>
                    <a:pt x="38100" y="127127"/>
                  </a:moveTo>
                  <a:lnTo>
                    <a:pt x="38100" y="1984248"/>
                  </a:lnTo>
                  <a:lnTo>
                    <a:pt x="19050" y="1984248"/>
                  </a:lnTo>
                  <a:lnTo>
                    <a:pt x="38100" y="1984248"/>
                  </a:lnTo>
                  <a:cubicBezTo>
                    <a:pt x="38100" y="2033143"/>
                    <a:pt x="78359" y="2073275"/>
                    <a:pt x="128397" y="2073275"/>
                  </a:cubicBezTo>
                  <a:lnTo>
                    <a:pt x="6315583" y="2073275"/>
                  </a:lnTo>
                  <a:cubicBezTo>
                    <a:pt x="6365748" y="2073275"/>
                    <a:pt x="6405880" y="2033143"/>
                    <a:pt x="6405880" y="1984248"/>
                  </a:cubicBezTo>
                  <a:lnTo>
                    <a:pt x="6405880" y="127127"/>
                  </a:lnTo>
                  <a:cubicBezTo>
                    <a:pt x="6405880" y="78232"/>
                    <a:pt x="6365621" y="38100"/>
                    <a:pt x="6315583" y="38100"/>
                  </a:cubicBezTo>
                  <a:lnTo>
                    <a:pt x="128397" y="38100"/>
                  </a:lnTo>
                  <a:lnTo>
                    <a:pt x="128397" y="19050"/>
                  </a:lnTo>
                  <a:lnTo>
                    <a:pt x="128397" y="38100"/>
                  </a:lnTo>
                  <a:cubicBezTo>
                    <a:pt x="78359" y="38100"/>
                    <a:pt x="38100" y="78232"/>
                    <a:pt x="38100" y="127127"/>
                  </a:cubicBezTo>
                  <a:close/>
                </a:path>
              </a:pathLst>
            </a:custGeom>
            <a:solidFill>
              <a:srgbClr val="C0C1D7"/>
            </a:solidFill>
          </p:spPr>
        </p:sp>
      </p:grpSp>
      <p:sp>
        <p:nvSpPr>
          <p:cNvPr id="26" name="TextBox 26"/>
          <p:cNvSpPr txBox="1"/>
          <p:nvPr/>
        </p:nvSpPr>
        <p:spPr>
          <a:xfrm>
            <a:off x="13039279" y="5656809"/>
            <a:ext cx="2543473" cy="311051"/>
          </a:xfrm>
          <a:prstGeom prst="rect">
            <a:avLst/>
          </a:prstGeom>
        </p:spPr>
        <p:txBody>
          <a:bodyPr lIns="0" tIns="0" rIns="0" bIns="0" rtlCol="0" anchor="t">
            <a:spAutoFit/>
          </a:bodyPr>
          <a:lstStyle/>
          <a:p>
            <a:pPr algn="l">
              <a:lnSpc>
                <a:spcPts val="2312"/>
              </a:lnSpc>
            </a:pPr>
            <a:r>
              <a:rPr lang="en-US" sz="1874" b="1">
                <a:solidFill>
                  <a:srgbClr val="272525"/>
                </a:solidFill>
                <a:latin typeface="Inter Bold"/>
                <a:ea typeface="Inter Bold"/>
                <a:cs typeface="Inter Bold"/>
                <a:sym typeface="Inter Bold"/>
              </a:rPr>
              <a:t>Automated Scenarios</a:t>
            </a:r>
          </a:p>
        </p:txBody>
      </p:sp>
      <p:sp>
        <p:nvSpPr>
          <p:cNvPr id="27" name="TextBox 27"/>
          <p:cNvSpPr txBox="1"/>
          <p:nvPr/>
        </p:nvSpPr>
        <p:spPr>
          <a:xfrm>
            <a:off x="13039279" y="6103590"/>
            <a:ext cx="4361558" cy="674786"/>
          </a:xfrm>
          <a:prstGeom prst="rect">
            <a:avLst/>
          </a:prstGeom>
        </p:spPr>
        <p:txBody>
          <a:bodyPr lIns="0" tIns="0" rIns="0" bIns="0" rtlCol="0" anchor="t">
            <a:spAutoFit/>
          </a:bodyPr>
          <a:lstStyle/>
          <a:p>
            <a:pPr algn="l">
              <a:lnSpc>
                <a:spcPts val="2375"/>
              </a:lnSpc>
            </a:pPr>
            <a:r>
              <a:rPr lang="en-US" sz="1500">
                <a:solidFill>
                  <a:srgbClr val="272525"/>
                </a:solidFill>
                <a:latin typeface="Inter"/>
                <a:ea typeface="Inter"/>
                <a:cs typeface="Inter"/>
                <a:sym typeface="Inter"/>
              </a:rPr>
              <a:t>Intelligent generation and simulation of edge cases and typical conditions</a:t>
            </a:r>
          </a:p>
        </p:txBody>
      </p:sp>
      <p:grpSp>
        <p:nvGrpSpPr>
          <p:cNvPr id="28" name="Group 28"/>
          <p:cNvGrpSpPr/>
          <p:nvPr/>
        </p:nvGrpSpPr>
        <p:grpSpPr>
          <a:xfrm>
            <a:off x="12803535" y="7178428"/>
            <a:ext cx="4833045" cy="1583531"/>
            <a:chOff x="0" y="0"/>
            <a:chExt cx="6444060" cy="2111375"/>
          </a:xfrm>
        </p:grpSpPr>
        <p:sp>
          <p:nvSpPr>
            <p:cNvPr id="29" name="Freeform 29"/>
            <p:cNvSpPr/>
            <p:nvPr/>
          </p:nvSpPr>
          <p:spPr>
            <a:xfrm>
              <a:off x="19050" y="19050"/>
              <a:ext cx="6405880" cy="2073275"/>
            </a:xfrm>
            <a:custGeom>
              <a:avLst/>
              <a:gdLst/>
              <a:ahLst/>
              <a:cxnLst/>
              <a:rect l="l" t="t" r="r" b="b"/>
              <a:pathLst>
                <a:path w="6405880" h="2073275">
                  <a:moveTo>
                    <a:pt x="0" y="108077"/>
                  </a:moveTo>
                  <a:cubicBezTo>
                    <a:pt x="0" y="48387"/>
                    <a:pt x="49022" y="0"/>
                    <a:pt x="109347" y="0"/>
                  </a:cubicBezTo>
                  <a:lnTo>
                    <a:pt x="6296533" y="0"/>
                  </a:lnTo>
                  <a:cubicBezTo>
                    <a:pt x="6356985" y="0"/>
                    <a:pt x="6405880" y="48387"/>
                    <a:pt x="6405880" y="108077"/>
                  </a:cubicBezTo>
                  <a:lnTo>
                    <a:pt x="6405880" y="1965198"/>
                  </a:lnTo>
                  <a:cubicBezTo>
                    <a:pt x="6405880" y="2024888"/>
                    <a:pt x="6356858" y="2073275"/>
                    <a:pt x="6296533" y="2073275"/>
                  </a:cubicBezTo>
                  <a:lnTo>
                    <a:pt x="109347" y="2073275"/>
                  </a:lnTo>
                  <a:cubicBezTo>
                    <a:pt x="48895" y="2073275"/>
                    <a:pt x="0" y="2024888"/>
                    <a:pt x="0" y="1965198"/>
                  </a:cubicBezTo>
                  <a:close/>
                </a:path>
              </a:pathLst>
            </a:custGeom>
            <a:solidFill>
              <a:srgbClr val="FFFFFF"/>
            </a:solidFill>
          </p:spPr>
        </p:sp>
        <p:sp>
          <p:nvSpPr>
            <p:cNvPr id="30" name="Freeform 30"/>
            <p:cNvSpPr/>
            <p:nvPr/>
          </p:nvSpPr>
          <p:spPr>
            <a:xfrm>
              <a:off x="0" y="0"/>
              <a:ext cx="6443980" cy="2111375"/>
            </a:xfrm>
            <a:custGeom>
              <a:avLst/>
              <a:gdLst/>
              <a:ahLst/>
              <a:cxnLst/>
              <a:rect l="l" t="t" r="r" b="b"/>
              <a:pathLst>
                <a:path w="6443980" h="2111375">
                  <a:moveTo>
                    <a:pt x="0" y="127127"/>
                  </a:moveTo>
                  <a:cubicBezTo>
                    <a:pt x="0" y="56642"/>
                    <a:pt x="57785" y="0"/>
                    <a:pt x="128397" y="0"/>
                  </a:cubicBezTo>
                  <a:lnTo>
                    <a:pt x="6315583" y="0"/>
                  </a:lnTo>
                  <a:lnTo>
                    <a:pt x="6315583" y="19050"/>
                  </a:lnTo>
                  <a:lnTo>
                    <a:pt x="6315583" y="0"/>
                  </a:lnTo>
                  <a:cubicBezTo>
                    <a:pt x="6386322" y="0"/>
                    <a:pt x="6443980" y="56642"/>
                    <a:pt x="6443980" y="127127"/>
                  </a:cubicBezTo>
                  <a:lnTo>
                    <a:pt x="6424930" y="127127"/>
                  </a:lnTo>
                  <a:lnTo>
                    <a:pt x="6443980" y="127127"/>
                  </a:lnTo>
                  <a:lnTo>
                    <a:pt x="6443980" y="1984248"/>
                  </a:lnTo>
                  <a:lnTo>
                    <a:pt x="6424930" y="1984248"/>
                  </a:lnTo>
                  <a:lnTo>
                    <a:pt x="6443980" y="1984248"/>
                  </a:lnTo>
                  <a:cubicBezTo>
                    <a:pt x="6443980" y="2054606"/>
                    <a:pt x="6386195" y="2111375"/>
                    <a:pt x="6315583" y="2111375"/>
                  </a:cubicBezTo>
                  <a:lnTo>
                    <a:pt x="6315583" y="2092325"/>
                  </a:lnTo>
                  <a:lnTo>
                    <a:pt x="6315583" y="2111375"/>
                  </a:lnTo>
                  <a:lnTo>
                    <a:pt x="128397" y="2111375"/>
                  </a:lnTo>
                  <a:lnTo>
                    <a:pt x="128397" y="2092325"/>
                  </a:lnTo>
                  <a:lnTo>
                    <a:pt x="128397" y="2111375"/>
                  </a:lnTo>
                  <a:cubicBezTo>
                    <a:pt x="57785" y="2111375"/>
                    <a:pt x="0" y="2054733"/>
                    <a:pt x="0" y="1984248"/>
                  </a:cubicBezTo>
                  <a:lnTo>
                    <a:pt x="0" y="127127"/>
                  </a:lnTo>
                  <a:lnTo>
                    <a:pt x="19050" y="127127"/>
                  </a:lnTo>
                  <a:lnTo>
                    <a:pt x="0" y="127127"/>
                  </a:lnTo>
                  <a:moveTo>
                    <a:pt x="38100" y="127127"/>
                  </a:moveTo>
                  <a:lnTo>
                    <a:pt x="38100" y="1984248"/>
                  </a:lnTo>
                  <a:lnTo>
                    <a:pt x="19050" y="1984248"/>
                  </a:lnTo>
                  <a:lnTo>
                    <a:pt x="38100" y="1984248"/>
                  </a:lnTo>
                  <a:cubicBezTo>
                    <a:pt x="38100" y="2033143"/>
                    <a:pt x="78359" y="2073275"/>
                    <a:pt x="128397" y="2073275"/>
                  </a:cubicBezTo>
                  <a:lnTo>
                    <a:pt x="6315583" y="2073275"/>
                  </a:lnTo>
                  <a:cubicBezTo>
                    <a:pt x="6365748" y="2073275"/>
                    <a:pt x="6405880" y="2033143"/>
                    <a:pt x="6405880" y="1984248"/>
                  </a:cubicBezTo>
                  <a:lnTo>
                    <a:pt x="6405880" y="127127"/>
                  </a:lnTo>
                  <a:cubicBezTo>
                    <a:pt x="6405880" y="78232"/>
                    <a:pt x="6365621" y="38100"/>
                    <a:pt x="6315583" y="38100"/>
                  </a:cubicBezTo>
                  <a:lnTo>
                    <a:pt x="128397" y="38100"/>
                  </a:lnTo>
                  <a:lnTo>
                    <a:pt x="128397" y="19050"/>
                  </a:lnTo>
                  <a:lnTo>
                    <a:pt x="128397" y="38100"/>
                  </a:lnTo>
                  <a:cubicBezTo>
                    <a:pt x="78359" y="38100"/>
                    <a:pt x="38100" y="78232"/>
                    <a:pt x="38100" y="127127"/>
                  </a:cubicBezTo>
                  <a:close/>
                </a:path>
              </a:pathLst>
            </a:custGeom>
            <a:solidFill>
              <a:srgbClr val="C0C1D7"/>
            </a:solidFill>
          </p:spPr>
        </p:sp>
      </p:grpSp>
      <p:sp>
        <p:nvSpPr>
          <p:cNvPr id="31" name="TextBox 31"/>
          <p:cNvSpPr txBox="1"/>
          <p:nvPr/>
        </p:nvSpPr>
        <p:spPr>
          <a:xfrm>
            <a:off x="13039279" y="7404646"/>
            <a:ext cx="2749302" cy="311051"/>
          </a:xfrm>
          <a:prstGeom prst="rect">
            <a:avLst/>
          </a:prstGeom>
        </p:spPr>
        <p:txBody>
          <a:bodyPr lIns="0" tIns="0" rIns="0" bIns="0" rtlCol="0" anchor="t">
            <a:spAutoFit/>
          </a:bodyPr>
          <a:lstStyle/>
          <a:p>
            <a:pPr algn="l">
              <a:lnSpc>
                <a:spcPts val="2312"/>
              </a:lnSpc>
            </a:pPr>
            <a:r>
              <a:rPr lang="en-US" sz="1874" b="1">
                <a:solidFill>
                  <a:srgbClr val="272525"/>
                </a:solidFill>
                <a:latin typeface="Inter Bold"/>
                <a:ea typeface="Inter Bold"/>
                <a:cs typeface="Inter Bold"/>
                <a:sym typeface="Inter Bold"/>
              </a:rPr>
              <a:t>Predictive Optimisation</a:t>
            </a:r>
          </a:p>
        </p:txBody>
      </p:sp>
      <p:sp>
        <p:nvSpPr>
          <p:cNvPr id="32" name="TextBox 32"/>
          <p:cNvSpPr txBox="1"/>
          <p:nvPr/>
        </p:nvSpPr>
        <p:spPr>
          <a:xfrm>
            <a:off x="13039279" y="7851427"/>
            <a:ext cx="4361558" cy="674786"/>
          </a:xfrm>
          <a:prstGeom prst="rect">
            <a:avLst/>
          </a:prstGeom>
        </p:spPr>
        <p:txBody>
          <a:bodyPr lIns="0" tIns="0" rIns="0" bIns="0" rtlCol="0" anchor="t">
            <a:spAutoFit/>
          </a:bodyPr>
          <a:lstStyle/>
          <a:p>
            <a:pPr algn="l">
              <a:lnSpc>
                <a:spcPts val="2375"/>
              </a:lnSpc>
            </a:pPr>
            <a:r>
              <a:rPr lang="en-US" sz="1500">
                <a:solidFill>
                  <a:srgbClr val="272525"/>
                </a:solidFill>
                <a:latin typeface="Inter"/>
                <a:ea typeface="Inter"/>
                <a:cs typeface="Inter"/>
                <a:sym typeface="Inter"/>
              </a:rPr>
              <a:t>Models identify optimal interconnection points and configurations</a:t>
            </a:r>
          </a:p>
        </p:txBody>
      </p:sp>
      <p:sp>
        <p:nvSpPr>
          <p:cNvPr id="33" name="TextBox 33"/>
          <p:cNvSpPr txBox="1"/>
          <p:nvPr/>
        </p:nvSpPr>
        <p:spPr>
          <a:xfrm>
            <a:off x="12817822" y="8907512"/>
            <a:ext cx="4804470" cy="674786"/>
          </a:xfrm>
          <a:prstGeom prst="rect">
            <a:avLst/>
          </a:prstGeom>
        </p:spPr>
        <p:txBody>
          <a:bodyPr lIns="0" tIns="0" rIns="0" bIns="0" rtlCol="0" anchor="t">
            <a:spAutoFit/>
          </a:bodyPr>
          <a:lstStyle/>
          <a:p>
            <a:pPr algn="l">
              <a:lnSpc>
                <a:spcPts val="2375"/>
              </a:lnSpc>
            </a:pPr>
            <a:r>
              <a:rPr lang="en-US" sz="1500" b="1">
                <a:solidFill>
                  <a:srgbClr val="272525"/>
                </a:solidFill>
                <a:latin typeface="Inter Bold"/>
                <a:ea typeface="Inter Bold"/>
                <a:cs typeface="Inter Bold"/>
                <a:sym typeface="Inter Bold"/>
              </a:rPr>
              <a:t>Timeline:</a:t>
            </a:r>
            <a:r>
              <a:rPr lang="en-US" sz="1500">
                <a:solidFill>
                  <a:srgbClr val="272525"/>
                </a:solidFill>
                <a:latin typeface="Inter"/>
                <a:ea typeface="Inter"/>
                <a:cs typeface="Inter"/>
                <a:sym typeface="Inter"/>
              </a:rPr>
              <a:t> 12-18 months | </a:t>
            </a:r>
            <a:r>
              <a:rPr lang="en-US" sz="1500" b="1">
                <a:solidFill>
                  <a:srgbClr val="272525"/>
                </a:solidFill>
                <a:latin typeface="Inter Bold"/>
                <a:ea typeface="Inter Bold"/>
                <a:cs typeface="Inter Bold"/>
                <a:sym typeface="Inter Bold"/>
              </a:rPr>
              <a:t>Impact:</a:t>
            </a:r>
            <a:r>
              <a:rPr lang="en-US" sz="1500">
                <a:solidFill>
                  <a:srgbClr val="272525"/>
                </a:solidFill>
                <a:latin typeface="Inter"/>
                <a:ea typeface="Inter"/>
                <a:cs typeface="Inter"/>
                <a:sym typeface="Inter"/>
              </a:rPr>
              <a:t> 60-70% faster studies with better solution identification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809922" y="609600"/>
            <a:ext cx="11296501" cy="751582"/>
          </a:xfrm>
          <a:prstGeom prst="rect">
            <a:avLst/>
          </a:prstGeom>
        </p:spPr>
        <p:txBody>
          <a:bodyPr lIns="0" tIns="0" rIns="0" bIns="0" rtlCol="0" anchor="t">
            <a:spAutoFit/>
          </a:bodyPr>
          <a:lstStyle/>
          <a:p>
            <a:pPr algn="l">
              <a:lnSpc>
                <a:spcPts val="5687"/>
              </a:lnSpc>
            </a:pPr>
            <a:r>
              <a:rPr lang="en-US" sz="4499" b="1">
                <a:solidFill>
                  <a:srgbClr val="000000"/>
                </a:solidFill>
                <a:latin typeface="Inter Bold"/>
                <a:ea typeface="Inter Bold"/>
                <a:cs typeface="Inter Bold"/>
                <a:sym typeface="Inter Bold"/>
              </a:rPr>
              <a:t>AI Approach: Multi-Agent Study System</a:t>
            </a:r>
          </a:p>
        </p:txBody>
      </p:sp>
      <p:sp>
        <p:nvSpPr>
          <p:cNvPr id="7" name="TextBox 7"/>
          <p:cNvSpPr txBox="1"/>
          <p:nvPr/>
        </p:nvSpPr>
        <p:spPr>
          <a:xfrm>
            <a:off x="809922" y="1444079"/>
            <a:ext cx="5772001" cy="443359"/>
          </a:xfrm>
          <a:prstGeom prst="rect">
            <a:avLst/>
          </a:prstGeom>
        </p:spPr>
        <p:txBody>
          <a:bodyPr lIns="0" tIns="0" rIns="0" bIns="0" rtlCol="0" anchor="t">
            <a:spAutoFit/>
          </a:bodyPr>
          <a:lstStyle/>
          <a:p>
            <a:pPr algn="l">
              <a:lnSpc>
                <a:spcPts val="3374"/>
              </a:lnSpc>
            </a:pPr>
            <a:r>
              <a:rPr lang="en-US" sz="2687" b="1">
                <a:solidFill>
                  <a:srgbClr val="000000"/>
                </a:solidFill>
                <a:latin typeface="Inter Bold"/>
                <a:ea typeface="Inter Bold"/>
                <a:cs typeface="Inter Bold"/>
                <a:sym typeface="Inter Bold"/>
              </a:rPr>
              <a:t>Agentic Workflow for Grid Studies</a:t>
            </a:r>
          </a:p>
        </p:txBody>
      </p:sp>
      <p:sp>
        <p:nvSpPr>
          <p:cNvPr id="8" name="TextBox 8"/>
          <p:cNvSpPr txBox="1"/>
          <p:nvPr/>
        </p:nvSpPr>
        <p:spPr>
          <a:xfrm>
            <a:off x="809922" y="2167830"/>
            <a:ext cx="231279" cy="355847"/>
          </a:xfrm>
          <a:prstGeom prst="rect">
            <a:avLst/>
          </a:prstGeom>
        </p:spPr>
        <p:txBody>
          <a:bodyPr lIns="0" tIns="0" rIns="0" bIns="0" rtlCol="0" anchor="t">
            <a:spAutoFit/>
          </a:bodyPr>
          <a:lstStyle/>
          <a:p>
            <a:pPr algn="l">
              <a:lnSpc>
                <a:spcPts val="2875"/>
              </a:lnSpc>
            </a:pPr>
            <a:r>
              <a:rPr lang="en-US" sz="1812">
                <a:solidFill>
                  <a:srgbClr val="272525"/>
                </a:solidFill>
                <a:latin typeface="Inter Light"/>
                <a:ea typeface="Inter Light"/>
                <a:cs typeface="Inter Light"/>
                <a:sym typeface="Inter Light"/>
              </a:rPr>
              <a:t>01</a:t>
            </a:r>
          </a:p>
        </p:txBody>
      </p:sp>
      <p:grpSp>
        <p:nvGrpSpPr>
          <p:cNvPr id="9" name="Group 9"/>
          <p:cNvGrpSpPr/>
          <p:nvPr/>
        </p:nvGrpSpPr>
        <p:grpSpPr>
          <a:xfrm>
            <a:off x="809922" y="2598985"/>
            <a:ext cx="8218437" cy="28575"/>
            <a:chOff x="0" y="0"/>
            <a:chExt cx="10957917" cy="38100"/>
          </a:xfrm>
        </p:grpSpPr>
        <p:sp>
          <p:nvSpPr>
            <p:cNvPr id="10" name="Freeform 10"/>
            <p:cNvSpPr/>
            <p:nvPr/>
          </p:nvSpPr>
          <p:spPr>
            <a:xfrm>
              <a:off x="0" y="0"/>
              <a:ext cx="10957941" cy="38100"/>
            </a:xfrm>
            <a:custGeom>
              <a:avLst/>
              <a:gdLst/>
              <a:ahLst/>
              <a:cxnLst/>
              <a:rect l="l" t="t" r="r" b="b"/>
              <a:pathLst>
                <a:path w="10957941" h="38100">
                  <a:moveTo>
                    <a:pt x="0" y="0"/>
                  </a:moveTo>
                  <a:lnTo>
                    <a:pt x="10957941" y="0"/>
                  </a:lnTo>
                  <a:lnTo>
                    <a:pt x="10957941" y="38100"/>
                  </a:lnTo>
                  <a:lnTo>
                    <a:pt x="0" y="38100"/>
                  </a:lnTo>
                  <a:close/>
                </a:path>
              </a:pathLst>
            </a:custGeom>
            <a:solidFill>
              <a:srgbClr val="4950BC"/>
            </a:solidFill>
          </p:spPr>
        </p:sp>
      </p:grpSp>
      <p:sp>
        <p:nvSpPr>
          <p:cNvPr id="11" name="TextBox 11"/>
          <p:cNvSpPr txBox="1"/>
          <p:nvPr/>
        </p:nvSpPr>
        <p:spPr>
          <a:xfrm>
            <a:off x="809922" y="2752725"/>
            <a:ext cx="2892475" cy="380702"/>
          </a:xfrm>
          <a:prstGeom prst="rect">
            <a:avLst/>
          </a:prstGeom>
        </p:spPr>
        <p:txBody>
          <a:bodyPr lIns="0" tIns="0" rIns="0" bIns="0" rtlCol="0" anchor="t">
            <a:spAutoFit/>
          </a:bodyPr>
          <a:lstStyle/>
          <a:p>
            <a:pPr algn="l">
              <a:lnSpc>
                <a:spcPts val="2812"/>
              </a:lnSpc>
            </a:pPr>
            <a:r>
              <a:rPr lang="en-US" sz="2249" b="1">
                <a:solidFill>
                  <a:srgbClr val="272525"/>
                </a:solidFill>
                <a:latin typeface="Inter Bold"/>
                <a:ea typeface="Inter Bold"/>
                <a:cs typeface="Inter Bold"/>
                <a:sym typeface="Inter Bold"/>
              </a:rPr>
              <a:t>Manager Agent</a:t>
            </a:r>
          </a:p>
        </p:txBody>
      </p:sp>
      <p:sp>
        <p:nvSpPr>
          <p:cNvPr id="12" name="TextBox 12"/>
          <p:cNvSpPr txBox="1"/>
          <p:nvPr/>
        </p:nvSpPr>
        <p:spPr>
          <a:xfrm>
            <a:off x="809922" y="3205460"/>
            <a:ext cx="8218437" cy="807244"/>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Analyses project requirements, decomposes into specific study tasks, coordinates specialist agents throughout workflow</a:t>
            </a:r>
          </a:p>
        </p:txBody>
      </p:sp>
      <p:sp>
        <p:nvSpPr>
          <p:cNvPr id="13" name="TextBox 13"/>
          <p:cNvSpPr txBox="1"/>
          <p:nvPr/>
        </p:nvSpPr>
        <p:spPr>
          <a:xfrm>
            <a:off x="809922" y="4084736"/>
            <a:ext cx="8218437" cy="436960"/>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Tech: LangGraph orchestration</a:t>
            </a:r>
          </a:p>
        </p:txBody>
      </p:sp>
      <p:sp>
        <p:nvSpPr>
          <p:cNvPr id="14" name="TextBox 14"/>
          <p:cNvSpPr txBox="1"/>
          <p:nvPr/>
        </p:nvSpPr>
        <p:spPr>
          <a:xfrm>
            <a:off x="9259640" y="2167830"/>
            <a:ext cx="231279" cy="355847"/>
          </a:xfrm>
          <a:prstGeom prst="rect">
            <a:avLst/>
          </a:prstGeom>
        </p:spPr>
        <p:txBody>
          <a:bodyPr lIns="0" tIns="0" rIns="0" bIns="0" rtlCol="0" anchor="t">
            <a:spAutoFit/>
          </a:bodyPr>
          <a:lstStyle/>
          <a:p>
            <a:pPr algn="l">
              <a:lnSpc>
                <a:spcPts val="2875"/>
              </a:lnSpc>
            </a:pPr>
            <a:r>
              <a:rPr lang="en-US" sz="1812">
                <a:solidFill>
                  <a:srgbClr val="272525"/>
                </a:solidFill>
                <a:latin typeface="Inter Light"/>
                <a:ea typeface="Inter Light"/>
                <a:cs typeface="Inter Light"/>
                <a:sym typeface="Inter Light"/>
              </a:rPr>
              <a:t>02</a:t>
            </a:r>
          </a:p>
        </p:txBody>
      </p:sp>
      <p:grpSp>
        <p:nvGrpSpPr>
          <p:cNvPr id="15" name="Group 15"/>
          <p:cNvGrpSpPr/>
          <p:nvPr/>
        </p:nvGrpSpPr>
        <p:grpSpPr>
          <a:xfrm>
            <a:off x="9259640" y="2598985"/>
            <a:ext cx="8218437" cy="28575"/>
            <a:chOff x="0" y="0"/>
            <a:chExt cx="10957917" cy="38100"/>
          </a:xfrm>
        </p:grpSpPr>
        <p:sp>
          <p:nvSpPr>
            <p:cNvPr id="16" name="Freeform 16"/>
            <p:cNvSpPr/>
            <p:nvPr/>
          </p:nvSpPr>
          <p:spPr>
            <a:xfrm>
              <a:off x="0" y="0"/>
              <a:ext cx="10957941" cy="38100"/>
            </a:xfrm>
            <a:custGeom>
              <a:avLst/>
              <a:gdLst/>
              <a:ahLst/>
              <a:cxnLst/>
              <a:rect l="l" t="t" r="r" b="b"/>
              <a:pathLst>
                <a:path w="10957941" h="38100">
                  <a:moveTo>
                    <a:pt x="0" y="0"/>
                  </a:moveTo>
                  <a:lnTo>
                    <a:pt x="10957941" y="0"/>
                  </a:lnTo>
                  <a:lnTo>
                    <a:pt x="10957941" y="38100"/>
                  </a:lnTo>
                  <a:lnTo>
                    <a:pt x="0" y="38100"/>
                  </a:lnTo>
                  <a:close/>
                </a:path>
              </a:pathLst>
            </a:custGeom>
            <a:solidFill>
              <a:srgbClr val="4950BC"/>
            </a:solidFill>
          </p:spPr>
        </p:sp>
      </p:grpSp>
      <p:sp>
        <p:nvSpPr>
          <p:cNvPr id="17" name="TextBox 17"/>
          <p:cNvSpPr txBox="1"/>
          <p:nvPr/>
        </p:nvSpPr>
        <p:spPr>
          <a:xfrm>
            <a:off x="9259640" y="2752725"/>
            <a:ext cx="2892475" cy="380702"/>
          </a:xfrm>
          <a:prstGeom prst="rect">
            <a:avLst/>
          </a:prstGeom>
        </p:spPr>
        <p:txBody>
          <a:bodyPr lIns="0" tIns="0" rIns="0" bIns="0" rtlCol="0" anchor="t">
            <a:spAutoFit/>
          </a:bodyPr>
          <a:lstStyle/>
          <a:p>
            <a:pPr algn="l">
              <a:lnSpc>
                <a:spcPts val="2812"/>
              </a:lnSpc>
            </a:pPr>
            <a:r>
              <a:rPr lang="en-US" sz="2249" b="1">
                <a:solidFill>
                  <a:srgbClr val="272525"/>
                </a:solidFill>
                <a:latin typeface="Inter Bold"/>
                <a:ea typeface="Inter Bold"/>
                <a:cs typeface="Inter Bold"/>
                <a:sym typeface="Inter Bold"/>
              </a:rPr>
              <a:t>Specialist Agents</a:t>
            </a:r>
          </a:p>
        </p:txBody>
      </p:sp>
      <p:sp>
        <p:nvSpPr>
          <p:cNvPr id="18" name="TextBox 18"/>
          <p:cNvSpPr txBox="1"/>
          <p:nvPr/>
        </p:nvSpPr>
        <p:spPr>
          <a:xfrm>
            <a:off x="9259640" y="3205460"/>
            <a:ext cx="8218437" cy="436960"/>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Voltage Stability Agent utilises ML models and power flow simulations</a:t>
            </a:r>
          </a:p>
        </p:txBody>
      </p:sp>
      <p:sp>
        <p:nvSpPr>
          <p:cNvPr id="19" name="TextBox 19"/>
          <p:cNvSpPr txBox="1"/>
          <p:nvPr/>
        </p:nvSpPr>
        <p:spPr>
          <a:xfrm>
            <a:off x="9259640" y="3714453"/>
            <a:ext cx="8218437" cy="436960"/>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Fault Analysis Agent leverages historical data with predictive models</a:t>
            </a:r>
          </a:p>
        </p:txBody>
      </p:sp>
      <p:sp>
        <p:nvSpPr>
          <p:cNvPr id="20" name="TextBox 20"/>
          <p:cNvSpPr txBox="1"/>
          <p:nvPr/>
        </p:nvSpPr>
        <p:spPr>
          <a:xfrm>
            <a:off x="9259640" y="4223445"/>
            <a:ext cx="8218437" cy="436960"/>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Capacity Agent applies dynamic line rating algorithms</a:t>
            </a:r>
          </a:p>
        </p:txBody>
      </p:sp>
      <p:sp>
        <p:nvSpPr>
          <p:cNvPr id="21" name="TextBox 21"/>
          <p:cNvSpPr txBox="1"/>
          <p:nvPr/>
        </p:nvSpPr>
        <p:spPr>
          <a:xfrm>
            <a:off x="9259640" y="4732436"/>
            <a:ext cx="8218437" cy="436960"/>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Tech: ReAct Agents + Tools</a:t>
            </a:r>
          </a:p>
        </p:txBody>
      </p:sp>
      <p:sp>
        <p:nvSpPr>
          <p:cNvPr id="22" name="TextBox 22"/>
          <p:cNvSpPr txBox="1"/>
          <p:nvPr/>
        </p:nvSpPr>
        <p:spPr>
          <a:xfrm>
            <a:off x="809922" y="5507534"/>
            <a:ext cx="231279" cy="355847"/>
          </a:xfrm>
          <a:prstGeom prst="rect">
            <a:avLst/>
          </a:prstGeom>
        </p:spPr>
        <p:txBody>
          <a:bodyPr lIns="0" tIns="0" rIns="0" bIns="0" rtlCol="0" anchor="t">
            <a:spAutoFit/>
          </a:bodyPr>
          <a:lstStyle/>
          <a:p>
            <a:pPr algn="l">
              <a:lnSpc>
                <a:spcPts val="2875"/>
              </a:lnSpc>
            </a:pPr>
            <a:r>
              <a:rPr lang="en-US" sz="1812">
                <a:solidFill>
                  <a:srgbClr val="272525"/>
                </a:solidFill>
                <a:latin typeface="Inter Light"/>
                <a:ea typeface="Inter Light"/>
                <a:cs typeface="Inter Light"/>
                <a:sym typeface="Inter Light"/>
              </a:rPr>
              <a:t>03</a:t>
            </a:r>
          </a:p>
        </p:txBody>
      </p:sp>
      <p:grpSp>
        <p:nvGrpSpPr>
          <p:cNvPr id="23" name="Group 23"/>
          <p:cNvGrpSpPr/>
          <p:nvPr/>
        </p:nvGrpSpPr>
        <p:grpSpPr>
          <a:xfrm>
            <a:off x="809922" y="5938689"/>
            <a:ext cx="8218437" cy="28575"/>
            <a:chOff x="0" y="0"/>
            <a:chExt cx="10957917" cy="38100"/>
          </a:xfrm>
        </p:grpSpPr>
        <p:sp>
          <p:nvSpPr>
            <p:cNvPr id="24" name="Freeform 24"/>
            <p:cNvSpPr/>
            <p:nvPr/>
          </p:nvSpPr>
          <p:spPr>
            <a:xfrm>
              <a:off x="0" y="0"/>
              <a:ext cx="10957941" cy="38100"/>
            </a:xfrm>
            <a:custGeom>
              <a:avLst/>
              <a:gdLst/>
              <a:ahLst/>
              <a:cxnLst/>
              <a:rect l="l" t="t" r="r" b="b"/>
              <a:pathLst>
                <a:path w="10957941" h="38100">
                  <a:moveTo>
                    <a:pt x="0" y="0"/>
                  </a:moveTo>
                  <a:lnTo>
                    <a:pt x="10957941" y="0"/>
                  </a:lnTo>
                  <a:lnTo>
                    <a:pt x="10957941" y="38100"/>
                  </a:lnTo>
                  <a:lnTo>
                    <a:pt x="0" y="38100"/>
                  </a:lnTo>
                  <a:close/>
                </a:path>
              </a:pathLst>
            </a:custGeom>
            <a:solidFill>
              <a:srgbClr val="4950BC"/>
            </a:solidFill>
          </p:spPr>
        </p:sp>
      </p:grpSp>
      <p:sp>
        <p:nvSpPr>
          <p:cNvPr id="25" name="TextBox 25"/>
          <p:cNvSpPr txBox="1"/>
          <p:nvPr/>
        </p:nvSpPr>
        <p:spPr>
          <a:xfrm>
            <a:off x="809922" y="6092427"/>
            <a:ext cx="2892475" cy="380703"/>
          </a:xfrm>
          <a:prstGeom prst="rect">
            <a:avLst/>
          </a:prstGeom>
        </p:spPr>
        <p:txBody>
          <a:bodyPr lIns="0" tIns="0" rIns="0" bIns="0" rtlCol="0" anchor="t">
            <a:spAutoFit/>
          </a:bodyPr>
          <a:lstStyle/>
          <a:p>
            <a:pPr algn="l">
              <a:lnSpc>
                <a:spcPts val="2812"/>
              </a:lnSpc>
            </a:pPr>
            <a:r>
              <a:rPr lang="en-US" sz="2249" b="1">
                <a:solidFill>
                  <a:srgbClr val="272525"/>
                </a:solidFill>
                <a:latin typeface="Inter Bold"/>
                <a:ea typeface="Inter Bold"/>
                <a:cs typeface="Inter Bold"/>
                <a:sym typeface="Inter Bold"/>
              </a:rPr>
              <a:t>Synthesis Agent</a:t>
            </a:r>
          </a:p>
        </p:txBody>
      </p:sp>
      <p:sp>
        <p:nvSpPr>
          <p:cNvPr id="26" name="TextBox 26"/>
          <p:cNvSpPr txBox="1"/>
          <p:nvPr/>
        </p:nvSpPr>
        <p:spPr>
          <a:xfrm>
            <a:off x="809922" y="6545164"/>
            <a:ext cx="8218437" cy="807244"/>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Combines all study results, identifies conflicts and dependencies, recommends optimal configuration, generates comprehensive report</a:t>
            </a:r>
          </a:p>
        </p:txBody>
      </p:sp>
      <p:sp>
        <p:nvSpPr>
          <p:cNvPr id="27" name="TextBox 27"/>
          <p:cNvSpPr txBox="1"/>
          <p:nvPr/>
        </p:nvSpPr>
        <p:spPr>
          <a:xfrm>
            <a:off x="809922" y="7424440"/>
            <a:ext cx="8218437" cy="436960"/>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Tech: LLM with structured output</a:t>
            </a:r>
          </a:p>
        </p:txBody>
      </p:sp>
      <p:sp>
        <p:nvSpPr>
          <p:cNvPr id="28" name="TextBox 28"/>
          <p:cNvSpPr txBox="1"/>
          <p:nvPr/>
        </p:nvSpPr>
        <p:spPr>
          <a:xfrm>
            <a:off x="9259640" y="5507534"/>
            <a:ext cx="231279" cy="355847"/>
          </a:xfrm>
          <a:prstGeom prst="rect">
            <a:avLst/>
          </a:prstGeom>
        </p:spPr>
        <p:txBody>
          <a:bodyPr lIns="0" tIns="0" rIns="0" bIns="0" rtlCol="0" anchor="t">
            <a:spAutoFit/>
          </a:bodyPr>
          <a:lstStyle/>
          <a:p>
            <a:pPr algn="l">
              <a:lnSpc>
                <a:spcPts val="2875"/>
              </a:lnSpc>
            </a:pPr>
            <a:r>
              <a:rPr lang="en-US" sz="1812">
                <a:solidFill>
                  <a:srgbClr val="272525"/>
                </a:solidFill>
                <a:latin typeface="Inter Light"/>
                <a:ea typeface="Inter Light"/>
                <a:cs typeface="Inter Light"/>
                <a:sym typeface="Inter Light"/>
              </a:rPr>
              <a:t>04</a:t>
            </a:r>
          </a:p>
        </p:txBody>
      </p:sp>
      <p:grpSp>
        <p:nvGrpSpPr>
          <p:cNvPr id="29" name="Group 29"/>
          <p:cNvGrpSpPr/>
          <p:nvPr/>
        </p:nvGrpSpPr>
        <p:grpSpPr>
          <a:xfrm>
            <a:off x="9259640" y="5938689"/>
            <a:ext cx="8218437" cy="28575"/>
            <a:chOff x="0" y="0"/>
            <a:chExt cx="10957917" cy="38100"/>
          </a:xfrm>
        </p:grpSpPr>
        <p:sp>
          <p:nvSpPr>
            <p:cNvPr id="30" name="Freeform 30"/>
            <p:cNvSpPr/>
            <p:nvPr/>
          </p:nvSpPr>
          <p:spPr>
            <a:xfrm>
              <a:off x="0" y="0"/>
              <a:ext cx="10957941" cy="38100"/>
            </a:xfrm>
            <a:custGeom>
              <a:avLst/>
              <a:gdLst/>
              <a:ahLst/>
              <a:cxnLst/>
              <a:rect l="l" t="t" r="r" b="b"/>
              <a:pathLst>
                <a:path w="10957941" h="38100">
                  <a:moveTo>
                    <a:pt x="0" y="0"/>
                  </a:moveTo>
                  <a:lnTo>
                    <a:pt x="10957941" y="0"/>
                  </a:lnTo>
                  <a:lnTo>
                    <a:pt x="10957941" y="38100"/>
                  </a:lnTo>
                  <a:lnTo>
                    <a:pt x="0" y="38100"/>
                  </a:lnTo>
                  <a:close/>
                </a:path>
              </a:pathLst>
            </a:custGeom>
            <a:solidFill>
              <a:srgbClr val="4950BC"/>
            </a:solidFill>
          </p:spPr>
        </p:sp>
      </p:grpSp>
      <p:sp>
        <p:nvSpPr>
          <p:cNvPr id="31" name="TextBox 31"/>
          <p:cNvSpPr txBox="1"/>
          <p:nvPr/>
        </p:nvSpPr>
        <p:spPr>
          <a:xfrm>
            <a:off x="9259640" y="6092427"/>
            <a:ext cx="2892475" cy="380703"/>
          </a:xfrm>
          <a:prstGeom prst="rect">
            <a:avLst/>
          </a:prstGeom>
        </p:spPr>
        <p:txBody>
          <a:bodyPr lIns="0" tIns="0" rIns="0" bIns="0" rtlCol="0" anchor="t">
            <a:spAutoFit/>
          </a:bodyPr>
          <a:lstStyle/>
          <a:p>
            <a:pPr algn="l">
              <a:lnSpc>
                <a:spcPts val="2812"/>
              </a:lnSpc>
            </a:pPr>
            <a:r>
              <a:rPr lang="en-US" sz="2249" b="1">
                <a:solidFill>
                  <a:srgbClr val="272525"/>
                </a:solidFill>
                <a:latin typeface="Inter Bold"/>
                <a:ea typeface="Inter Bold"/>
                <a:cs typeface="Inter Bold"/>
                <a:sym typeface="Inter Bold"/>
              </a:rPr>
              <a:t>Human Review</a:t>
            </a:r>
          </a:p>
        </p:txBody>
      </p:sp>
      <p:sp>
        <p:nvSpPr>
          <p:cNvPr id="32" name="TextBox 32"/>
          <p:cNvSpPr txBox="1"/>
          <p:nvPr/>
        </p:nvSpPr>
        <p:spPr>
          <a:xfrm>
            <a:off x="9259640" y="6545164"/>
            <a:ext cx="8218437" cy="807244"/>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Engineer validates AI findings, approves recommendations, provides final sign-off via intuitive dashboard interface</a:t>
            </a:r>
          </a:p>
        </p:txBody>
      </p:sp>
      <p:sp>
        <p:nvSpPr>
          <p:cNvPr id="33" name="TextBox 33"/>
          <p:cNvSpPr txBox="1"/>
          <p:nvPr/>
        </p:nvSpPr>
        <p:spPr>
          <a:xfrm>
            <a:off x="9259640" y="7424440"/>
            <a:ext cx="8218437" cy="436960"/>
          </a:xfrm>
          <a:prstGeom prst="rect">
            <a:avLst/>
          </a:prstGeom>
        </p:spPr>
        <p:txBody>
          <a:bodyPr lIns="0" tIns="0" rIns="0" bIns="0" rtlCol="0" anchor="t">
            <a:spAutoFit/>
          </a:bodyPr>
          <a:lstStyle/>
          <a:p>
            <a:pPr algn="l">
              <a:lnSpc>
                <a:spcPts val="2875"/>
              </a:lnSpc>
            </a:pPr>
            <a:r>
              <a:rPr lang="en-US" sz="1812">
                <a:solidFill>
                  <a:srgbClr val="272525"/>
                </a:solidFill>
                <a:latin typeface="Inter"/>
                <a:ea typeface="Inter"/>
                <a:cs typeface="Inter"/>
                <a:sym typeface="Inter"/>
              </a:rPr>
              <a:t>Tech: Interactive dashboard</a:t>
            </a:r>
          </a:p>
        </p:txBody>
      </p:sp>
      <p:grpSp>
        <p:nvGrpSpPr>
          <p:cNvPr id="34" name="Group 34"/>
          <p:cNvGrpSpPr/>
          <p:nvPr/>
        </p:nvGrpSpPr>
        <p:grpSpPr>
          <a:xfrm>
            <a:off x="809922" y="8295234"/>
            <a:ext cx="16668155" cy="1353442"/>
            <a:chOff x="0" y="0"/>
            <a:chExt cx="22224207" cy="1804590"/>
          </a:xfrm>
        </p:grpSpPr>
        <p:sp>
          <p:nvSpPr>
            <p:cNvPr id="35" name="Freeform 35"/>
            <p:cNvSpPr/>
            <p:nvPr/>
          </p:nvSpPr>
          <p:spPr>
            <a:xfrm>
              <a:off x="0" y="0"/>
              <a:ext cx="22224110" cy="1804543"/>
            </a:xfrm>
            <a:custGeom>
              <a:avLst/>
              <a:gdLst/>
              <a:ahLst/>
              <a:cxnLst/>
              <a:rect l="l" t="t" r="r" b="b"/>
              <a:pathLst>
                <a:path w="22224110" h="1804543">
                  <a:moveTo>
                    <a:pt x="0" y="129540"/>
                  </a:moveTo>
                  <a:cubicBezTo>
                    <a:pt x="0" y="58039"/>
                    <a:pt x="58039" y="0"/>
                    <a:pt x="129540" y="0"/>
                  </a:cubicBezTo>
                  <a:lnTo>
                    <a:pt x="22094571" y="0"/>
                  </a:lnTo>
                  <a:cubicBezTo>
                    <a:pt x="22166199" y="0"/>
                    <a:pt x="22224110" y="58039"/>
                    <a:pt x="22224110" y="129540"/>
                  </a:cubicBezTo>
                  <a:lnTo>
                    <a:pt x="22224110" y="1675003"/>
                  </a:lnTo>
                  <a:cubicBezTo>
                    <a:pt x="22224110" y="1746631"/>
                    <a:pt x="22166072" y="1804543"/>
                    <a:pt x="22094571" y="1804543"/>
                  </a:cubicBezTo>
                  <a:lnTo>
                    <a:pt x="129540" y="1804543"/>
                  </a:lnTo>
                  <a:cubicBezTo>
                    <a:pt x="57912" y="1804543"/>
                    <a:pt x="0" y="1746504"/>
                    <a:pt x="0" y="1675003"/>
                  </a:cubicBezTo>
                  <a:close/>
                </a:path>
              </a:pathLst>
            </a:custGeom>
            <a:solidFill>
              <a:srgbClr val="C7C9EA"/>
            </a:solidFill>
          </p:spPr>
        </p:sp>
      </p:grpSp>
      <p:grpSp>
        <p:nvGrpSpPr>
          <p:cNvPr id="36" name="Group 36"/>
          <p:cNvGrpSpPr/>
          <p:nvPr/>
        </p:nvGrpSpPr>
        <p:grpSpPr>
          <a:xfrm>
            <a:off x="1041201" y="8648551"/>
            <a:ext cx="289172" cy="231279"/>
            <a:chOff x="0" y="0"/>
            <a:chExt cx="385563" cy="308372"/>
          </a:xfrm>
        </p:grpSpPr>
        <p:sp>
          <p:nvSpPr>
            <p:cNvPr id="37" name="Freeform 37" descr="preencoded.png"/>
            <p:cNvSpPr/>
            <p:nvPr/>
          </p:nvSpPr>
          <p:spPr>
            <a:xfrm>
              <a:off x="0" y="0"/>
              <a:ext cx="385572" cy="308356"/>
            </a:xfrm>
            <a:custGeom>
              <a:avLst/>
              <a:gdLst/>
              <a:ahLst/>
              <a:cxnLst/>
              <a:rect l="l" t="t" r="r" b="b"/>
              <a:pathLst>
                <a:path w="385572" h="308356">
                  <a:moveTo>
                    <a:pt x="0" y="0"/>
                  </a:moveTo>
                  <a:lnTo>
                    <a:pt x="385572" y="0"/>
                  </a:lnTo>
                  <a:lnTo>
                    <a:pt x="385572" y="308356"/>
                  </a:lnTo>
                  <a:lnTo>
                    <a:pt x="0" y="308356"/>
                  </a:lnTo>
                  <a:lnTo>
                    <a:pt x="0" y="0"/>
                  </a:lnTo>
                  <a:close/>
                </a:path>
              </a:pathLst>
            </a:custGeom>
            <a:blipFill>
              <a:blip r:embed="rId2"/>
              <a:stretch>
                <a:fillRect t="-12" r="2" b="-17"/>
              </a:stretch>
            </a:blipFill>
          </p:spPr>
        </p:sp>
      </p:grpSp>
      <p:sp>
        <p:nvSpPr>
          <p:cNvPr id="38" name="TextBox 38"/>
          <p:cNvSpPr txBox="1"/>
          <p:nvPr/>
        </p:nvSpPr>
        <p:spPr>
          <a:xfrm>
            <a:off x="1561654" y="8517582"/>
            <a:ext cx="15685145" cy="807244"/>
          </a:xfrm>
          <a:prstGeom prst="rect">
            <a:avLst/>
          </a:prstGeom>
        </p:spPr>
        <p:txBody>
          <a:bodyPr lIns="0" tIns="0" rIns="0" bIns="0" rtlCol="0" anchor="t">
            <a:spAutoFit/>
          </a:bodyPr>
          <a:lstStyle/>
          <a:p>
            <a:pPr algn="l">
              <a:lnSpc>
                <a:spcPts val="2875"/>
              </a:lnSpc>
            </a:pPr>
            <a:r>
              <a:rPr lang="en-US" sz="1812">
                <a:solidFill>
                  <a:srgbClr val="000000"/>
                </a:solidFill>
                <a:latin typeface="Inter"/>
                <a:ea typeface="Inter"/>
                <a:cs typeface="Inter"/>
                <a:sym typeface="Inter"/>
              </a:rPr>
              <a:t>This approach enables parallel processing, ensures consistent methodology across projects, and allows for faster iteration cycles when refinements are needed.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553194" y="415529"/>
            <a:ext cx="8186738" cy="512861"/>
          </a:xfrm>
          <a:prstGeom prst="rect">
            <a:avLst/>
          </a:prstGeom>
        </p:spPr>
        <p:txBody>
          <a:bodyPr lIns="0" tIns="0" rIns="0" bIns="0" rtlCol="0" anchor="t">
            <a:spAutoFit/>
          </a:bodyPr>
          <a:lstStyle/>
          <a:p>
            <a:pPr algn="l">
              <a:lnSpc>
                <a:spcPts val="3875"/>
              </a:lnSpc>
            </a:pPr>
            <a:r>
              <a:rPr lang="en-US" sz="3062" b="1">
                <a:solidFill>
                  <a:srgbClr val="000000"/>
                </a:solidFill>
                <a:latin typeface="Inter Bold"/>
                <a:ea typeface="Inter Bold"/>
                <a:cs typeface="Inter Bold"/>
                <a:sym typeface="Inter Bold"/>
              </a:rPr>
              <a:t>Challenge 3: Dynamic Capacity &amp; Planning</a:t>
            </a:r>
          </a:p>
        </p:txBody>
      </p:sp>
      <p:sp>
        <p:nvSpPr>
          <p:cNvPr id="7" name="TextBox 7"/>
          <p:cNvSpPr txBox="1"/>
          <p:nvPr/>
        </p:nvSpPr>
        <p:spPr>
          <a:xfrm>
            <a:off x="553194" y="1304479"/>
            <a:ext cx="2370981" cy="315366"/>
          </a:xfrm>
          <a:prstGeom prst="rect">
            <a:avLst/>
          </a:prstGeom>
        </p:spPr>
        <p:txBody>
          <a:bodyPr lIns="0" tIns="0" rIns="0" bIns="0" rtlCol="0" anchor="t">
            <a:spAutoFit/>
          </a:bodyPr>
          <a:lstStyle/>
          <a:p>
            <a:pPr algn="l">
              <a:lnSpc>
                <a:spcPts val="2312"/>
              </a:lnSpc>
            </a:pPr>
            <a:r>
              <a:rPr lang="en-US" sz="1812" b="1">
                <a:solidFill>
                  <a:srgbClr val="000000"/>
                </a:solidFill>
                <a:latin typeface="Inter Bold"/>
                <a:ea typeface="Inter Bold"/>
                <a:cs typeface="Inter Bold"/>
                <a:sym typeface="Inter Bold"/>
              </a:rPr>
              <a:t>The Problem</a:t>
            </a:r>
          </a:p>
        </p:txBody>
      </p:sp>
      <p:sp>
        <p:nvSpPr>
          <p:cNvPr id="8" name="TextBox 8"/>
          <p:cNvSpPr txBox="1"/>
          <p:nvPr/>
        </p:nvSpPr>
        <p:spPr>
          <a:xfrm>
            <a:off x="553194" y="1720751"/>
            <a:ext cx="7519690" cy="562868"/>
          </a:xfrm>
          <a:prstGeom prst="rect">
            <a:avLst/>
          </a:prstGeom>
        </p:spPr>
        <p:txBody>
          <a:bodyPr lIns="0" tIns="0" rIns="0" bIns="0" rtlCol="0" anchor="t">
            <a:spAutoFit/>
          </a:bodyPr>
          <a:lstStyle/>
          <a:p>
            <a:pPr algn="l">
              <a:lnSpc>
                <a:spcPts val="1937"/>
              </a:lnSpc>
            </a:pPr>
            <a:r>
              <a:rPr lang="en-US" sz="1187">
                <a:solidFill>
                  <a:srgbClr val="272525"/>
                </a:solidFill>
                <a:latin typeface="Inter"/>
                <a:ea typeface="Inter"/>
                <a:cs typeface="Inter"/>
                <a:sym typeface="Inter"/>
              </a:rPr>
              <a:t>Static ratings severely underutilise grid capacity. Weather conditions, load patterns, and renewable generation create opportunities for dynamic optimisation that traditional systems cannot exploit.</a:t>
            </a:r>
          </a:p>
        </p:txBody>
      </p:sp>
      <p:sp>
        <p:nvSpPr>
          <p:cNvPr id="9" name="TextBox 9"/>
          <p:cNvSpPr txBox="1"/>
          <p:nvPr/>
        </p:nvSpPr>
        <p:spPr>
          <a:xfrm>
            <a:off x="553194" y="2422624"/>
            <a:ext cx="2370981" cy="315366"/>
          </a:xfrm>
          <a:prstGeom prst="rect">
            <a:avLst/>
          </a:prstGeom>
        </p:spPr>
        <p:txBody>
          <a:bodyPr lIns="0" tIns="0" rIns="0" bIns="0" rtlCol="0" anchor="t">
            <a:spAutoFit/>
          </a:bodyPr>
          <a:lstStyle/>
          <a:p>
            <a:pPr algn="l">
              <a:lnSpc>
                <a:spcPts val="2312"/>
              </a:lnSpc>
            </a:pPr>
            <a:r>
              <a:rPr lang="en-US" sz="1812" b="1">
                <a:solidFill>
                  <a:srgbClr val="000000"/>
                </a:solidFill>
                <a:latin typeface="Inter Bold"/>
                <a:ea typeface="Inter Bold"/>
                <a:cs typeface="Inter Bold"/>
                <a:sym typeface="Inter Bold"/>
              </a:rPr>
              <a:t>Current State</a:t>
            </a:r>
          </a:p>
        </p:txBody>
      </p:sp>
      <p:sp>
        <p:nvSpPr>
          <p:cNvPr id="10" name="TextBox 10"/>
          <p:cNvSpPr txBox="1"/>
          <p:nvPr/>
        </p:nvSpPr>
        <p:spPr>
          <a:xfrm>
            <a:off x="553194" y="2838896"/>
            <a:ext cx="7519690" cy="562868"/>
          </a:xfrm>
          <a:prstGeom prst="rect">
            <a:avLst/>
          </a:prstGeom>
        </p:spPr>
        <p:txBody>
          <a:bodyPr lIns="0" tIns="0" rIns="0" bIns="0" rtlCol="0" anchor="t">
            <a:spAutoFit/>
          </a:bodyPr>
          <a:lstStyle/>
          <a:p>
            <a:pPr algn="l">
              <a:lnSpc>
                <a:spcPts val="1937"/>
              </a:lnSpc>
            </a:pPr>
            <a:r>
              <a:rPr lang="en-US" sz="1187" dirty="0">
                <a:solidFill>
                  <a:srgbClr val="272525"/>
                </a:solidFill>
                <a:latin typeface="Inter"/>
                <a:ea typeface="Inter"/>
                <a:cs typeface="Inter"/>
                <a:sym typeface="Inter"/>
              </a:rPr>
              <a:t>Conservative static limits, manual adjustments requiring human intervention, and reactive planning that responds to problems rather than preventing them.</a:t>
            </a:r>
          </a:p>
        </p:txBody>
      </p:sp>
      <p:grpSp>
        <p:nvGrpSpPr>
          <p:cNvPr id="11" name="Group 11"/>
          <p:cNvGrpSpPr/>
          <p:nvPr/>
        </p:nvGrpSpPr>
        <p:grpSpPr>
          <a:xfrm>
            <a:off x="553194" y="3579465"/>
            <a:ext cx="7519690" cy="7519690"/>
            <a:chOff x="0" y="0"/>
            <a:chExt cx="10026253" cy="10026253"/>
          </a:xfrm>
        </p:grpSpPr>
        <p:sp>
          <p:nvSpPr>
            <p:cNvPr id="12" name="Freeform 12" descr="preencoded.png"/>
            <p:cNvSpPr/>
            <p:nvPr/>
          </p:nvSpPr>
          <p:spPr>
            <a:xfrm>
              <a:off x="0" y="0"/>
              <a:ext cx="10026269" cy="10026269"/>
            </a:xfrm>
            <a:custGeom>
              <a:avLst/>
              <a:gdLst/>
              <a:ahLst/>
              <a:cxnLst/>
              <a:rect l="l" t="t" r="r" b="b"/>
              <a:pathLst>
                <a:path w="10026269" h="10026269">
                  <a:moveTo>
                    <a:pt x="0" y="0"/>
                  </a:moveTo>
                  <a:lnTo>
                    <a:pt x="10026269" y="0"/>
                  </a:lnTo>
                  <a:lnTo>
                    <a:pt x="10026269" y="10026269"/>
                  </a:lnTo>
                  <a:lnTo>
                    <a:pt x="0" y="10026269"/>
                  </a:lnTo>
                  <a:lnTo>
                    <a:pt x="0" y="0"/>
                  </a:lnTo>
                  <a:close/>
                </a:path>
              </a:pathLst>
            </a:custGeom>
            <a:blipFill>
              <a:blip r:embed="rId2"/>
              <a:stretch>
                <a:fillRect/>
              </a:stretch>
            </a:blipFill>
          </p:spPr>
        </p:sp>
      </p:grpSp>
      <p:sp>
        <p:nvSpPr>
          <p:cNvPr id="13" name="TextBox 13"/>
          <p:cNvSpPr txBox="1"/>
          <p:nvPr/>
        </p:nvSpPr>
        <p:spPr>
          <a:xfrm>
            <a:off x="8467874" y="1304479"/>
            <a:ext cx="4675585" cy="315366"/>
          </a:xfrm>
          <a:prstGeom prst="rect">
            <a:avLst/>
          </a:prstGeom>
        </p:spPr>
        <p:txBody>
          <a:bodyPr lIns="0" tIns="0" rIns="0" bIns="0" rtlCol="0" anchor="t">
            <a:spAutoFit/>
          </a:bodyPr>
          <a:lstStyle/>
          <a:p>
            <a:pPr algn="l">
              <a:lnSpc>
                <a:spcPts val="2312"/>
              </a:lnSpc>
            </a:pPr>
            <a:r>
              <a:rPr lang="en-US" sz="1812" b="1">
                <a:solidFill>
                  <a:srgbClr val="000000"/>
                </a:solidFill>
                <a:latin typeface="Inter Bold"/>
                <a:ea typeface="Inter Bold"/>
                <a:cs typeface="Inter Bold"/>
                <a:sym typeface="Inter Bold"/>
              </a:rPr>
              <a:t>Predictive ML + Agentic Control Solution</a:t>
            </a:r>
          </a:p>
        </p:txBody>
      </p:sp>
      <p:sp>
        <p:nvSpPr>
          <p:cNvPr id="14" name="Freeform 14" descr="preencoded.png"/>
          <p:cNvSpPr/>
          <p:nvPr/>
        </p:nvSpPr>
        <p:spPr>
          <a:xfrm>
            <a:off x="8467874" y="1797546"/>
            <a:ext cx="395139" cy="395139"/>
          </a:xfrm>
          <a:custGeom>
            <a:avLst/>
            <a:gdLst/>
            <a:ahLst/>
            <a:cxnLst/>
            <a:rect l="l" t="t" r="r" b="b"/>
            <a:pathLst>
              <a:path w="395139" h="395139">
                <a:moveTo>
                  <a:pt x="0" y="0"/>
                </a:moveTo>
                <a:lnTo>
                  <a:pt x="395138" y="0"/>
                </a:lnTo>
                <a:lnTo>
                  <a:pt x="395138" y="395139"/>
                </a:lnTo>
                <a:lnTo>
                  <a:pt x="0" y="395139"/>
                </a:lnTo>
                <a:lnTo>
                  <a:pt x="0" y="0"/>
                </a:lnTo>
                <a:close/>
              </a:path>
            </a:pathLst>
          </a:custGeom>
          <a:blipFill>
            <a:blip r:embed="rId3">
              <a:extLst>
                <a:ext uri="{96DAC541-7B7A-43D3-8B79-37D633B846F1}">
                  <asvg:svgBlip xmlns:asvg="http://schemas.microsoft.com/office/drawing/2016/SVG/main" r:embed="rId4"/>
                </a:ext>
              </a:extLst>
            </a:blip>
            <a:stretch>
              <a:fillRect l="-15476" r="-15476"/>
            </a:stretch>
          </a:blipFill>
        </p:spPr>
      </p:sp>
      <p:sp>
        <p:nvSpPr>
          <p:cNvPr id="15" name="TextBox 15"/>
          <p:cNvSpPr txBox="1"/>
          <p:nvPr/>
        </p:nvSpPr>
        <p:spPr>
          <a:xfrm>
            <a:off x="8467874" y="2371130"/>
            <a:ext cx="2011561" cy="266105"/>
          </a:xfrm>
          <a:prstGeom prst="rect">
            <a:avLst/>
          </a:prstGeom>
        </p:spPr>
        <p:txBody>
          <a:bodyPr lIns="0" tIns="0" rIns="0" bIns="0" rtlCol="0" anchor="t">
            <a:spAutoFit/>
          </a:bodyPr>
          <a:lstStyle/>
          <a:p>
            <a:pPr algn="l">
              <a:lnSpc>
                <a:spcPts val="1937"/>
              </a:lnSpc>
            </a:pPr>
            <a:r>
              <a:rPr lang="en-US" sz="1500" b="1">
                <a:solidFill>
                  <a:srgbClr val="272525"/>
                </a:solidFill>
                <a:latin typeface="Inter Bold"/>
                <a:ea typeface="Inter Bold"/>
                <a:cs typeface="Inter Bold"/>
                <a:sym typeface="Inter Bold"/>
              </a:rPr>
              <a:t>Weather Forecasting</a:t>
            </a:r>
          </a:p>
        </p:txBody>
      </p:sp>
      <p:sp>
        <p:nvSpPr>
          <p:cNvPr id="16" name="TextBox 16"/>
          <p:cNvSpPr txBox="1"/>
          <p:nvPr/>
        </p:nvSpPr>
        <p:spPr>
          <a:xfrm>
            <a:off x="8467874" y="2738140"/>
            <a:ext cx="9276309" cy="310009"/>
          </a:xfrm>
          <a:prstGeom prst="rect">
            <a:avLst/>
          </a:prstGeom>
        </p:spPr>
        <p:txBody>
          <a:bodyPr lIns="0" tIns="0" rIns="0" bIns="0" rtlCol="0" anchor="t">
            <a:spAutoFit/>
          </a:bodyPr>
          <a:lstStyle/>
          <a:p>
            <a:pPr algn="l">
              <a:lnSpc>
                <a:spcPts val="1937"/>
              </a:lnSpc>
            </a:pPr>
            <a:r>
              <a:rPr lang="en-US" sz="1187">
                <a:solidFill>
                  <a:srgbClr val="272525"/>
                </a:solidFill>
                <a:latin typeface="Inter"/>
                <a:ea typeface="Inter"/>
                <a:cs typeface="Inter"/>
                <a:sym typeface="Inter"/>
              </a:rPr>
              <a:t>ML models predict capacity based on temperature, wind, and precipitation patterns</a:t>
            </a:r>
          </a:p>
        </p:txBody>
      </p:sp>
      <p:sp>
        <p:nvSpPr>
          <p:cNvPr id="17" name="Freeform 17" descr="preencoded.png"/>
          <p:cNvSpPr/>
          <p:nvPr/>
        </p:nvSpPr>
        <p:spPr>
          <a:xfrm>
            <a:off x="8467874" y="3364260"/>
            <a:ext cx="395139" cy="395139"/>
          </a:xfrm>
          <a:custGeom>
            <a:avLst/>
            <a:gdLst/>
            <a:ahLst/>
            <a:cxnLst/>
            <a:rect l="l" t="t" r="r" b="b"/>
            <a:pathLst>
              <a:path w="395139" h="395139">
                <a:moveTo>
                  <a:pt x="0" y="0"/>
                </a:moveTo>
                <a:lnTo>
                  <a:pt x="395138" y="0"/>
                </a:lnTo>
                <a:lnTo>
                  <a:pt x="395138" y="395139"/>
                </a:lnTo>
                <a:lnTo>
                  <a:pt x="0" y="395139"/>
                </a:lnTo>
                <a:lnTo>
                  <a:pt x="0" y="0"/>
                </a:lnTo>
                <a:close/>
              </a:path>
            </a:pathLst>
          </a:custGeom>
          <a:blipFill>
            <a:blip r:embed="rId5">
              <a:extLst>
                <a:ext uri="{96DAC541-7B7A-43D3-8B79-37D633B846F1}">
                  <asvg:svgBlip xmlns:asvg="http://schemas.microsoft.com/office/drawing/2016/SVG/main" r:embed="rId6"/>
                </a:ext>
              </a:extLst>
            </a:blip>
            <a:stretch>
              <a:fillRect l="-1190" r="-1190"/>
            </a:stretch>
          </a:blipFill>
        </p:spPr>
      </p:sp>
      <p:sp>
        <p:nvSpPr>
          <p:cNvPr id="18" name="TextBox 18"/>
          <p:cNvSpPr txBox="1"/>
          <p:nvPr/>
        </p:nvSpPr>
        <p:spPr>
          <a:xfrm>
            <a:off x="8467874" y="3937844"/>
            <a:ext cx="1975842" cy="266105"/>
          </a:xfrm>
          <a:prstGeom prst="rect">
            <a:avLst/>
          </a:prstGeom>
        </p:spPr>
        <p:txBody>
          <a:bodyPr lIns="0" tIns="0" rIns="0" bIns="0" rtlCol="0" anchor="t">
            <a:spAutoFit/>
          </a:bodyPr>
          <a:lstStyle/>
          <a:p>
            <a:pPr algn="l">
              <a:lnSpc>
                <a:spcPts val="1937"/>
              </a:lnSpc>
            </a:pPr>
            <a:r>
              <a:rPr lang="en-US" sz="1500" b="1">
                <a:solidFill>
                  <a:srgbClr val="272525"/>
                </a:solidFill>
                <a:latin typeface="Inter Bold"/>
                <a:ea typeface="Inter Bold"/>
                <a:cs typeface="Inter Bold"/>
                <a:sym typeface="Inter Bold"/>
              </a:rPr>
              <a:t>Load Prediction</a:t>
            </a:r>
          </a:p>
        </p:txBody>
      </p:sp>
      <p:sp>
        <p:nvSpPr>
          <p:cNvPr id="19" name="TextBox 19"/>
          <p:cNvSpPr txBox="1"/>
          <p:nvPr/>
        </p:nvSpPr>
        <p:spPr>
          <a:xfrm>
            <a:off x="8467874" y="4304854"/>
            <a:ext cx="9276309" cy="310009"/>
          </a:xfrm>
          <a:prstGeom prst="rect">
            <a:avLst/>
          </a:prstGeom>
        </p:spPr>
        <p:txBody>
          <a:bodyPr lIns="0" tIns="0" rIns="0" bIns="0" rtlCol="0" anchor="t">
            <a:spAutoFit/>
          </a:bodyPr>
          <a:lstStyle/>
          <a:p>
            <a:pPr algn="l">
              <a:lnSpc>
                <a:spcPts val="1937"/>
              </a:lnSpc>
            </a:pPr>
            <a:r>
              <a:rPr lang="en-US" sz="1187">
                <a:solidFill>
                  <a:srgbClr val="272525"/>
                </a:solidFill>
                <a:latin typeface="Inter"/>
                <a:ea typeface="Inter"/>
                <a:cs typeface="Inter"/>
                <a:sym typeface="Inter"/>
              </a:rPr>
              <a:t>Transformer models with attention mechanisms forecast demand patterns</a:t>
            </a:r>
          </a:p>
        </p:txBody>
      </p:sp>
      <p:sp>
        <p:nvSpPr>
          <p:cNvPr id="20" name="Freeform 20" descr="preencoded.png"/>
          <p:cNvSpPr/>
          <p:nvPr/>
        </p:nvSpPr>
        <p:spPr>
          <a:xfrm>
            <a:off x="8467874" y="4930974"/>
            <a:ext cx="395139" cy="395139"/>
          </a:xfrm>
          <a:custGeom>
            <a:avLst/>
            <a:gdLst/>
            <a:ahLst/>
            <a:cxnLst/>
            <a:rect l="l" t="t" r="r" b="b"/>
            <a:pathLst>
              <a:path w="395139" h="395139">
                <a:moveTo>
                  <a:pt x="0" y="0"/>
                </a:moveTo>
                <a:lnTo>
                  <a:pt x="395138" y="0"/>
                </a:lnTo>
                <a:lnTo>
                  <a:pt x="395138" y="395138"/>
                </a:lnTo>
                <a:lnTo>
                  <a:pt x="0" y="39513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nvSpPr>
        <p:spPr>
          <a:xfrm>
            <a:off x="8467874" y="5504558"/>
            <a:ext cx="1975842" cy="266105"/>
          </a:xfrm>
          <a:prstGeom prst="rect">
            <a:avLst/>
          </a:prstGeom>
        </p:spPr>
        <p:txBody>
          <a:bodyPr lIns="0" tIns="0" rIns="0" bIns="0" rtlCol="0" anchor="t">
            <a:spAutoFit/>
          </a:bodyPr>
          <a:lstStyle/>
          <a:p>
            <a:pPr algn="l">
              <a:lnSpc>
                <a:spcPts val="1937"/>
              </a:lnSpc>
            </a:pPr>
            <a:r>
              <a:rPr lang="en-US" sz="1500" b="1">
                <a:solidFill>
                  <a:srgbClr val="272525"/>
                </a:solidFill>
                <a:latin typeface="Inter Bold"/>
                <a:ea typeface="Inter Bold"/>
                <a:cs typeface="Inter Bold"/>
                <a:sym typeface="Inter Bold"/>
              </a:rPr>
              <a:t>RL Optimisation</a:t>
            </a:r>
          </a:p>
        </p:txBody>
      </p:sp>
      <p:sp>
        <p:nvSpPr>
          <p:cNvPr id="22" name="TextBox 22"/>
          <p:cNvSpPr txBox="1"/>
          <p:nvPr/>
        </p:nvSpPr>
        <p:spPr>
          <a:xfrm>
            <a:off x="8467874" y="5871567"/>
            <a:ext cx="9276309" cy="310009"/>
          </a:xfrm>
          <a:prstGeom prst="rect">
            <a:avLst/>
          </a:prstGeom>
        </p:spPr>
        <p:txBody>
          <a:bodyPr lIns="0" tIns="0" rIns="0" bIns="0" rtlCol="0" anchor="t">
            <a:spAutoFit/>
          </a:bodyPr>
          <a:lstStyle/>
          <a:p>
            <a:pPr algn="l">
              <a:lnSpc>
                <a:spcPts val="1937"/>
              </a:lnSpc>
            </a:pPr>
            <a:r>
              <a:rPr lang="en-US" sz="1187">
                <a:solidFill>
                  <a:srgbClr val="272525"/>
                </a:solidFill>
                <a:latin typeface="Inter"/>
                <a:ea typeface="Inter"/>
                <a:cs typeface="Inter"/>
                <a:sym typeface="Inter"/>
              </a:rPr>
              <a:t>Reinforcement learning algorithms optimise dispatch decisions in real-time</a:t>
            </a:r>
          </a:p>
        </p:txBody>
      </p:sp>
      <p:sp>
        <p:nvSpPr>
          <p:cNvPr id="23" name="Freeform 23" descr="preencoded.png"/>
          <p:cNvSpPr/>
          <p:nvPr/>
        </p:nvSpPr>
        <p:spPr>
          <a:xfrm>
            <a:off x="8467874" y="6497688"/>
            <a:ext cx="395139" cy="395139"/>
          </a:xfrm>
          <a:custGeom>
            <a:avLst/>
            <a:gdLst/>
            <a:ahLst/>
            <a:cxnLst/>
            <a:rect l="l" t="t" r="r" b="b"/>
            <a:pathLst>
              <a:path w="395139" h="395139">
                <a:moveTo>
                  <a:pt x="0" y="0"/>
                </a:moveTo>
                <a:lnTo>
                  <a:pt x="395138" y="0"/>
                </a:lnTo>
                <a:lnTo>
                  <a:pt x="395138" y="395138"/>
                </a:lnTo>
                <a:lnTo>
                  <a:pt x="0" y="395138"/>
                </a:lnTo>
                <a:lnTo>
                  <a:pt x="0" y="0"/>
                </a:lnTo>
                <a:close/>
              </a:path>
            </a:pathLst>
          </a:custGeom>
          <a:blipFill>
            <a:blip r:embed="rId9">
              <a:extLst>
                <a:ext uri="{96DAC541-7B7A-43D3-8B79-37D633B846F1}">
                  <asvg:svgBlip xmlns:asvg="http://schemas.microsoft.com/office/drawing/2016/SVG/main" r:embed="rId10"/>
                </a:ext>
              </a:extLst>
            </a:blip>
            <a:stretch>
              <a:fillRect t="-30952" b="-30952"/>
            </a:stretch>
          </a:blipFill>
        </p:spPr>
      </p:sp>
      <p:sp>
        <p:nvSpPr>
          <p:cNvPr id="24" name="TextBox 24"/>
          <p:cNvSpPr txBox="1"/>
          <p:nvPr/>
        </p:nvSpPr>
        <p:spPr>
          <a:xfrm>
            <a:off x="8467874" y="7071271"/>
            <a:ext cx="1975842" cy="266105"/>
          </a:xfrm>
          <a:prstGeom prst="rect">
            <a:avLst/>
          </a:prstGeom>
        </p:spPr>
        <p:txBody>
          <a:bodyPr lIns="0" tIns="0" rIns="0" bIns="0" rtlCol="0" anchor="t">
            <a:spAutoFit/>
          </a:bodyPr>
          <a:lstStyle/>
          <a:p>
            <a:pPr algn="l">
              <a:lnSpc>
                <a:spcPts val="1937"/>
              </a:lnSpc>
            </a:pPr>
            <a:r>
              <a:rPr lang="en-US" sz="1500" b="1">
                <a:solidFill>
                  <a:srgbClr val="272525"/>
                </a:solidFill>
                <a:latin typeface="Inter Bold"/>
                <a:ea typeface="Inter Bold"/>
                <a:cs typeface="Inter Bold"/>
                <a:sym typeface="Inter Bold"/>
              </a:rPr>
              <a:t>VPP Coordination</a:t>
            </a:r>
          </a:p>
        </p:txBody>
      </p:sp>
      <p:sp>
        <p:nvSpPr>
          <p:cNvPr id="25" name="TextBox 25"/>
          <p:cNvSpPr txBox="1"/>
          <p:nvPr/>
        </p:nvSpPr>
        <p:spPr>
          <a:xfrm>
            <a:off x="8467874" y="7438281"/>
            <a:ext cx="9276309" cy="310009"/>
          </a:xfrm>
          <a:prstGeom prst="rect">
            <a:avLst/>
          </a:prstGeom>
        </p:spPr>
        <p:txBody>
          <a:bodyPr lIns="0" tIns="0" rIns="0" bIns="0" rtlCol="0" anchor="t">
            <a:spAutoFit/>
          </a:bodyPr>
          <a:lstStyle/>
          <a:p>
            <a:pPr algn="l">
              <a:lnSpc>
                <a:spcPts val="1937"/>
              </a:lnSpc>
            </a:pPr>
            <a:r>
              <a:rPr lang="en-US" sz="1187">
                <a:solidFill>
                  <a:srgbClr val="272525"/>
                </a:solidFill>
                <a:latin typeface="Inter"/>
                <a:ea typeface="Inter"/>
                <a:cs typeface="Inter"/>
                <a:sym typeface="Inter"/>
              </a:rPr>
              <a:t>Agent-based systems coordinate distributed energy resources efficiently</a:t>
            </a:r>
          </a:p>
        </p:txBody>
      </p:sp>
      <p:sp>
        <p:nvSpPr>
          <p:cNvPr id="26" name="TextBox 26"/>
          <p:cNvSpPr txBox="1"/>
          <p:nvPr/>
        </p:nvSpPr>
        <p:spPr>
          <a:xfrm>
            <a:off x="8467874" y="7868841"/>
            <a:ext cx="9276309" cy="310009"/>
          </a:xfrm>
          <a:prstGeom prst="rect">
            <a:avLst/>
          </a:prstGeom>
        </p:spPr>
        <p:txBody>
          <a:bodyPr lIns="0" tIns="0" rIns="0" bIns="0" rtlCol="0" anchor="t">
            <a:spAutoFit/>
          </a:bodyPr>
          <a:lstStyle/>
          <a:p>
            <a:pPr algn="l">
              <a:lnSpc>
                <a:spcPts val="1937"/>
              </a:lnSpc>
            </a:pPr>
            <a:r>
              <a:rPr lang="en-US" sz="1187" b="1">
                <a:solidFill>
                  <a:srgbClr val="272525"/>
                </a:solidFill>
                <a:latin typeface="Inter Bold"/>
                <a:ea typeface="Inter Bold"/>
                <a:cs typeface="Inter Bold"/>
                <a:sym typeface="Inter Bold"/>
              </a:rPr>
              <a:t>Timeline:</a:t>
            </a:r>
            <a:r>
              <a:rPr lang="en-US" sz="1187">
                <a:solidFill>
                  <a:srgbClr val="272525"/>
                </a:solidFill>
                <a:latin typeface="Inter"/>
                <a:ea typeface="Inter"/>
                <a:cs typeface="Inter"/>
                <a:sym typeface="Inter"/>
              </a:rPr>
              <a:t> 12-24 months</a:t>
            </a:r>
          </a:p>
        </p:txBody>
      </p:sp>
      <p:sp>
        <p:nvSpPr>
          <p:cNvPr id="27" name="TextBox 27"/>
          <p:cNvSpPr txBox="1"/>
          <p:nvPr/>
        </p:nvSpPr>
        <p:spPr>
          <a:xfrm>
            <a:off x="8467874" y="8263830"/>
            <a:ext cx="9276309" cy="310009"/>
          </a:xfrm>
          <a:prstGeom prst="rect">
            <a:avLst/>
          </a:prstGeom>
        </p:spPr>
        <p:txBody>
          <a:bodyPr lIns="0" tIns="0" rIns="0" bIns="0" rtlCol="0" anchor="t">
            <a:spAutoFit/>
          </a:bodyPr>
          <a:lstStyle/>
          <a:p>
            <a:pPr algn="l">
              <a:lnSpc>
                <a:spcPts val="1937"/>
              </a:lnSpc>
            </a:pPr>
            <a:r>
              <a:rPr lang="en-US" sz="1187" b="1">
                <a:solidFill>
                  <a:srgbClr val="272525"/>
                </a:solidFill>
                <a:latin typeface="Inter Bold"/>
                <a:ea typeface="Inter Bold"/>
                <a:cs typeface="Inter Bold"/>
                <a:sym typeface="Inter Bold"/>
              </a:rPr>
              <a:t>Impact:</a:t>
            </a:r>
            <a:r>
              <a:rPr lang="en-US" sz="1187">
                <a:solidFill>
                  <a:srgbClr val="272525"/>
                </a:solidFill>
                <a:latin typeface="Inter"/>
                <a:ea typeface="Inter"/>
                <a:cs typeface="Inter"/>
                <a:sym typeface="Inter"/>
              </a:rPr>
              <a:t> 20-40% capacity increase, reducing congestion costs by over $20 billion annually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631031" y="476696"/>
            <a:ext cx="10577364" cy="582514"/>
          </a:xfrm>
          <a:prstGeom prst="rect">
            <a:avLst/>
          </a:prstGeom>
        </p:spPr>
        <p:txBody>
          <a:bodyPr lIns="0" tIns="0" rIns="0" bIns="0" rtlCol="0" anchor="t">
            <a:spAutoFit/>
          </a:bodyPr>
          <a:lstStyle/>
          <a:p>
            <a:pPr algn="l">
              <a:lnSpc>
                <a:spcPts val="4375"/>
              </a:lnSpc>
            </a:pPr>
            <a:r>
              <a:rPr lang="en-US" sz="3500" b="1">
                <a:solidFill>
                  <a:srgbClr val="000000"/>
                </a:solidFill>
                <a:latin typeface="Inter Bold"/>
                <a:ea typeface="Inter Bold"/>
                <a:cs typeface="Inter Bold"/>
                <a:sym typeface="Inter Bold"/>
              </a:rPr>
              <a:t>Implementation Roadmap &amp; Expected Outcomes</a:t>
            </a:r>
          </a:p>
        </p:txBody>
      </p:sp>
      <p:grpSp>
        <p:nvGrpSpPr>
          <p:cNvPr id="7" name="Group 7"/>
          <p:cNvGrpSpPr/>
          <p:nvPr/>
        </p:nvGrpSpPr>
        <p:grpSpPr>
          <a:xfrm>
            <a:off x="631031" y="4315866"/>
            <a:ext cx="17025937" cy="19050"/>
            <a:chOff x="0" y="0"/>
            <a:chExt cx="22701250" cy="25400"/>
          </a:xfrm>
        </p:grpSpPr>
        <p:sp>
          <p:nvSpPr>
            <p:cNvPr id="8" name="Freeform 8"/>
            <p:cNvSpPr/>
            <p:nvPr/>
          </p:nvSpPr>
          <p:spPr>
            <a:xfrm>
              <a:off x="0" y="0"/>
              <a:ext cx="22701250" cy="25400"/>
            </a:xfrm>
            <a:custGeom>
              <a:avLst/>
              <a:gdLst/>
              <a:ahLst/>
              <a:cxnLst/>
              <a:rect l="l" t="t" r="r" b="b"/>
              <a:pathLst>
                <a:path w="22701250" h="25400">
                  <a:moveTo>
                    <a:pt x="0" y="12700"/>
                  </a:moveTo>
                  <a:cubicBezTo>
                    <a:pt x="0" y="5715"/>
                    <a:pt x="5715" y="0"/>
                    <a:pt x="12700" y="0"/>
                  </a:cubicBezTo>
                  <a:lnTo>
                    <a:pt x="22688550" y="0"/>
                  </a:lnTo>
                  <a:cubicBezTo>
                    <a:pt x="22695536" y="0"/>
                    <a:pt x="22701250" y="5715"/>
                    <a:pt x="22701250" y="12700"/>
                  </a:cubicBezTo>
                  <a:cubicBezTo>
                    <a:pt x="22701250" y="19685"/>
                    <a:pt x="22695536" y="25400"/>
                    <a:pt x="22688550" y="25400"/>
                  </a:cubicBezTo>
                  <a:lnTo>
                    <a:pt x="12700" y="25400"/>
                  </a:lnTo>
                  <a:cubicBezTo>
                    <a:pt x="5715" y="25400"/>
                    <a:pt x="0" y="19685"/>
                    <a:pt x="0" y="12700"/>
                  </a:cubicBezTo>
                  <a:close/>
                </a:path>
              </a:pathLst>
            </a:custGeom>
            <a:solidFill>
              <a:srgbClr val="C0C1D7"/>
            </a:solidFill>
          </p:spPr>
        </p:sp>
      </p:grpSp>
      <p:grpSp>
        <p:nvGrpSpPr>
          <p:cNvPr id="9" name="Group 9"/>
          <p:cNvGrpSpPr/>
          <p:nvPr/>
        </p:nvGrpSpPr>
        <p:grpSpPr>
          <a:xfrm>
            <a:off x="4821436" y="3775100"/>
            <a:ext cx="19050" cy="540841"/>
            <a:chOff x="0" y="0"/>
            <a:chExt cx="25400" cy="721122"/>
          </a:xfrm>
        </p:grpSpPr>
        <p:sp>
          <p:nvSpPr>
            <p:cNvPr id="10" name="Freeform 10"/>
            <p:cNvSpPr/>
            <p:nvPr/>
          </p:nvSpPr>
          <p:spPr>
            <a:xfrm>
              <a:off x="0" y="0"/>
              <a:ext cx="25400" cy="721106"/>
            </a:xfrm>
            <a:custGeom>
              <a:avLst/>
              <a:gdLst/>
              <a:ahLst/>
              <a:cxnLst/>
              <a:rect l="l" t="t" r="r" b="b"/>
              <a:pathLst>
                <a:path w="25400" h="721106">
                  <a:moveTo>
                    <a:pt x="0" y="12700"/>
                  </a:moveTo>
                  <a:cubicBezTo>
                    <a:pt x="0" y="5715"/>
                    <a:pt x="5715" y="0"/>
                    <a:pt x="12700" y="0"/>
                  </a:cubicBezTo>
                  <a:cubicBezTo>
                    <a:pt x="19685" y="0"/>
                    <a:pt x="25400" y="5715"/>
                    <a:pt x="25400" y="12700"/>
                  </a:cubicBezTo>
                  <a:lnTo>
                    <a:pt x="25400" y="708406"/>
                  </a:lnTo>
                  <a:cubicBezTo>
                    <a:pt x="25400" y="715391"/>
                    <a:pt x="19685" y="721106"/>
                    <a:pt x="12700" y="721106"/>
                  </a:cubicBezTo>
                  <a:cubicBezTo>
                    <a:pt x="5715" y="721106"/>
                    <a:pt x="0" y="715391"/>
                    <a:pt x="0" y="708406"/>
                  </a:cubicBezTo>
                  <a:close/>
                </a:path>
              </a:pathLst>
            </a:custGeom>
            <a:solidFill>
              <a:srgbClr val="C0C1D7"/>
            </a:solidFill>
          </p:spPr>
        </p:sp>
      </p:grpSp>
      <p:grpSp>
        <p:nvGrpSpPr>
          <p:cNvPr id="11" name="Group 11"/>
          <p:cNvGrpSpPr/>
          <p:nvPr/>
        </p:nvGrpSpPr>
        <p:grpSpPr>
          <a:xfrm>
            <a:off x="4623495" y="4108326"/>
            <a:ext cx="415081" cy="415081"/>
            <a:chOff x="0" y="0"/>
            <a:chExt cx="553442" cy="553442"/>
          </a:xfrm>
        </p:grpSpPr>
        <p:sp>
          <p:nvSpPr>
            <p:cNvPr id="12" name="Freeform 12"/>
            <p:cNvSpPr/>
            <p:nvPr/>
          </p:nvSpPr>
          <p:spPr>
            <a:xfrm>
              <a:off x="6350" y="6350"/>
              <a:ext cx="540766" cy="540766"/>
            </a:xfrm>
            <a:custGeom>
              <a:avLst/>
              <a:gdLst/>
              <a:ahLst/>
              <a:cxnLst/>
              <a:rect l="l" t="t" r="r" b="b"/>
              <a:pathLst>
                <a:path w="540766" h="540766">
                  <a:moveTo>
                    <a:pt x="0" y="100965"/>
                  </a:moveTo>
                  <a:cubicBezTo>
                    <a:pt x="0" y="45212"/>
                    <a:pt x="45212" y="0"/>
                    <a:pt x="100965" y="0"/>
                  </a:cubicBezTo>
                  <a:lnTo>
                    <a:pt x="439801" y="0"/>
                  </a:lnTo>
                  <a:cubicBezTo>
                    <a:pt x="495554" y="0"/>
                    <a:pt x="540766" y="45212"/>
                    <a:pt x="540766" y="100965"/>
                  </a:cubicBezTo>
                  <a:lnTo>
                    <a:pt x="540766" y="439801"/>
                  </a:lnTo>
                  <a:cubicBezTo>
                    <a:pt x="540766" y="495554"/>
                    <a:pt x="495554" y="540766"/>
                    <a:pt x="439801" y="540766"/>
                  </a:cubicBezTo>
                  <a:lnTo>
                    <a:pt x="100965" y="540766"/>
                  </a:lnTo>
                  <a:cubicBezTo>
                    <a:pt x="45212" y="540766"/>
                    <a:pt x="0" y="495554"/>
                    <a:pt x="0" y="439801"/>
                  </a:cubicBezTo>
                  <a:close/>
                </a:path>
              </a:pathLst>
            </a:custGeom>
            <a:solidFill>
              <a:srgbClr val="DADBF1"/>
            </a:solidFill>
          </p:spPr>
        </p:sp>
        <p:sp>
          <p:nvSpPr>
            <p:cNvPr id="13" name="Freeform 13"/>
            <p:cNvSpPr/>
            <p:nvPr/>
          </p:nvSpPr>
          <p:spPr>
            <a:xfrm>
              <a:off x="0" y="0"/>
              <a:ext cx="553466" cy="553466"/>
            </a:xfrm>
            <a:custGeom>
              <a:avLst/>
              <a:gdLst/>
              <a:ahLst/>
              <a:cxnLst/>
              <a:rect l="l" t="t" r="r" b="b"/>
              <a:pathLst>
                <a:path w="553466" h="553466">
                  <a:moveTo>
                    <a:pt x="0" y="107315"/>
                  </a:moveTo>
                  <a:cubicBezTo>
                    <a:pt x="0" y="48006"/>
                    <a:pt x="48006" y="0"/>
                    <a:pt x="107315" y="0"/>
                  </a:cubicBezTo>
                  <a:lnTo>
                    <a:pt x="446151" y="0"/>
                  </a:lnTo>
                  <a:lnTo>
                    <a:pt x="446151" y="6350"/>
                  </a:lnTo>
                  <a:lnTo>
                    <a:pt x="446151" y="0"/>
                  </a:lnTo>
                  <a:lnTo>
                    <a:pt x="446151" y="6350"/>
                  </a:lnTo>
                  <a:lnTo>
                    <a:pt x="446151" y="0"/>
                  </a:lnTo>
                  <a:cubicBezTo>
                    <a:pt x="505460" y="0"/>
                    <a:pt x="553466" y="48006"/>
                    <a:pt x="553466" y="107315"/>
                  </a:cubicBezTo>
                  <a:lnTo>
                    <a:pt x="547116" y="107315"/>
                  </a:lnTo>
                  <a:lnTo>
                    <a:pt x="553466" y="107315"/>
                  </a:lnTo>
                  <a:lnTo>
                    <a:pt x="553466" y="446151"/>
                  </a:lnTo>
                  <a:lnTo>
                    <a:pt x="547116" y="446151"/>
                  </a:lnTo>
                  <a:lnTo>
                    <a:pt x="553466" y="446151"/>
                  </a:lnTo>
                  <a:cubicBezTo>
                    <a:pt x="553466" y="505460"/>
                    <a:pt x="505460" y="553466"/>
                    <a:pt x="446151" y="553466"/>
                  </a:cubicBezTo>
                  <a:lnTo>
                    <a:pt x="446151" y="547116"/>
                  </a:lnTo>
                  <a:lnTo>
                    <a:pt x="446151" y="553466"/>
                  </a:lnTo>
                  <a:lnTo>
                    <a:pt x="107315" y="553466"/>
                  </a:lnTo>
                  <a:lnTo>
                    <a:pt x="107315" y="547116"/>
                  </a:lnTo>
                  <a:lnTo>
                    <a:pt x="107315" y="553466"/>
                  </a:lnTo>
                  <a:cubicBezTo>
                    <a:pt x="48006" y="553466"/>
                    <a:pt x="0" y="505333"/>
                    <a:pt x="0" y="446151"/>
                  </a:cubicBezTo>
                  <a:lnTo>
                    <a:pt x="0" y="107315"/>
                  </a:lnTo>
                  <a:lnTo>
                    <a:pt x="6350" y="107315"/>
                  </a:lnTo>
                  <a:lnTo>
                    <a:pt x="0" y="107315"/>
                  </a:lnTo>
                  <a:moveTo>
                    <a:pt x="12700" y="107315"/>
                  </a:moveTo>
                  <a:lnTo>
                    <a:pt x="12700" y="446151"/>
                  </a:lnTo>
                  <a:lnTo>
                    <a:pt x="6350" y="446151"/>
                  </a:lnTo>
                  <a:lnTo>
                    <a:pt x="12700" y="446151"/>
                  </a:lnTo>
                  <a:cubicBezTo>
                    <a:pt x="12700" y="498348"/>
                    <a:pt x="55118" y="540766"/>
                    <a:pt x="107315" y="540766"/>
                  </a:cubicBezTo>
                  <a:lnTo>
                    <a:pt x="446151" y="540766"/>
                  </a:lnTo>
                  <a:cubicBezTo>
                    <a:pt x="498348" y="540766"/>
                    <a:pt x="540766" y="498348"/>
                    <a:pt x="540766" y="446151"/>
                  </a:cubicBezTo>
                  <a:lnTo>
                    <a:pt x="540766" y="107315"/>
                  </a:lnTo>
                  <a:cubicBezTo>
                    <a:pt x="540766" y="55118"/>
                    <a:pt x="498348" y="12700"/>
                    <a:pt x="446151" y="12700"/>
                  </a:cubicBezTo>
                  <a:lnTo>
                    <a:pt x="107315" y="12700"/>
                  </a:lnTo>
                  <a:lnTo>
                    <a:pt x="107315" y="6350"/>
                  </a:lnTo>
                  <a:lnTo>
                    <a:pt x="107315" y="12700"/>
                  </a:lnTo>
                  <a:cubicBezTo>
                    <a:pt x="55118" y="12700"/>
                    <a:pt x="12700" y="55118"/>
                    <a:pt x="12700" y="107315"/>
                  </a:cubicBezTo>
                  <a:close/>
                </a:path>
              </a:pathLst>
            </a:custGeom>
            <a:solidFill>
              <a:srgbClr val="C0C1D7"/>
            </a:solidFill>
          </p:spPr>
        </p:sp>
      </p:grpSp>
      <p:sp>
        <p:nvSpPr>
          <p:cNvPr id="14" name="TextBox 14"/>
          <p:cNvSpPr txBox="1"/>
          <p:nvPr/>
        </p:nvSpPr>
        <p:spPr>
          <a:xfrm>
            <a:off x="4695750" y="4184897"/>
            <a:ext cx="270421" cy="299889"/>
          </a:xfrm>
          <a:prstGeom prst="rect">
            <a:avLst/>
          </a:prstGeom>
        </p:spPr>
        <p:txBody>
          <a:bodyPr lIns="0" tIns="0" rIns="0" bIns="0" rtlCol="0" anchor="t">
            <a:spAutoFit/>
          </a:bodyPr>
          <a:lstStyle/>
          <a:p>
            <a:pPr algn="ctr">
              <a:lnSpc>
                <a:spcPts val="2125"/>
              </a:lnSpc>
            </a:pPr>
            <a:r>
              <a:rPr lang="en-US" sz="2125" b="1">
                <a:solidFill>
                  <a:srgbClr val="272525"/>
                </a:solidFill>
                <a:latin typeface="Inter Bold"/>
                <a:ea typeface="Inter Bold"/>
                <a:cs typeface="Inter Bold"/>
                <a:sym typeface="Inter Bold"/>
              </a:rPr>
              <a:t>1</a:t>
            </a:r>
          </a:p>
        </p:txBody>
      </p:sp>
      <p:sp>
        <p:nvSpPr>
          <p:cNvPr id="15" name="TextBox 15"/>
          <p:cNvSpPr txBox="1"/>
          <p:nvPr/>
        </p:nvSpPr>
        <p:spPr>
          <a:xfrm>
            <a:off x="3661022" y="1410295"/>
            <a:ext cx="2340174" cy="291108"/>
          </a:xfrm>
          <a:prstGeom prst="rect">
            <a:avLst/>
          </a:prstGeom>
        </p:spPr>
        <p:txBody>
          <a:bodyPr lIns="0" tIns="0" rIns="0" bIns="0" rtlCol="0" anchor="t">
            <a:spAutoFit/>
          </a:bodyPr>
          <a:lstStyle/>
          <a:p>
            <a:pPr algn="ctr">
              <a:lnSpc>
                <a:spcPts val="2187"/>
              </a:lnSpc>
            </a:pPr>
            <a:r>
              <a:rPr lang="en-US" sz="1750" b="1">
                <a:solidFill>
                  <a:srgbClr val="272525"/>
                </a:solidFill>
                <a:latin typeface="Inter Bold"/>
                <a:ea typeface="Inter Bold"/>
                <a:cs typeface="Inter Bold"/>
                <a:sym typeface="Inter Bold"/>
              </a:rPr>
              <a:t>Phase 1: 0-12 months</a:t>
            </a:r>
          </a:p>
        </p:txBody>
      </p:sp>
      <p:sp>
        <p:nvSpPr>
          <p:cNvPr id="16" name="TextBox 16"/>
          <p:cNvSpPr txBox="1"/>
          <p:nvPr/>
        </p:nvSpPr>
        <p:spPr>
          <a:xfrm>
            <a:off x="811262" y="1752303"/>
            <a:ext cx="8039844" cy="345728"/>
          </a:xfrm>
          <a:prstGeom prst="rect">
            <a:avLst/>
          </a:prstGeom>
        </p:spPr>
        <p:txBody>
          <a:bodyPr lIns="0" tIns="0" rIns="0" bIns="0" rtlCol="0" anchor="t">
            <a:spAutoFit/>
          </a:bodyPr>
          <a:lstStyle/>
          <a:p>
            <a:pPr algn="ctr">
              <a:lnSpc>
                <a:spcPts val="2250"/>
              </a:lnSpc>
            </a:pPr>
            <a:r>
              <a:rPr lang="en-US" sz="1375" b="1">
                <a:solidFill>
                  <a:srgbClr val="272525"/>
                </a:solidFill>
                <a:latin typeface="Inter Bold"/>
                <a:ea typeface="Inter Bold"/>
                <a:cs typeface="Inter Bold"/>
                <a:sym typeface="Inter Bold"/>
              </a:rPr>
              <a:t>Focus:</a:t>
            </a:r>
            <a:r>
              <a:rPr lang="en-US" sz="1375">
                <a:solidFill>
                  <a:srgbClr val="272525"/>
                </a:solidFill>
                <a:latin typeface="Inter"/>
                <a:ea typeface="Inter"/>
                <a:cs typeface="Inter"/>
                <a:sym typeface="Inter"/>
              </a:rPr>
              <a:t> Document Processing</a:t>
            </a:r>
          </a:p>
        </p:txBody>
      </p:sp>
      <p:sp>
        <p:nvSpPr>
          <p:cNvPr id="17" name="TextBox 17"/>
          <p:cNvSpPr txBox="1"/>
          <p:nvPr/>
        </p:nvSpPr>
        <p:spPr>
          <a:xfrm>
            <a:off x="811262" y="2148929"/>
            <a:ext cx="8039844" cy="345728"/>
          </a:xfrm>
          <a:prstGeom prst="rect">
            <a:avLst/>
          </a:prstGeom>
        </p:spPr>
        <p:txBody>
          <a:bodyPr lIns="0" tIns="0" rIns="0" bIns="0" rtlCol="0" anchor="t">
            <a:spAutoFit/>
          </a:bodyPr>
          <a:lstStyle/>
          <a:p>
            <a:pPr marL="207367" lvl="1" indent="-103684" algn="l">
              <a:lnSpc>
                <a:spcPts val="2250"/>
              </a:lnSpc>
              <a:buFont typeface="Arial"/>
              <a:buChar char="•"/>
            </a:pPr>
            <a:r>
              <a:rPr lang="en-US" sz="1375">
                <a:solidFill>
                  <a:srgbClr val="272525"/>
                </a:solidFill>
                <a:latin typeface="Inter"/>
                <a:ea typeface="Inter"/>
                <a:cs typeface="Inter"/>
                <a:sym typeface="Inter"/>
              </a:rPr>
              <a:t>RAG system for application review</a:t>
            </a:r>
          </a:p>
        </p:txBody>
      </p:sp>
      <p:sp>
        <p:nvSpPr>
          <p:cNvPr id="18" name="TextBox 18"/>
          <p:cNvSpPr txBox="1"/>
          <p:nvPr/>
        </p:nvSpPr>
        <p:spPr>
          <a:xfrm>
            <a:off x="811262" y="2500610"/>
            <a:ext cx="8039844" cy="345727"/>
          </a:xfrm>
          <a:prstGeom prst="rect">
            <a:avLst/>
          </a:prstGeom>
        </p:spPr>
        <p:txBody>
          <a:bodyPr lIns="0" tIns="0" rIns="0" bIns="0" rtlCol="0" anchor="t">
            <a:spAutoFit/>
          </a:bodyPr>
          <a:lstStyle/>
          <a:p>
            <a:pPr marL="207367" lvl="1" indent="-103684" algn="l">
              <a:lnSpc>
                <a:spcPts val="2250"/>
              </a:lnSpc>
              <a:buFont typeface="Arial"/>
              <a:buChar char="•"/>
            </a:pPr>
            <a:r>
              <a:rPr lang="en-US" sz="1375">
                <a:solidFill>
                  <a:srgbClr val="272525"/>
                </a:solidFill>
                <a:latin typeface="Inter"/>
                <a:ea typeface="Inter"/>
                <a:cs typeface="Inter"/>
                <a:sym typeface="Inter"/>
              </a:rPr>
              <a:t>LLM-powered compliance checker</a:t>
            </a:r>
          </a:p>
        </p:txBody>
      </p:sp>
      <p:sp>
        <p:nvSpPr>
          <p:cNvPr id="19" name="TextBox 19"/>
          <p:cNvSpPr txBox="1"/>
          <p:nvPr/>
        </p:nvSpPr>
        <p:spPr>
          <a:xfrm>
            <a:off x="811262" y="2852291"/>
            <a:ext cx="8039844" cy="345727"/>
          </a:xfrm>
          <a:prstGeom prst="rect">
            <a:avLst/>
          </a:prstGeom>
        </p:spPr>
        <p:txBody>
          <a:bodyPr lIns="0" tIns="0" rIns="0" bIns="0" rtlCol="0" anchor="t">
            <a:spAutoFit/>
          </a:bodyPr>
          <a:lstStyle/>
          <a:p>
            <a:pPr marL="207367" lvl="1" indent="-103684" algn="l">
              <a:lnSpc>
                <a:spcPts val="2250"/>
              </a:lnSpc>
              <a:buFont typeface="Arial"/>
              <a:buChar char="•"/>
            </a:pPr>
            <a:r>
              <a:rPr lang="en-US" sz="1375">
                <a:solidFill>
                  <a:srgbClr val="272525"/>
                </a:solidFill>
                <a:latin typeface="Inter"/>
                <a:ea typeface="Inter"/>
                <a:cs typeface="Inter"/>
                <a:sym typeface="Inter"/>
              </a:rPr>
              <a:t>Automated reporting pipeline</a:t>
            </a:r>
          </a:p>
        </p:txBody>
      </p:sp>
      <p:sp>
        <p:nvSpPr>
          <p:cNvPr id="20" name="TextBox 20"/>
          <p:cNvSpPr txBox="1"/>
          <p:nvPr/>
        </p:nvSpPr>
        <p:spPr>
          <a:xfrm>
            <a:off x="811262" y="3248918"/>
            <a:ext cx="8039844" cy="345727"/>
          </a:xfrm>
          <a:prstGeom prst="rect">
            <a:avLst/>
          </a:prstGeom>
        </p:spPr>
        <p:txBody>
          <a:bodyPr lIns="0" tIns="0" rIns="0" bIns="0" rtlCol="0" anchor="t">
            <a:spAutoFit/>
          </a:bodyPr>
          <a:lstStyle/>
          <a:p>
            <a:pPr algn="ctr">
              <a:lnSpc>
                <a:spcPts val="2250"/>
              </a:lnSpc>
            </a:pPr>
            <a:r>
              <a:rPr lang="en-US" sz="1375" b="1">
                <a:solidFill>
                  <a:srgbClr val="272525"/>
                </a:solidFill>
                <a:latin typeface="Inter Bold"/>
                <a:ea typeface="Inter Bold"/>
                <a:cs typeface="Inter Bold"/>
                <a:sym typeface="Inter Bold"/>
              </a:rPr>
              <a:t>Outcome:</a:t>
            </a:r>
            <a:r>
              <a:rPr lang="en-US" sz="1375">
                <a:solidFill>
                  <a:srgbClr val="272525"/>
                </a:solidFill>
                <a:latin typeface="Inter"/>
                <a:ea typeface="Inter"/>
                <a:cs typeface="Inter"/>
                <a:sym typeface="Inter"/>
              </a:rPr>
              <a:t> 70% faster initial review</a:t>
            </a:r>
          </a:p>
        </p:txBody>
      </p:sp>
      <p:grpSp>
        <p:nvGrpSpPr>
          <p:cNvPr id="21" name="Group 21"/>
          <p:cNvGrpSpPr/>
          <p:nvPr/>
        </p:nvGrpSpPr>
        <p:grpSpPr>
          <a:xfrm>
            <a:off x="9134178" y="4315792"/>
            <a:ext cx="19050" cy="540841"/>
            <a:chOff x="0" y="0"/>
            <a:chExt cx="25400" cy="721122"/>
          </a:xfrm>
        </p:grpSpPr>
        <p:sp>
          <p:nvSpPr>
            <p:cNvPr id="22" name="Freeform 22"/>
            <p:cNvSpPr/>
            <p:nvPr/>
          </p:nvSpPr>
          <p:spPr>
            <a:xfrm>
              <a:off x="0" y="0"/>
              <a:ext cx="25400" cy="721106"/>
            </a:xfrm>
            <a:custGeom>
              <a:avLst/>
              <a:gdLst/>
              <a:ahLst/>
              <a:cxnLst/>
              <a:rect l="l" t="t" r="r" b="b"/>
              <a:pathLst>
                <a:path w="25400" h="721106">
                  <a:moveTo>
                    <a:pt x="0" y="12700"/>
                  </a:moveTo>
                  <a:cubicBezTo>
                    <a:pt x="0" y="5715"/>
                    <a:pt x="5715" y="0"/>
                    <a:pt x="12700" y="0"/>
                  </a:cubicBezTo>
                  <a:cubicBezTo>
                    <a:pt x="19685" y="0"/>
                    <a:pt x="25400" y="5715"/>
                    <a:pt x="25400" y="12700"/>
                  </a:cubicBezTo>
                  <a:lnTo>
                    <a:pt x="25400" y="708406"/>
                  </a:lnTo>
                  <a:cubicBezTo>
                    <a:pt x="25400" y="715391"/>
                    <a:pt x="19685" y="721106"/>
                    <a:pt x="12700" y="721106"/>
                  </a:cubicBezTo>
                  <a:cubicBezTo>
                    <a:pt x="5715" y="721106"/>
                    <a:pt x="0" y="715391"/>
                    <a:pt x="0" y="708406"/>
                  </a:cubicBezTo>
                  <a:close/>
                </a:path>
              </a:pathLst>
            </a:custGeom>
            <a:solidFill>
              <a:srgbClr val="C0C1D7"/>
            </a:solidFill>
          </p:spPr>
        </p:sp>
      </p:grpSp>
      <p:grpSp>
        <p:nvGrpSpPr>
          <p:cNvPr id="23" name="Group 23"/>
          <p:cNvGrpSpPr/>
          <p:nvPr/>
        </p:nvGrpSpPr>
        <p:grpSpPr>
          <a:xfrm>
            <a:off x="8936236" y="4108326"/>
            <a:ext cx="415081" cy="415081"/>
            <a:chOff x="0" y="0"/>
            <a:chExt cx="553442" cy="553442"/>
          </a:xfrm>
        </p:grpSpPr>
        <p:sp>
          <p:nvSpPr>
            <p:cNvPr id="24" name="Freeform 24"/>
            <p:cNvSpPr/>
            <p:nvPr/>
          </p:nvSpPr>
          <p:spPr>
            <a:xfrm>
              <a:off x="6350" y="6350"/>
              <a:ext cx="540766" cy="540766"/>
            </a:xfrm>
            <a:custGeom>
              <a:avLst/>
              <a:gdLst/>
              <a:ahLst/>
              <a:cxnLst/>
              <a:rect l="l" t="t" r="r" b="b"/>
              <a:pathLst>
                <a:path w="540766" h="540766">
                  <a:moveTo>
                    <a:pt x="0" y="100965"/>
                  </a:moveTo>
                  <a:cubicBezTo>
                    <a:pt x="0" y="45212"/>
                    <a:pt x="45212" y="0"/>
                    <a:pt x="100965" y="0"/>
                  </a:cubicBezTo>
                  <a:lnTo>
                    <a:pt x="439801" y="0"/>
                  </a:lnTo>
                  <a:cubicBezTo>
                    <a:pt x="495554" y="0"/>
                    <a:pt x="540766" y="45212"/>
                    <a:pt x="540766" y="100965"/>
                  </a:cubicBezTo>
                  <a:lnTo>
                    <a:pt x="540766" y="439801"/>
                  </a:lnTo>
                  <a:cubicBezTo>
                    <a:pt x="540766" y="495554"/>
                    <a:pt x="495554" y="540766"/>
                    <a:pt x="439801" y="540766"/>
                  </a:cubicBezTo>
                  <a:lnTo>
                    <a:pt x="100965" y="540766"/>
                  </a:lnTo>
                  <a:cubicBezTo>
                    <a:pt x="45212" y="540766"/>
                    <a:pt x="0" y="495554"/>
                    <a:pt x="0" y="439801"/>
                  </a:cubicBezTo>
                  <a:close/>
                </a:path>
              </a:pathLst>
            </a:custGeom>
            <a:solidFill>
              <a:srgbClr val="DADBF1"/>
            </a:solidFill>
          </p:spPr>
        </p:sp>
        <p:sp>
          <p:nvSpPr>
            <p:cNvPr id="25" name="Freeform 25"/>
            <p:cNvSpPr/>
            <p:nvPr/>
          </p:nvSpPr>
          <p:spPr>
            <a:xfrm>
              <a:off x="0" y="0"/>
              <a:ext cx="553466" cy="553466"/>
            </a:xfrm>
            <a:custGeom>
              <a:avLst/>
              <a:gdLst/>
              <a:ahLst/>
              <a:cxnLst/>
              <a:rect l="l" t="t" r="r" b="b"/>
              <a:pathLst>
                <a:path w="553466" h="553466">
                  <a:moveTo>
                    <a:pt x="0" y="107315"/>
                  </a:moveTo>
                  <a:cubicBezTo>
                    <a:pt x="0" y="48006"/>
                    <a:pt x="48006" y="0"/>
                    <a:pt x="107315" y="0"/>
                  </a:cubicBezTo>
                  <a:lnTo>
                    <a:pt x="446151" y="0"/>
                  </a:lnTo>
                  <a:lnTo>
                    <a:pt x="446151" y="6350"/>
                  </a:lnTo>
                  <a:lnTo>
                    <a:pt x="446151" y="0"/>
                  </a:lnTo>
                  <a:lnTo>
                    <a:pt x="446151" y="6350"/>
                  </a:lnTo>
                  <a:lnTo>
                    <a:pt x="446151" y="0"/>
                  </a:lnTo>
                  <a:cubicBezTo>
                    <a:pt x="505460" y="0"/>
                    <a:pt x="553466" y="48006"/>
                    <a:pt x="553466" y="107315"/>
                  </a:cubicBezTo>
                  <a:lnTo>
                    <a:pt x="547116" y="107315"/>
                  </a:lnTo>
                  <a:lnTo>
                    <a:pt x="553466" y="107315"/>
                  </a:lnTo>
                  <a:lnTo>
                    <a:pt x="553466" y="446151"/>
                  </a:lnTo>
                  <a:lnTo>
                    <a:pt x="547116" y="446151"/>
                  </a:lnTo>
                  <a:lnTo>
                    <a:pt x="553466" y="446151"/>
                  </a:lnTo>
                  <a:cubicBezTo>
                    <a:pt x="553466" y="505460"/>
                    <a:pt x="505460" y="553466"/>
                    <a:pt x="446151" y="553466"/>
                  </a:cubicBezTo>
                  <a:lnTo>
                    <a:pt x="446151" y="547116"/>
                  </a:lnTo>
                  <a:lnTo>
                    <a:pt x="446151" y="553466"/>
                  </a:lnTo>
                  <a:lnTo>
                    <a:pt x="107315" y="553466"/>
                  </a:lnTo>
                  <a:lnTo>
                    <a:pt x="107315" y="547116"/>
                  </a:lnTo>
                  <a:lnTo>
                    <a:pt x="107315" y="553466"/>
                  </a:lnTo>
                  <a:cubicBezTo>
                    <a:pt x="48006" y="553466"/>
                    <a:pt x="0" y="505333"/>
                    <a:pt x="0" y="446151"/>
                  </a:cubicBezTo>
                  <a:lnTo>
                    <a:pt x="0" y="107315"/>
                  </a:lnTo>
                  <a:lnTo>
                    <a:pt x="6350" y="107315"/>
                  </a:lnTo>
                  <a:lnTo>
                    <a:pt x="0" y="107315"/>
                  </a:lnTo>
                  <a:moveTo>
                    <a:pt x="12700" y="107315"/>
                  </a:moveTo>
                  <a:lnTo>
                    <a:pt x="12700" y="446151"/>
                  </a:lnTo>
                  <a:lnTo>
                    <a:pt x="6350" y="446151"/>
                  </a:lnTo>
                  <a:lnTo>
                    <a:pt x="12700" y="446151"/>
                  </a:lnTo>
                  <a:cubicBezTo>
                    <a:pt x="12700" y="498348"/>
                    <a:pt x="55118" y="540766"/>
                    <a:pt x="107315" y="540766"/>
                  </a:cubicBezTo>
                  <a:lnTo>
                    <a:pt x="446151" y="540766"/>
                  </a:lnTo>
                  <a:cubicBezTo>
                    <a:pt x="498348" y="540766"/>
                    <a:pt x="540766" y="498348"/>
                    <a:pt x="540766" y="446151"/>
                  </a:cubicBezTo>
                  <a:lnTo>
                    <a:pt x="540766" y="107315"/>
                  </a:lnTo>
                  <a:cubicBezTo>
                    <a:pt x="540766" y="55118"/>
                    <a:pt x="498348" y="12700"/>
                    <a:pt x="446151" y="12700"/>
                  </a:cubicBezTo>
                  <a:lnTo>
                    <a:pt x="107315" y="12700"/>
                  </a:lnTo>
                  <a:lnTo>
                    <a:pt x="107315" y="6350"/>
                  </a:lnTo>
                  <a:lnTo>
                    <a:pt x="107315" y="12700"/>
                  </a:lnTo>
                  <a:cubicBezTo>
                    <a:pt x="55118" y="12700"/>
                    <a:pt x="12700" y="55118"/>
                    <a:pt x="12700" y="107315"/>
                  </a:cubicBezTo>
                  <a:close/>
                </a:path>
              </a:pathLst>
            </a:custGeom>
            <a:solidFill>
              <a:srgbClr val="C0C1D7"/>
            </a:solidFill>
          </p:spPr>
        </p:sp>
      </p:grpSp>
      <p:sp>
        <p:nvSpPr>
          <p:cNvPr id="26" name="TextBox 26"/>
          <p:cNvSpPr txBox="1"/>
          <p:nvPr/>
        </p:nvSpPr>
        <p:spPr>
          <a:xfrm>
            <a:off x="9008492" y="4184897"/>
            <a:ext cx="270421" cy="299889"/>
          </a:xfrm>
          <a:prstGeom prst="rect">
            <a:avLst/>
          </a:prstGeom>
        </p:spPr>
        <p:txBody>
          <a:bodyPr lIns="0" tIns="0" rIns="0" bIns="0" rtlCol="0" anchor="t">
            <a:spAutoFit/>
          </a:bodyPr>
          <a:lstStyle/>
          <a:p>
            <a:pPr algn="ctr">
              <a:lnSpc>
                <a:spcPts val="2125"/>
              </a:lnSpc>
            </a:pPr>
            <a:r>
              <a:rPr lang="en-US" sz="2125" b="1">
                <a:solidFill>
                  <a:srgbClr val="272525"/>
                </a:solidFill>
                <a:latin typeface="Inter Bold"/>
                <a:ea typeface="Inter Bold"/>
                <a:cs typeface="Inter Bold"/>
                <a:sym typeface="Inter Bold"/>
              </a:rPr>
              <a:t>2</a:t>
            </a:r>
          </a:p>
        </p:txBody>
      </p:sp>
      <p:sp>
        <p:nvSpPr>
          <p:cNvPr id="27" name="TextBox 27"/>
          <p:cNvSpPr txBox="1"/>
          <p:nvPr/>
        </p:nvSpPr>
        <p:spPr>
          <a:xfrm>
            <a:off x="7905452" y="5027562"/>
            <a:ext cx="2476798" cy="291108"/>
          </a:xfrm>
          <a:prstGeom prst="rect">
            <a:avLst/>
          </a:prstGeom>
        </p:spPr>
        <p:txBody>
          <a:bodyPr lIns="0" tIns="0" rIns="0" bIns="0" rtlCol="0" anchor="t">
            <a:spAutoFit/>
          </a:bodyPr>
          <a:lstStyle/>
          <a:p>
            <a:pPr algn="ctr">
              <a:lnSpc>
                <a:spcPts val="2187"/>
              </a:lnSpc>
            </a:pPr>
            <a:r>
              <a:rPr lang="en-US" sz="1750" b="1">
                <a:solidFill>
                  <a:srgbClr val="272525"/>
                </a:solidFill>
                <a:latin typeface="Inter Bold"/>
                <a:ea typeface="Inter Bold"/>
                <a:cs typeface="Inter Bold"/>
                <a:sym typeface="Inter Bold"/>
              </a:rPr>
              <a:t>Phase 2: 12-18 months</a:t>
            </a:r>
          </a:p>
        </p:txBody>
      </p:sp>
      <p:sp>
        <p:nvSpPr>
          <p:cNvPr id="28" name="TextBox 28"/>
          <p:cNvSpPr txBox="1"/>
          <p:nvPr/>
        </p:nvSpPr>
        <p:spPr>
          <a:xfrm>
            <a:off x="5124004" y="5369570"/>
            <a:ext cx="8039844" cy="345727"/>
          </a:xfrm>
          <a:prstGeom prst="rect">
            <a:avLst/>
          </a:prstGeom>
        </p:spPr>
        <p:txBody>
          <a:bodyPr lIns="0" tIns="0" rIns="0" bIns="0" rtlCol="0" anchor="t">
            <a:spAutoFit/>
          </a:bodyPr>
          <a:lstStyle/>
          <a:p>
            <a:pPr algn="ctr">
              <a:lnSpc>
                <a:spcPts val="2250"/>
              </a:lnSpc>
            </a:pPr>
            <a:r>
              <a:rPr lang="en-US" sz="1375" b="1">
                <a:solidFill>
                  <a:srgbClr val="272525"/>
                </a:solidFill>
                <a:latin typeface="Inter Bold"/>
                <a:ea typeface="Inter Bold"/>
                <a:cs typeface="Inter Bold"/>
                <a:sym typeface="Inter Bold"/>
              </a:rPr>
              <a:t>Focus:</a:t>
            </a:r>
            <a:r>
              <a:rPr lang="en-US" sz="1375">
                <a:solidFill>
                  <a:srgbClr val="272525"/>
                </a:solidFill>
                <a:latin typeface="Inter"/>
                <a:ea typeface="Inter"/>
                <a:cs typeface="Inter"/>
                <a:sym typeface="Inter"/>
              </a:rPr>
              <a:t> Technical Studies Automation</a:t>
            </a:r>
          </a:p>
        </p:txBody>
      </p:sp>
      <p:sp>
        <p:nvSpPr>
          <p:cNvPr id="29" name="TextBox 29"/>
          <p:cNvSpPr txBox="1"/>
          <p:nvPr/>
        </p:nvSpPr>
        <p:spPr>
          <a:xfrm>
            <a:off x="5124004" y="5766198"/>
            <a:ext cx="8039844" cy="345727"/>
          </a:xfrm>
          <a:prstGeom prst="rect">
            <a:avLst/>
          </a:prstGeom>
        </p:spPr>
        <p:txBody>
          <a:bodyPr lIns="0" tIns="0" rIns="0" bIns="0" rtlCol="0" anchor="t">
            <a:spAutoFit/>
          </a:bodyPr>
          <a:lstStyle/>
          <a:p>
            <a:pPr marL="207367" lvl="1" indent="-103684" algn="l">
              <a:lnSpc>
                <a:spcPts val="2250"/>
              </a:lnSpc>
              <a:buFont typeface="Arial"/>
              <a:buChar char="•"/>
            </a:pPr>
            <a:r>
              <a:rPr lang="en-US" sz="1375">
                <a:solidFill>
                  <a:srgbClr val="272525"/>
                </a:solidFill>
                <a:latin typeface="Inter"/>
                <a:ea typeface="Inter"/>
                <a:cs typeface="Inter"/>
                <a:sym typeface="Inter"/>
              </a:rPr>
              <a:t>Multi-agent study system</a:t>
            </a:r>
          </a:p>
        </p:txBody>
      </p:sp>
      <p:sp>
        <p:nvSpPr>
          <p:cNvPr id="30" name="TextBox 30"/>
          <p:cNvSpPr txBox="1"/>
          <p:nvPr/>
        </p:nvSpPr>
        <p:spPr>
          <a:xfrm>
            <a:off x="5124004" y="6117877"/>
            <a:ext cx="8039844" cy="345727"/>
          </a:xfrm>
          <a:prstGeom prst="rect">
            <a:avLst/>
          </a:prstGeom>
        </p:spPr>
        <p:txBody>
          <a:bodyPr lIns="0" tIns="0" rIns="0" bIns="0" rtlCol="0" anchor="t">
            <a:spAutoFit/>
          </a:bodyPr>
          <a:lstStyle/>
          <a:p>
            <a:pPr marL="207367" lvl="1" indent="-103684" algn="l">
              <a:lnSpc>
                <a:spcPts val="2250"/>
              </a:lnSpc>
              <a:buFont typeface="Arial"/>
              <a:buChar char="•"/>
            </a:pPr>
            <a:r>
              <a:rPr lang="en-US" sz="1375">
                <a:solidFill>
                  <a:srgbClr val="272525"/>
                </a:solidFill>
                <a:latin typeface="Inter"/>
                <a:ea typeface="Inter"/>
                <a:cs typeface="Inter"/>
                <a:sym typeface="Inter"/>
              </a:rPr>
              <a:t>ML models for impact analysis</a:t>
            </a:r>
          </a:p>
        </p:txBody>
      </p:sp>
      <p:sp>
        <p:nvSpPr>
          <p:cNvPr id="31" name="TextBox 31"/>
          <p:cNvSpPr txBox="1"/>
          <p:nvPr/>
        </p:nvSpPr>
        <p:spPr>
          <a:xfrm>
            <a:off x="5124004" y="6469559"/>
            <a:ext cx="8039844" cy="345727"/>
          </a:xfrm>
          <a:prstGeom prst="rect">
            <a:avLst/>
          </a:prstGeom>
        </p:spPr>
        <p:txBody>
          <a:bodyPr lIns="0" tIns="0" rIns="0" bIns="0" rtlCol="0" anchor="t">
            <a:spAutoFit/>
          </a:bodyPr>
          <a:lstStyle/>
          <a:p>
            <a:pPr marL="207367" lvl="1" indent="-103684" algn="l">
              <a:lnSpc>
                <a:spcPts val="2250"/>
              </a:lnSpc>
              <a:buFont typeface="Arial"/>
              <a:buChar char="•"/>
            </a:pPr>
            <a:r>
              <a:rPr lang="en-US" sz="1375">
                <a:solidFill>
                  <a:srgbClr val="272525"/>
                </a:solidFill>
                <a:latin typeface="Inter"/>
                <a:ea typeface="Inter"/>
                <a:cs typeface="Inter"/>
                <a:sym typeface="Inter"/>
              </a:rPr>
              <a:t>Scenario generation engine</a:t>
            </a:r>
          </a:p>
        </p:txBody>
      </p:sp>
      <p:sp>
        <p:nvSpPr>
          <p:cNvPr id="32" name="TextBox 32"/>
          <p:cNvSpPr txBox="1"/>
          <p:nvPr/>
        </p:nvSpPr>
        <p:spPr>
          <a:xfrm>
            <a:off x="5124004" y="6866185"/>
            <a:ext cx="8039844" cy="345727"/>
          </a:xfrm>
          <a:prstGeom prst="rect">
            <a:avLst/>
          </a:prstGeom>
        </p:spPr>
        <p:txBody>
          <a:bodyPr lIns="0" tIns="0" rIns="0" bIns="0" rtlCol="0" anchor="t">
            <a:spAutoFit/>
          </a:bodyPr>
          <a:lstStyle/>
          <a:p>
            <a:pPr algn="ctr">
              <a:lnSpc>
                <a:spcPts val="2250"/>
              </a:lnSpc>
            </a:pPr>
            <a:r>
              <a:rPr lang="en-US" sz="1375" b="1">
                <a:solidFill>
                  <a:srgbClr val="272525"/>
                </a:solidFill>
                <a:latin typeface="Inter Bold"/>
                <a:ea typeface="Inter Bold"/>
                <a:cs typeface="Inter Bold"/>
                <a:sym typeface="Inter Bold"/>
              </a:rPr>
              <a:t>Outcome:</a:t>
            </a:r>
            <a:r>
              <a:rPr lang="en-US" sz="1375">
                <a:solidFill>
                  <a:srgbClr val="272525"/>
                </a:solidFill>
                <a:latin typeface="Inter"/>
                <a:ea typeface="Inter"/>
                <a:cs typeface="Inter"/>
                <a:sym typeface="Inter"/>
              </a:rPr>
              <a:t> 60% reduction in study time</a:t>
            </a:r>
          </a:p>
        </p:txBody>
      </p:sp>
      <p:grpSp>
        <p:nvGrpSpPr>
          <p:cNvPr id="33" name="Group 33"/>
          <p:cNvGrpSpPr/>
          <p:nvPr/>
        </p:nvGrpSpPr>
        <p:grpSpPr>
          <a:xfrm>
            <a:off x="13447067" y="3775100"/>
            <a:ext cx="19050" cy="540841"/>
            <a:chOff x="0" y="0"/>
            <a:chExt cx="25400" cy="721122"/>
          </a:xfrm>
        </p:grpSpPr>
        <p:sp>
          <p:nvSpPr>
            <p:cNvPr id="34" name="Freeform 34"/>
            <p:cNvSpPr/>
            <p:nvPr/>
          </p:nvSpPr>
          <p:spPr>
            <a:xfrm>
              <a:off x="0" y="0"/>
              <a:ext cx="25400" cy="721106"/>
            </a:xfrm>
            <a:custGeom>
              <a:avLst/>
              <a:gdLst/>
              <a:ahLst/>
              <a:cxnLst/>
              <a:rect l="l" t="t" r="r" b="b"/>
              <a:pathLst>
                <a:path w="25400" h="721106">
                  <a:moveTo>
                    <a:pt x="0" y="12700"/>
                  </a:moveTo>
                  <a:cubicBezTo>
                    <a:pt x="0" y="5715"/>
                    <a:pt x="5715" y="0"/>
                    <a:pt x="12700" y="0"/>
                  </a:cubicBezTo>
                  <a:cubicBezTo>
                    <a:pt x="19685" y="0"/>
                    <a:pt x="25400" y="5715"/>
                    <a:pt x="25400" y="12700"/>
                  </a:cubicBezTo>
                  <a:lnTo>
                    <a:pt x="25400" y="708406"/>
                  </a:lnTo>
                  <a:cubicBezTo>
                    <a:pt x="25400" y="715391"/>
                    <a:pt x="19685" y="721106"/>
                    <a:pt x="12700" y="721106"/>
                  </a:cubicBezTo>
                  <a:cubicBezTo>
                    <a:pt x="5715" y="721106"/>
                    <a:pt x="0" y="715391"/>
                    <a:pt x="0" y="708406"/>
                  </a:cubicBezTo>
                  <a:close/>
                </a:path>
              </a:pathLst>
            </a:custGeom>
            <a:solidFill>
              <a:srgbClr val="C0C1D7"/>
            </a:solidFill>
          </p:spPr>
        </p:sp>
      </p:grpSp>
      <p:grpSp>
        <p:nvGrpSpPr>
          <p:cNvPr id="35" name="Group 35"/>
          <p:cNvGrpSpPr/>
          <p:nvPr/>
        </p:nvGrpSpPr>
        <p:grpSpPr>
          <a:xfrm>
            <a:off x="13249126" y="4108326"/>
            <a:ext cx="415081" cy="415081"/>
            <a:chOff x="0" y="0"/>
            <a:chExt cx="553442" cy="553442"/>
          </a:xfrm>
        </p:grpSpPr>
        <p:sp>
          <p:nvSpPr>
            <p:cNvPr id="36" name="Freeform 36"/>
            <p:cNvSpPr/>
            <p:nvPr/>
          </p:nvSpPr>
          <p:spPr>
            <a:xfrm>
              <a:off x="6350" y="6350"/>
              <a:ext cx="540766" cy="540766"/>
            </a:xfrm>
            <a:custGeom>
              <a:avLst/>
              <a:gdLst/>
              <a:ahLst/>
              <a:cxnLst/>
              <a:rect l="l" t="t" r="r" b="b"/>
              <a:pathLst>
                <a:path w="540766" h="540766">
                  <a:moveTo>
                    <a:pt x="0" y="100965"/>
                  </a:moveTo>
                  <a:cubicBezTo>
                    <a:pt x="0" y="45212"/>
                    <a:pt x="45212" y="0"/>
                    <a:pt x="100965" y="0"/>
                  </a:cubicBezTo>
                  <a:lnTo>
                    <a:pt x="439801" y="0"/>
                  </a:lnTo>
                  <a:cubicBezTo>
                    <a:pt x="495554" y="0"/>
                    <a:pt x="540766" y="45212"/>
                    <a:pt x="540766" y="100965"/>
                  </a:cubicBezTo>
                  <a:lnTo>
                    <a:pt x="540766" y="439801"/>
                  </a:lnTo>
                  <a:cubicBezTo>
                    <a:pt x="540766" y="495554"/>
                    <a:pt x="495554" y="540766"/>
                    <a:pt x="439801" y="540766"/>
                  </a:cubicBezTo>
                  <a:lnTo>
                    <a:pt x="100965" y="540766"/>
                  </a:lnTo>
                  <a:cubicBezTo>
                    <a:pt x="45212" y="540766"/>
                    <a:pt x="0" y="495554"/>
                    <a:pt x="0" y="439801"/>
                  </a:cubicBezTo>
                  <a:close/>
                </a:path>
              </a:pathLst>
            </a:custGeom>
            <a:solidFill>
              <a:srgbClr val="DADBF1"/>
            </a:solidFill>
          </p:spPr>
        </p:sp>
        <p:sp>
          <p:nvSpPr>
            <p:cNvPr id="37" name="Freeform 37"/>
            <p:cNvSpPr/>
            <p:nvPr/>
          </p:nvSpPr>
          <p:spPr>
            <a:xfrm>
              <a:off x="0" y="0"/>
              <a:ext cx="553466" cy="553466"/>
            </a:xfrm>
            <a:custGeom>
              <a:avLst/>
              <a:gdLst/>
              <a:ahLst/>
              <a:cxnLst/>
              <a:rect l="l" t="t" r="r" b="b"/>
              <a:pathLst>
                <a:path w="553466" h="553466">
                  <a:moveTo>
                    <a:pt x="0" y="107315"/>
                  </a:moveTo>
                  <a:cubicBezTo>
                    <a:pt x="0" y="48006"/>
                    <a:pt x="48006" y="0"/>
                    <a:pt x="107315" y="0"/>
                  </a:cubicBezTo>
                  <a:lnTo>
                    <a:pt x="446151" y="0"/>
                  </a:lnTo>
                  <a:lnTo>
                    <a:pt x="446151" y="6350"/>
                  </a:lnTo>
                  <a:lnTo>
                    <a:pt x="446151" y="0"/>
                  </a:lnTo>
                  <a:lnTo>
                    <a:pt x="446151" y="6350"/>
                  </a:lnTo>
                  <a:lnTo>
                    <a:pt x="446151" y="0"/>
                  </a:lnTo>
                  <a:cubicBezTo>
                    <a:pt x="505460" y="0"/>
                    <a:pt x="553466" y="48006"/>
                    <a:pt x="553466" y="107315"/>
                  </a:cubicBezTo>
                  <a:lnTo>
                    <a:pt x="547116" y="107315"/>
                  </a:lnTo>
                  <a:lnTo>
                    <a:pt x="553466" y="107315"/>
                  </a:lnTo>
                  <a:lnTo>
                    <a:pt x="553466" y="446151"/>
                  </a:lnTo>
                  <a:lnTo>
                    <a:pt x="547116" y="446151"/>
                  </a:lnTo>
                  <a:lnTo>
                    <a:pt x="553466" y="446151"/>
                  </a:lnTo>
                  <a:cubicBezTo>
                    <a:pt x="553466" y="505460"/>
                    <a:pt x="505460" y="553466"/>
                    <a:pt x="446151" y="553466"/>
                  </a:cubicBezTo>
                  <a:lnTo>
                    <a:pt x="446151" y="547116"/>
                  </a:lnTo>
                  <a:lnTo>
                    <a:pt x="446151" y="553466"/>
                  </a:lnTo>
                  <a:lnTo>
                    <a:pt x="107315" y="553466"/>
                  </a:lnTo>
                  <a:lnTo>
                    <a:pt x="107315" y="547116"/>
                  </a:lnTo>
                  <a:lnTo>
                    <a:pt x="107315" y="553466"/>
                  </a:lnTo>
                  <a:cubicBezTo>
                    <a:pt x="48006" y="553466"/>
                    <a:pt x="0" y="505333"/>
                    <a:pt x="0" y="446151"/>
                  </a:cubicBezTo>
                  <a:lnTo>
                    <a:pt x="0" y="107315"/>
                  </a:lnTo>
                  <a:lnTo>
                    <a:pt x="6350" y="107315"/>
                  </a:lnTo>
                  <a:lnTo>
                    <a:pt x="0" y="107315"/>
                  </a:lnTo>
                  <a:moveTo>
                    <a:pt x="12700" y="107315"/>
                  </a:moveTo>
                  <a:lnTo>
                    <a:pt x="12700" y="446151"/>
                  </a:lnTo>
                  <a:lnTo>
                    <a:pt x="6350" y="446151"/>
                  </a:lnTo>
                  <a:lnTo>
                    <a:pt x="12700" y="446151"/>
                  </a:lnTo>
                  <a:cubicBezTo>
                    <a:pt x="12700" y="498348"/>
                    <a:pt x="55118" y="540766"/>
                    <a:pt x="107315" y="540766"/>
                  </a:cubicBezTo>
                  <a:lnTo>
                    <a:pt x="446151" y="540766"/>
                  </a:lnTo>
                  <a:cubicBezTo>
                    <a:pt x="498348" y="540766"/>
                    <a:pt x="540766" y="498348"/>
                    <a:pt x="540766" y="446151"/>
                  </a:cubicBezTo>
                  <a:lnTo>
                    <a:pt x="540766" y="107315"/>
                  </a:lnTo>
                  <a:cubicBezTo>
                    <a:pt x="540766" y="55118"/>
                    <a:pt x="498348" y="12700"/>
                    <a:pt x="446151" y="12700"/>
                  </a:cubicBezTo>
                  <a:lnTo>
                    <a:pt x="107315" y="12700"/>
                  </a:lnTo>
                  <a:lnTo>
                    <a:pt x="107315" y="6350"/>
                  </a:lnTo>
                  <a:lnTo>
                    <a:pt x="107315" y="12700"/>
                  </a:lnTo>
                  <a:cubicBezTo>
                    <a:pt x="55118" y="12700"/>
                    <a:pt x="12700" y="55118"/>
                    <a:pt x="12700" y="107315"/>
                  </a:cubicBezTo>
                  <a:close/>
                </a:path>
              </a:pathLst>
            </a:custGeom>
            <a:solidFill>
              <a:srgbClr val="C0C1D7"/>
            </a:solidFill>
          </p:spPr>
        </p:sp>
      </p:grpSp>
      <p:sp>
        <p:nvSpPr>
          <p:cNvPr id="38" name="TextBox 38"/>
          <p:cNvSpPr txBox="1"/>
          <p:nvPr/>
        </p:nvSpPr>
        <p:spPr>
          <a:xfrm>
            <a:off x="13321382" y="4184897"/>
            <a:ext cx="270421" cy="299889"/>
          </a:xfrm>
          <a:prstGeom prst="rect">
            <a:avLst/>
          </a:prstGeom>
        </p:spPr>
        <p:txBody>
          <a:bodyPr lIns="0" tIns="0" rIns="0" bIns="0" rtlCol="0" anchor="t">
            <a:spAutoFit/>
          </a:bodyPr>
          <a:lstStyle/>
          <a:p>
            <a:pPr algn="ctr">
              <a:lnSpc>
                <a:spcPts val="2125"/>
              </a:lnSpc>
            </a:pPr>
            <a:r>
              <a:rPr lang="en-US" sz="2125" b="1">
                <a:solidFill>
                  <a:srgbClr val="272525"/>
                </a:solidFill>
                <a:latin typeface="Inter Bold"/>
                <a:ea typeface="Inter Bold"/>
                <a:cs typeface="Inter Bold"/>
                <a:sym typeface="Inter Bold"/>
              </a:rPr>
              <a:t>3</a:t>
            </a:r>
          </a:p>
        </p:txBody>
      </p:sp>
      <p:sp>
        <p:nvSpPr>
          <p:cNvPr id="39" name="TextBox 39"/>
          <p:cNvSpPr txBox="1"/>
          <p:nvPr/>
        </p:nvSpPr>
        <p:spPr>
          <a:xfrm>
            <a:off x="12193190" y="1410295"/>
            <a:ext cx="2527250" cy="291108"/>
          </a:xfrm>
          <a:prstGeom prst="rect">
            <a:avLst/>
          </a:prstGeom>
        </p:spPr>
        <p:txBody>
          <a:bodyPr lIns="0" tIns="0" rIns="0" bIns="0" rtlCol="0" anchor="t">
            <a:spAutoFit/>
          </a:bodyPr>
          <a:lstStyle/>
          <a:p>
            <a:pPr algn="ctr">
              <a:lnSpc>
                <a:spcPts val="2187"/>
              </a:lnSpc>
            </a:pPr>
            <a:r>
              <a:rPr lang="en-US" sz="1750" b="1">
                <a:solidFill>
                  <a:srgbClr val="272525"/>
                </a:solidFill>
                <a:latin typeface="Inter Bold"/>
                <a:ea typeface="Inter Bold"/>
                <a:cs typeface="Inter Bold"/>
                <a:sym typeface="Inter Bold"/>
              </a:rPr>
              <a:t>Phase 3: 18-24 months</a:t>
            </a:r>
          </a:p>
        </p:txBody>
      </p:sp>
      <p:sp>
        <p:nvSpPr>
          <p:cNvPr id="40" name="TextBox 40"/>
          <p:cNvSpPr txBox="1"/>
          <p:nvPr/>
        </p:nvSpPr>
        <p:spPr>
          <a:xfrm>
            <a:off x="9436894" y="1752303"/>
            <a:ext cx="8039844" cy="345728"/>
          </a:xfrm>
          <a:prstGeom prst="rect">
            <a:avLst/>
          </a:prstGeom>
        </p:spPr>
        <p:txBody>
          <a:bodyPr lIns="0" tIns="0" rIns="0" bIns="0" rtlCol="0" anchor="t">
            <a:spAutoFit/>
          </a:bodyPr>
          <a:lstStyle/>
          <a:p>
            <a:pPr algn="ctr">
              <a:lnSpc>
                <a:spcPts val="2250"/>
              </a:lnSpc>
            </a:pPr>
            <a:r>
              <a:rPr lang="en-US" sz="1375" b="1">
                <a:solidFill>
                  <a:srgbClr val="272525"/>
                </a:solidFill>
                <a:latin typeface="Inter Bold"/>
                <a:ea typeface="Inter Bold"/>
                <a:cs typeface="Inter Bold"/>
                <a:sym typeface="Inter Bold"/>
              </a:rPr>
              <a:t>Focus:</a:t>
            </a:r>
            <a:r>
              <a:rPr lang="en-US" sz="1375">
                <a:solidFill>
                  <a:srgbClr val="272525"/>
                </a:solidFill>
                <a:latin typeface="Inter"/>
                <a:ea typeface="Inter"/>
                <a:cs typeface="Inter"/>
                <a:sym typeface="Inter"/>
              </a:rPr>
              <a:t> Real-time Optimisation</a:t>
            </a:r>
          </a:p>
        </p:txBody>
      </p:sp>
      <p:sp>
        <p:nvSpPr>
          <p:cNvPr id="41" name="TextBox 41"/>
          <p:cNvSpPr txBox="1"/>
          <p:nvPr/>
        </p:nvSpPr>
        <p:spPr>
          <a:xfrm>
            <a:off x="9436894" y="2148929"/>
            <a:ext cx="8039844" cy="345728"/>
          </a:xfrm>
          <a:prstGeom prst="rect">
            <a:avLst/>
          </a:prstGeom>
        </p:spPr>
        <p:txBody>
          <a:bodyPr lIns="0" tIns="0" rIns="0" bIns="0" rtlCol="0" anchor="t">
            <a:spAutoFit/>
          </a:bodyPr>
          <a:lstStyle/>
          <a:p>
            <a:pPr marL="207367" lvl="1" indent="-103684" algn="l">
              <a:lnSpc>
                <a:spcPts val="2250"/>
              </a:lnSpc>
              <a:buFont typeface="Arial"/>
              <a:buChar char="•"/>
            </a:pPr>
            <a:r>
              <a:rPr lang="en-US" sz="1375">
                <a:solidFill>
                  <a:srgbClr val="272525"/>
                </a:solidFill>
                <a:latin typeface="Inter"/>
                <a:ea typeface="Inter"/>
                <a:cs typeface="Inter"/>
                <a:sym typeface="Inter"/>
              </a:rPr>
              <a:t>Dynamic line rating system</a:t>
            </a:r>
          </a:p>
        </p:txBody>
      </p:sp>
      <p:sp>
        <p:nvSpPr>
          <p:cNvPr id="42" name="TextBox 42"/>
          <p:cNvSpPr txBox="1"/>
          <p:nvPr/>
        </p:nvSpPr>
        <p:spPr>
          <a:xfrm>
            <a:off x="9436894" y="2500610"/>
            <a:ext cx="8039844" cy="345727"/>
          </a:xfrm>
          <a:prstGeom prst="rect">
            <a:avLst/>
          </a:prstGeom>
        </p:spPr>
        <p:txBody>
          <a:bodyPr lIns="0" tIns="0" rIns="0" bIns="0" rtlCol="0" anchor="t">
            <a:spAutoFit/>
          </a:bodyPr>
          <a:lstStyle/>
          <a:p>
            <a:pPr marL="207367" lvl="1" indent="-103684" algn="l">
              <a:lnSpc>
                <a:spcPts val="2250"/>
              </a:lnSpc>
              <a:buFont typeface="Arial"/>
              <a:buChar char="•"/>
            </a:pPr>
            <a:r>
              <a:rPr lang="en-US" sz="1375">
                <a:solidFill>
                  <a:srgbClr val="272525"/>
                </a:solidFill>
                <a:latin typeface="Inter"/>
                <a:ea typeface="Inter"/>
                <a:cs typeface="Inter"/>
                <a:sym typeface="Inter"/>
              </a:rPr>
              <a:t>VPP coordination agents</a:t>
            </a:r>
          </a:p>
        </p:txBody>
      </p:sp>
      <p:sp>
        <p:nvSpPr>
          <p:cNvPr id="43" name="TextBox 43"/>
          <p:cNvSpPr txBox="1"/>
          <p:nvPr/>
        </p:nvSpPr>
        <p:spPr>
          <a:xfrm>
            <a:off x="9436894" y="2852291"/>
            <a:ext cx="8039844" cy="345727"/>
          </a:xfrm>
          <a:prstGeom prst="rect">
            <a:avLst/>
          </a:prstGeom>
        </p:spPr>
        <p:txBody>
          <a:bodyPr lIns="0" tIns="0" rIns="0" bIns="0" rtlCol="0" anchor="t">
            <a:spAutoFit/>
          </a:bodyPr>
          <a:lstStyle/>
          <a:p>
            <a:pPr marL="207367" lvl="1" indent="-103684" algn="l">
              <a:lnSpc>
                <a:spcPts val="2250"/>
              </a:lnSpc>
              <a:buFont typeface="Arial"/>
              <a:buChar char="•"/>
            </a:pPr>
            <a:r>
              <a:rPr lang="en-US" sz="1375">
                <a:solidFill>
                  <a:srgbClr val="272525"/>
                </a:solidFill>
                <a:latin typeface="Inter"/>
                <a:ea typeface="Inter"/>
                <a:cs typeface="Inter"/>
                <a:sym typeface="Inter"/>
              </a:rPr>
              <a:t>Predictive capacity planning</a:t>
            </a:r>
          </a:p>
        </p:txBody>
      </p:sp>
      <p:sp>
        <p:nvSpPr>
          <p:cNvPr id="44" name="TextBox 44"/>
          <p:cNvSpPr txBox="1"/>
          <p:nvPr/>
        </p:nvSpPr>
        <p:spPr>
          <a:xfrm>
            <a:off x="9436894" y="3248918"/>
            <a:ext cx="8039844" cy="345727"/>
          </a:xfrm>
          <a:prstGeom prst="rect">
            <a:avLst/>
          </a:prstGeom>
        </p:spPr>
        <p:txBody>
          <a:bodyPr lIns="0" tIns="0" rIns="0" bIns="0" rtlCol="0" anchor="t">
            <a:spAutoFit/>
          </a:bodyPr>
          <a:lstStyle/>
          <a:p>
            <a:pPr algn="ctr">
              <a:lnSpc>
                <a:spcPts val="2250"/>
              </a:lnSpc>
            </a:pPr>
            <a:r>
              <a:rPr lang="en-US" sz="1375" b="1">
                <a:solidFill>
                  <a:srgbClr val="272525"/>
                </a:solidFill>
                <a:latin typeface="Inter Bold"/>
                <a:ea typeface="Inter Bold"/>
                <a:cs typeface="Inter Bold"/>
                <a:sym typeface="Inter Bold"/>
              </a:rPr>
              <a:t>Outcome:</a:t>
            </a:r>
            <a:r>
              <a:rPr lang="en-US" sz="1375">
                <a:solidFill>
                  <a:srgbClr val="272525"/>
                </a:solidFill>
                <a:latin typeface="Inter"/>
                <a:ea typeface="Inter"/>
                <a:cs typeface="Inter"/>
                <a:sym typeface="Inter"/>
              </a:rPr>
              <a:t> 30% capacity increase</a:t>
            </a:r>
          </a:p>
        </p:txBody>
      </p:sp>
      <p:sp>
        <p:nvSpPr>
          <p:cNvPr id="45" name="TextBox 45"/>
          <p:cNvSpPr txBox="1"/>
          <p:nvPr/>
        </p:nvSpPr>
        <p:spPr>
          <a:xfrm>
            <a:off x="631031" y="7472809"/>
            <a:ext cx="3606105" cy="460176"/>
          </a:xfrm>
          <a:prstGeom prst="rect">
            <a:avLst/>
          </a:prstGeom>
        </p:spPr>
        <p:txBody>
          <a:bodyPr lIns="0" tIns="0" rIns="0" bIns="0" rtlCol="0" anchor="t">
            <a:spAutoFit/>
          </a:bodyPr>
          <a:lstStyle/>
          <a:p>
            <a:pPr algn="l">
              <a:lnSpc>
                <a:spcPts val="3499"/>
              </a:lnSpc>
            </a:pPr>
            <a:r>
              <a:rPr lang="en-US" sz="2812" b="1">
                <a:solidFill>
                  <a:srgbClr val="000000"/>
                </a:solidFill>
                <a:latin typeface="Inter Bold"/>
                <a:ea typeface="Inter Bold"/>
                <a:cs typeface="Inter Bold"/>
                <a:sym typeface="Inter Bold"/>
              </a:rPr>
              <a:t>Overall Impact</a:t>
            </a:r>
          </a:p>
        </p:txBody>
      </p:sp>
      <p:sp>
        <p:nvSpPr>
          <p:cNvPr id="46" name="TextBox 46"/>
          <p:cNvSpPr txBox="1"/>
          <p:nvPr/>
        </p:nvSpPr>
        <p:spPr>
          <a:xfrm>
            <a:off x="631031" y="8379172"/>
            <a:ext cx="5525095" cy="509290"/>
          </a:xfrm>
          <a:prstGeom prst="rect">
            <a:avLst/>
          </a:prstGeom>
        </p:spPr>
        <p:txBody>
          <a:bodyPr lIns="0" tIns="0" rIns="0" bIns="0" rtlCol="0" anchor="t">
            <a:spAutoFit/>
          </a:bodyPr>
          <a:lstStyle/>
          <a:p>
            <a:pPr algn="ctr">
              <a:lnSpc>
                <a:spcPts val="4625"/>
              </a:lnSpc>
            </a:pPr>
            <a:r>
              <a:rPr lang="en-US" sz="4625" b="1">
                <a:solidFill>
                  <a:srgbClr val="272525"/>
                </a:solidFill>
                <a:latin typeface="Inter Bold"/>
                <a:ea typeface="Inter Bold"/>
                <a:cs typeface="Inter Bold"/>
                <a:sym typeface="Inter Bold"/>
              </a:rPr>
              <a:t>80%</a:t>
            </a:r>
          </a:p>
        </p:txBody>
      </p:sp>
      <p:sp>
        <p:nvSpPr>
          <p:cNvPr id="47" name="TextBox 47"/>
          <p:cNvSpPr txBox="1"/>
          <p:nvPr/>
        </p:nvSpPr>
        <p:spPr>
          <a:xfrm>
            <a:off x="2266652" y="9104114"/>
            <a:ext cx="2253854" cy="291108"/>
          </a:xfrm>
          <a:prstGeom prst="rect">
            <a:avLst/>
          </a:prstGeom>
        </p:spPr>
        <p:txBody>
          <a:bodyPr lIns="0" tIns="0" rIns="0" bIns="0" rtlCol="0" anchor="t">
            <a:spAutoFit/>
          </a:bodyPr>
          <a:lstStyle/>
          <a:p>
            <a:pPr algn="ctr">
              <a:lnSpc>
                <a:spcPts val="2187"/>
              </a:lnSpc>
            </a:pPr>
            <a:r>
              <a:rPr lang="en-US" sz="1750" b="1">
                <a:solidFill>
                  <a:srgbClr val="272525"/>
                </a:solidFill>
                <a:latin typeface="Inter Bold"/>
                <a:ea typeface="Inter Bold"/>
                <a:cs typeface="Inter Bold"/>
                <a:sym typeface="Inter Bold"/>
              </a:rPr>
              <a:t>Time Reduction</a:t>
            </a:r>
          </a:p>
        </p:txBody>
      </p:sp>
      <p:sp>
        <p:nvSpPr>
          <p:cNvPr id="48" name="TextBox 48"/>
          <p:cNvSpPr txBox="1"/>
          <p:nvPr/>
        </p:nvSpPr>
        <p:spPr>
          <a:xfrm>
            <a:off x="631031" y="9446121"/>
            <a:ext cx="5525095" cy="345727"/>
          </a:xfrm>
          <a:prstGeom prst="rect">
            <a:avLst/>
          </a:prstGeom>
        </p:spPr>
        <p:txBody>
          <a:bodyPr lIns="0" tIns="0" rIns="0" bIns="0" rtlCol="0" anchor="t">
            <a:spAutoFit/>
          </a:bodyPr>
          <a:lstStyle/>
          <a:p>
            <a:pPr algn="ctr">
              <a:lnSpc>
                <a:spcPts val="2250"/>
              </a:lnSpc>
            </a:pPr>
            <a:r>
              <a:rPr lang="en-US" sz="1375">
                <a:solidFill>
                  <a:srgbClr val="272525"/>
                </a:solidFill>
                <a:latin typeface="Inter"/>
                <a:ea typeface="Inter"/>
                <a:cs typeface="Inter"/>
                <a:sym typeface="Inter"/>
              </a:rPr>
              <a:t>Queue time drops from 5 years to 1-2 years</a:t>
            </a:r>
          </a:p>
        </p:txBody>
      </p:sp>
      <p:sp>
        <p:nvSpPr>
          <p:cNvPr id="49" name="TextBox 49"/>
          <p:cNvSpPr txBox="1"/>
          <p:nvPr/>
        </p:nvSpPr>
        <p:spPr>
          <a:xfrm>
            <a:off x="6381452" y="8379172"/>
            <a:ext cx="5525095" cy="509290"/>
          </a:xfrm>
          <a:prstGeom prst="rect">
            <a:avLst/>
          </a:prstGeom>
        </p:spPr>
        <p:txBody>
          <a:bodyPr lIns="0" tIns="0" rIns="0" bIns="0" rtlCol="0" anchor="t">
            <a:spAutoFit/>
          </a:bodyPr>
          <a:lstStyle/>
          <a:p>
            <a:pPr algn="ctr">
              <a:lnSpc>
                <a:spcPts val="4625"/>
              </a:lnSpc>
            </a:pPr>
            <a:r>
              <a:rPr lang="en-US" sz="4625" b="1">
                <a:solidFill>
                  <a:srgbClr val="272525"/>
                </a:solidFill>
                <a:latin typeface="Inter Bold"/>
                <a:ea typeface="Inter Bold"/>
                <a:cs typeface="Inter Bold"/>
                <a:sym typeface="Inter Bold"/>
              </a:rPr>
              <a:t>$20B+</a:t>
            </a:r>
          </a:p>
        </p:txBody>
      </p:sp>
      <p:sp>
        <p:nvSpPr>
          <p:cNvPr id="50" name="TextBox 50"/>
          <p:cNvSpPr txBox="1"/>
          <p:nvPr/>
        </p:nvSpPr>
        <p:spPr>
          <a:xfrm>
            <a:off x="8017074" y="9104114"/>
            <a:ext cx="2253854" cy="291108"/>
          </a:xfrm>
          <a:prstGeom prst="rect">
            <a:avLst/>
          </a:prstGeom>
        </p:spPr>
        <p:txBody>
          <a:bodyPr lIns="0" tIns="0" rIns="0" bIns="0" rtlCol="0" anchor="t">
            <a:spAutoFit/>
          </a:bodyPr>
          <a:lstStyle/>
          <a:p>
            <a:pPr algn="ctr">
              <a:lnSpc>
                <a:spcPts val="2187"/>
              </a:lnSpc>
            </a:pPr>
            <a:r>
              <a:rPr lang="en-US" sz="1750" b="1">
                <a:solidFill>
                  <a:srgbClr val="272525"/>
                </a:solidFill>
                <a:latin typeface="Inter Bold"/>
                <a:ea typeface="Inter Bold"/>
                <a:cs typeface="Inter Bold"/>
                <a:sym typeface="Inter Bold"/>
              </a:rPr>
              <a:t>Cost Savings</a:t>
            </a:r>
          </a:p>
        </p:txBody>
      </p:sp>
      <p:sp>
        <p:nvSpPr>
          <p:cNvPr id="51" name="TextBox 51"/>
          <p:cNvSpPr txBox="1"/>
          <p:nvPr/>
        </p:nvSpPr>
        <p:spPr>
          <a:xfrm>
            <a:off x="6381452" y="9446121"/>
            <a:ext cx="5525095" cy="345727"/>
          </a:xfrm>
          <a:prstGeom prst="rect">
            <a:avLst/>
          </a:prstGeom>
        </p:spPr>
        <p:txBody>
          <a:bodyPr lIns="0" tIns="0" rIns="0" bIns="0" rtlCol="0" anchor="t">
            <a:spAutoFit/>
          </a:bodyPr>
          <a:lstStyle/>
          <a:p>
            <a:pPr algn="ctr">
              <a:lnSpc>
                <a:spcPts val="2250"/>
              </a:lnSpc>
            </a:pPr>
            <a:r>
              <a:rPr lang="en-US" sz="1375">
                <a:solidFill>
                  <a:srgbClr val="272525"/>
                </a:solidFill>
                <a:latin typeface="Inter"/>
                <a:ea typeface="Inter"/>
                <a:cs typeface="Inter"/>
                <a:sym typeface="Inter"/>
              </a:rPr>
              <a:t>Annual reduction in delays and congestion costs</a:t>
            </a:r>
          </a:p>
        </p:txBody>
      </p:sp>
      <p:sp>
        <p:nvSpPr>
          <p:cNvPr id="52" name="TextBox 52"/>
          <p:cNvSpPr txBox="1"/>
          <p:nvPr/>
        </p:nvSpPr>
        <p:spPr>
          <a:xfrm>
            <a:off x="12131874" y="8379172"/>
            <a:ext cx="5525095" cy="509290"/>
          </a:xfrm>
          <a:prstGeom prst="rect">
            <a:avLst/>
          </a:prstGeom>
        </p:spPr>
        <p:txBody>
          <a:bodyPr lIns="0" tIns="0" rIns="0" bIns="0" rtlCol="0" anchor="t">
            <a:spAutoFit/>
          </a:bodyPr>
          <a:lstStyle/>
          <a:p>
            <a:pPr algn="ctr">
              <a:lnSpc>
                <a:spcPts val="4625"/>
              </a:lnSpc>
            </a:pPr>
            <a:r>
              <a:rPr lang="en-US" sz="4625" b="1">
                <a:solidFill>
                  <a:srgbClr val="272525"/>
                </a:solidFill>
                <a:latin typeface="Inter Bold"/>
                <a:ea typeface="Inter Bold"/>
                <a:cs typeface="Inter Bold"/>
                <a:sym typeface="Inter Bold"/>
              </a:rPr>
              <a:t>6TW</a:t>
            </a:r>
          </a:p>
        </p:txBody>
      </p:sp>
      <p:sp>
        <p:nvSpPr>
          <p:cNvPr id="53" name="TextBox 53"/>
          <p:cNvSpPr txBox="1"/>
          <p:nvPr/>
        </p:nvSpPr>
        <p:spPr>
          <a:xfrm>
            <a:off x="13767495" y="9104114"/>
            <a:ext cx="2253854" cy="291108"/>
          </a:xfrm>
          <a:prstGeom prst="rect">
            <a:avLst/>
          </a:prstGeom>
        </p:spPr>
        <p:txBody>
          <a:bodyPr lIns="0" tIns="0" rIns="0" bIns="0" rtlCol="0" anchor="t">
            <a:spAutoFit/>
          </a:bodyPr>
          <a:lstStyle/>
          <a:p>
            <a:pPr algn="ctr">
              <a:lnSpc>
                <a:spcPts val="2187"/>
              </a:lnSpc>
            </a:pPr>
            <a:r>
              <a:rPr lang="en-US" sz="1750" b="1">
                <a:solidFill>
                  <a:srgbClr val="272525"/>
                </a:solidFill>
                <a:latin typeface="Inter Bold"/>
                <a:ea typeface="Inter Bold"/>
                <a:cs typeface="Inter Bold"/>
                <a:sym typeface="Inter Bold"/>
              </a:rPr>
              <a:t>Clean Energy</a:t>
            </a:r>
          </a:p>
        </p:txBody>
      </p:sp>
      <p:sp>
        <p:nvSpPr>
          <p:cNvPr id="54" name="TextBox 54"/>
          <p:cNvSpPr txBox="1"/>
          <p:nvPr/>
        </p:nvSpPr>
        <p:spPr>
          <a:xfrm>
            <a:off x="12131874" y="9446121"/>
            <a:ext cx="5525095" cy="345727"/>
          </a:xfrm>
          <a:prstGeom prst="rect">
            <a:avLst/>
          </a:prstGeom>
        </p:spPr>
        <p:txBody>
          <a:bodyPr lIns="0" tIns="0" rIns="0" bIns="0" rtlCol="0" anchor="t">
            <a:spAutoFit/>
          </a:bodyPr>
          <a:lstStyle/>
          <a:p>
            <a:pPr algn="ctr">
              <a:lnSpc>
                <a:spcPts val="2250"/>
              </a:lnSpc>
            </a:pPr>
            <a:r>
              <a:rPr lang="en-US" sz="1375">
                <a:solidFill>
                  <a:srgbClr val="272525"/>
                </a:solidFill>
                <a:latin typeface="Inter"/>
                <a:ea typeface="Inter"/>
                <a:cs typeface="Inter"/>
                <a:sym typeface="Inter"/>
              </a:rPr>
              <a:t>Accelerated deployment of renewable projects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1088</Words>
  <Application>Microsoft Office PowerPoint</Application>
  <PresentationFormat>Custom</PresentationFormat>
  <Paragraphs>181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Inter Italics</vt:lpstr>
      <vt:lpstr>Calibri</vt:lpstr>
      <vt:lpstr>Inter</vt:lpstr>
      <vt:lpstr>Inter Light</vt:lpstr>
      <vt:lpstr>Inter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RK Rao</cp:lastModifiedBy>
  <cp:revision>5</cp:revision>
  <dcterms:created xsi:type="dcterms:W3CDTF">2006-08-16T00:00:00Z</dcterms:created>
  <dcterms:modified xsi:type="dcterms:W3CDTF">2025-11-02T16:00:42Z</dcterms:modified>
  <dc:identifier>DAG3j0HU8sA</dc:identifier>
</cp:coreProperties>
</file>