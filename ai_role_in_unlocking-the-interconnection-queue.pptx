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67" r:id="rId2"/>
    <p:sldId id="266" r:id="rId3"/>
    <p:sldId id="268" r:id="rId4"/>
    <p:sldId id="256" r:id="rId5"/>
    <p:sldId id="257" r:id="rId6"/>
    <p:sldId id="269" r:id="rId7"/>
    <p:sldId id="270" r:id="rId8"/>
    <p:sldId id="258" r:id="rId9"/>
    <p:sldId id="271" r:id="rId10"/>
    <p:sldId id="259" r:id="rId11"/>
    <p:sldId id="273" r:id="rId12"/>
    <p:sldId id="260" r:id="rId13"/>
    <p:sldId id="261"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74" r:id="rId27"/>
    <p:sldId id="262" r:id="rId28"/>
    <p:sldId id="263" r:id="rId29"/>
    <p:sldId id="264" r:id="rId30"/>
    <p:sldId id="265" r:id="rId31"/>
  </p:sldIdLst>
  <p:sldSz cx="18288000" cy="10287000"/>
  <p:notesSz cx="6858000" cy="9144000"/>
  <p:embeddedFontLst>
    <p:embeddedFont>
      <p:font typeface="Inter" panose="020B0604020202020204" charset="0"/>
      <p:bold r:id="rId33"/>
      <p:boldItalic r:id="rId34"/>
    </p:embeddedFont>
    <p:embeddedFont>
      <p:font typeface="Inter Light" panose="020B060402020202020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500"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jcompostella@ucdavis.edu" TargetMode="External"/><Relationship Id="rId2" Type="http://schemas.openxmlformats.org/officeDocument/2006/relationships/hyperlink" Target="mailto:aduquego55@gmail.com" TargetMode="External"/><Relationship Id="rId1" Type="http://schemas.openxmlformats.org/officeDocument/2006/relationships/slideLayout" Target="../slideLayouts/slideLayout1.xml"/><Relationship Id="rId4" Type="http://schemas.openxmlformats.org/officeDocument/2006/relationships/hyperlink" Target="mailto:kvrkr866@gmail.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gamma.app/?utm_source=made-with-gamma" TargetMode="External"/><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34714"/>
            <a:ext cx="16692904" cy="8002191"/>
          </a:xfrm>
          <a:prstGeom prst="rect">
            <a:avLst/>
          </a:prstGeom>
          <a:noFill/>
          <a:ln>
            <a:noFill/>
          </a:ln>
        </p:spPr>
        <p:txBody>
          <a:bodyPr spcFirstLastPara="1" wrap="square" lIns="0" tIns="0" rIns="0" bIns="0" anchor="t" anchorCtr="0">
            <a:spAutoFit/>
          </a:bodyPr>
          <a:lstStyle/>
          <a:p>
            <a:pPr marL="457200" indent="-457200" algn="l">
              <a:buFont typeface="Arial" panose="020B0604020202020204" pitchFamily="34" charset="0"/>
              <a:buChar char="•"/>
            </a:pPr>
            <a:r>
              <a:rPr lang="en-IN" sz="4000" dirty="0">
                <a:solidFill>
                  <a:srgbClr val="272525"/>
                </a:solidFill>
                <a:latin typeface="Verdana" panose="020B0604030504040204" pitchFamily="34" charset="0"/>
                <a:ea typeface="Verdana" panose="020B0604030504040204" pitchFamily="34" charset="0"/>
                <a:cs typeface="Inter"/>
                <a:sym typeface="Inter"/>
              </a:rPr>
              <a:t>Capstone Title &amp;  team coordinates</a:t>
            </a:r>
          </a:p>
          <a:p>
            <a:pPr marL="457200" indent="-457200" algn="l">
              <a:buFont typeface="Arial" panose="020B0604020202020204" pitchFamily="34" charset="0"/>
              <a:buChar char="•"/>
            </a:pPr>
            <a:r>
              <a:rPr lang="en-IN" sz="4000" dirty="0">
                <a:solidFill>
                  <a:srgbClr val="272525"/>
                </a:solidFill>
                <a:latin typeface="Verdana" panose="020B0604030504040204" pitchFamily="34" charset="0"/>
                <a:ea typeface="Verdana" panose="020B0604030504040204" pitchFamily="34" charset="0"/>
                <a:cs typeface="Inter"/>
                <a:sym typeface="Inter"/>
              </a:rPr>
              <a:t>Problem/Challenge statement</a:t>
            </a:r>
          </a:p>
          <a:p>
            <a:pPr marL="457200" indent="-457200" algn="l">
              <a:buFont typeface="Arial" panose="020B0604020202020204" pitchFamily="34" charset="0"/>
              <a:buChar char="•"/>
            </a:pPr>
            <a:r>
              <a:rPr lang="en-IN" sz="4000" i="0" dirty="0">
                <a:solidFill>
                  <a:srgbClr val="272525"/>
                </a:solidFill>
                <a:effectLst/>
                <a:latin typeface="Verdana" panose="020B0604030504040204" pitchFamily="34" charset="0"/>
                <a:ea typeface="Verdana" panose="020B0604030504040204" pitchFamily="34" charset="0"/>
                <a:sym typeface="Inter"/>
              </a:rPr>
              <a:t>Business case/Market opportunity</a:t>
            </a:r>
          </a:p>
          <a:p>
            <a:pPr marL="457200" indent="-457200" algn="l">
              <a:buFont typeface="Arial" panose="020B0604020202020204" pitchFamily="34" charset="0"/>
              <a:buChar char="•"/>
            </a:pPr>
            <a:r>
              <a:rPr lang="en-IN" sz="4000" dirty="0">
                <a:solidFill>
                  <a:srgbClr val="272525"/>
                </a:solidFill>
                <a:latin typeface="Verdana" panose="020B0604030504040204" pitchFamily="34" charset="0"/>
                <a:ea typeface="Verdana" panose="020B0604030504040204" pitchFamily="34" charset="0"/>
                <a:sym typeface="Inter"/>
              </a:rPr>
              <a:t>Solution overview</a:t>
            </a:r>
          </a:p>
          <a:p>
            <a:pPr marL="457200" indent="-457200" algn="l">
              <a:buFont typeface="Arial" panose="020B0604020202020204" pitchFamily="34" charset="0"/>
              <a:buChar char="•"/>
            </a:pPr>
            <a:r>
              <a:rPr lang="en-IN" sz="4000" i="0" dirty="0">
                <a:solidFill>
                  <a:srgbClr val="272525"/>
                </a:solidFill>
                <a:effectLst/>
                <a:latin typeface="Verdana" panose="020B0604030504040204" pitchFamily="34" charset="0"/>
                <a:ea typeface="Verdana" panose="020B0604030504040204" pitchFamily="34" charset="0"/>
                <a:sym typeface="Inter"/>
              </a:rPr>
              <a:t>Existing solutions and Challenges</a:t>
            </a:r>
          </a:p>
          <a:p>
            <a:pPr marL="457200" indent="-457200" algn="l">
              <a:buFont typeface="Arial" panose="020B0604020202020204" pitchFamily="34" charset="0"/>
              <a:buChar char="•"/>
            </a:pPr>
            <a:r>
              <a:rPr lang="en-IN" sz="4000" i="0" dirty="0">
                <a:solidFill>
                  <a:srgbClr val="272525"/>
                </a:solidFill>
                <a:effectLst/>
                <a:latin typeface="Verdana" panose="020B0604030504040204" pitchFamily="34" charset="0"/>
                <a:ea typeface="Verdana" panose="020B0604030504040204" pitchFamily="34" charset="0"/>
                <a:sym typeface="Inter"/>
              </a:rPr>
              <a:t>A</a:t>
            </a:r>
            <a:r>
              <a:rPr lang="en-IN" sz="4000" dirty="0">
                <a:solidFill>
                  <a:srgbClr val="272525"/>
                </a:solidFill>
                <a:latin typeface="Verdana" panose="020B0604030504040204" pitchFamily="34" charset="0"/>
                <a:ea typeface="Verdana" panose="020B0604030504040204" pitchFamily="34" charset="0"/>
                <a:sym typeface="Inter"/>
              </a:rPr>
              <a:t>I role in solving the Challenges (phase wise)</a:t>
            </a:r>
          </a:p>
          <a:p>
            <a:pPr marL="457200" indent="-457200" algn="l">
              <a:buFont typeface="Arial" panose="020B0604020202020204" pitchFamily="34" charset="0"/>
              <a:buChar char="•"/>
            </a:pPr>
            <a:r>
              <a:rPr lang="en-IN" sz="4000" i="0" dirty="0">
                <a:solidFill>
                  <a:srgbClr val="272525"/>
                </a:solidFill>
                <a:effectLst/>
                <a:latin typeface="Verdana" panose="020B0604030504040204" pitchFamily="34" charset="0"/>
                <a:ea typeface="Verdana" panose="020B0604030504040204" pitchFamily="34" charset="0"/>
                <a:sym typeface="Inter"/>
              </a:rPr>
              <a:t>Capstone sco</a:t>
            </a:r>
            <a:r>
              <a:rPr lang="en-IN" sz="4000" dirty="0">
                <a:solidFill>
                  <a:srgbClr val="272525"/>
                </a:solidFill>
                <a:latin typeface="Verdana" panose="020B0604030504040204" pitchFamily="34" charset="0"/>
                <a:ea typeface="Verdana" panose="020B0604030504040204" pitchFamily="34" charset="0"/>
                <a:sym typeface="Inter"/>
              </a:rPr>
              <a:t>pe</a:t>
            </a:r>
          </a:p>
          <a:p>
            <a:pPr marL="457200" indent="-457200" algn="l">
              <a:buFont typeface="Arial" panose="020B0604020202020204" pitchFamily="34" charset="0"/>
              <a:buChar char="•"/>
            </a:pPr>
            <a:r>
              <a:rPr lang="en-IN" sz="4000" i="0" dirty="0">
                <a:solidFill>
                  <a:srgbClr val="272525"/>
                </a:solidFill>
                <a:effectLst/>
                <a:latin typeface="Verdana" panose="020B0604030504040204" pitchFamily="34" charset="0"/>
                <a:ea typeface="Verdana" panose="020B0604030504040204" pitchFamily="34" charset="0"/>
                <a:sym typeface="Inter"/>
              </a:rPr>
              <a:t>Capstone scope Iteration – 1</a:t>
            </a:r>
          </a:p>
          <a:p>
            <a:pPr marL="457200" indent="-457200" algn="l">
              <a:buFont typeface="Arial" panose="020B0604020202020204" pitchFamily="34" charset="0"/>
              <a:buChar char="•"/>
            </a:pPr>
            <a:r>
              <a:rPr lang="en-IN" sz="4000" dirty="0">
                <a:solidFill>
                  <a:srgbClr val="272525"/>
                </a:solidFill>
                <a:latin typeface="Verdana" panose="020B0604030504040204" pitchFamily="34" charset="0"/>
                <a:ea typeface="Verdana" panose="020B0604030504040204" pitchFamily="34" charset="0"/>
                <a:sym typeface="Inter"/>
              </a:rPr>
              <a:t>Capstone scope Iteration – 2</a:t>
            </a:r>
          </a:p>
          <a:p>
            <a:pPr marL="457200" indent="-457200" algn="l">
              <a:buFont typeface="Arial" panose="020B0604020202020204" pitchFamily="34" charset="0"/>
              <a:buChar char="•"/>
            </a:pPr>
            <a:r>
              <a:rPr lang="en-IN" sz="4000" i="0" dirty="0">
                <a:solidFill>
                  <a:srgbClr val="272525"/>
                </a:solidFill>
                <a:effectLst/>
                <a:latin typeface="Verdana" panose="020B0604030504040204" pitchFamily="34" charset="0"/>
                <a:ea typeface="Verdana" panose="020B0604030504040204" pitchFamily="34" charset="0"/>
                <a:sym typeface="Inter"/>
              </a:rPr>
              <a:t>Capstone scope Iteration – 3</a:t>
            </a:r>
          </a:p>
          <a:p>
            <a:pPr marL="457200" indent="-457200" algn="l">
              <a:buFont typeface="Arial" panose="020B0604020202020204" pitchFamily="34" charset="0"/>
              <a:buChar char="•"/>
            </a:pPr>
            <a:r>
              <a:rPr lang="en-IN" sz="4000" dirty="0">
                <a:solidFill>
                  <a:srgbClr val="272525"/>
                </a:solidFill>
                <a:latin typeface="Verdana" panose="020B0604030504040204" pitchFamily="34" charset="0"/>
                <a:ea typeface="Verdana" panose="020B0604030504040204" pitchFamily="34" charset="0"/>
                <a:sym typeface="Inter"/>
              </a:rPr>
              <a:t>Capstone conclusion for Phase – 1 (Iteration 1, 2 &amp; 3)</a:t>
            </a:r>
          </a:p>
          <a:p>
            <a:pPr marL="457200" indent="-457200" algn="l">
              <a:buFont typeface="Arial" panose="020B0604020202020204" pitchFamily="34" charset="0"/>
              <a:buChar char="•"/>
            </a:pPr>
            <a:r>
              <a:rPr lang="en-IN" sz="4000" dirty="0">
                <a:solidFill>
                  <a:srgbClr val="272525"/>
                </a:solidFill>
                <a:latin typeface="Verdana" panose="020B0604030504040204" pitchFamily="34" charset="0"/>
                <a:ea typeface="Verdana" panose="020B0604030504040204" pitchFamily="34" charset="0"/>
                <a:sym typeface="Inter"/>
              </a:rPr>
              <a:t>Q &amp; A</a:t>
            </a:r>
          </a:p>
          <a:p>
            <a:pPr marL="457200" indent="-457200" algn="l">
              <a:buFont typeface="Arial" panose="020B0604020202020204" pitchFamily="34" charset="0"/>
              <a:buChar char="•"/>
            </a:pPr>
            <a:r>
              <a:rPr lang="en-IN" sz="4000" dirty="0">
                <a:solidFill>
                  <a:srgbClr val="272525"/>
                </a:solidFill>
                <a:latin typeface="Verdana" panose="020B0604030504040204" pitchFamily="34" charset="0"/>
                <a:ea typeface="Verdana" panose="020B0604030504040204" pitchFamily="34" charset="0"/>
                <a:sym typeface="Inter"/>
              </a:rPr>
              <a:t>Acknowledgements</a:t>
            </a:r>
            <a:endParaRPr lang="en-IN" sz="2800" i="0" dirty="0">
              <a:solidFill>
                <a:srgbClr val="272525"/>
              </a:solidFill>
              <a:effectLst/>
              <a:latin typeface="Verdana" panose="020B0604030504040204" pitchFamily="34" charset="0"/>
              <a:ea typeface="Verdana" panose="020B0604030504040204" pitchFamily="34" charset="0"/>
              <a:sym typeface="Inter"/>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US" sz="5400" b="1" dirty="0">
                <a:solidFill>
                  <a:srgbClr val="000000"/>
                </a:solidFill>
                <a:latin typeface="Verdana" panose="020B0604030504040204" pitchFamily="34" charset="0"/>
                <a:ea typeface="Verdana" panose="020B0604030504040204" pitchFamily="34" charset="0"/>
                <a:cs typeface="Inter"/>
                <a:sym typeface="Inter"/>
              </a:rPr>
              <a:t>Agenda</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97100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881360" y="2959894"/>
            <a:ext cx="13298664" cy="3877985"/>
          </a:xfrm>
          <a:prstGeom prst="rect">
            <a:avLst/>
          </a:prstGeom>
          <a:noFill/>
          <a:ln>
            <a:noFill/>
          </a:ln>
        </p:spPr>
        <p:txBody>
          <a:bodyPr spcFirstLastPara="1" wrap="square" lIns="0" tIns="0" rIns="0" bIns="0" anchor="t" anchorCtr="0">
            <a:spAutoFit/>
          </a:bodyPr>
          <a:lstStyle/>
          <a:p>
            <a:pPr algn="l"/>
            <a:r>
              <a:rPr lang="en-IN" sz="2800" dirty="0">
                <a:solidFill>
                  <a:srgbClr val="272525"/>
                </a:solidFill>
                <a:latin typeface="Inter"/>
                <a:ea typeface="Inter"/>
                <a:cs typeface="Inter"/>
                <a:sym typeface="Inter"/>
              </a:rPr>
              <a:t>Team# 16 </a:t>
            </a:r>
            <a:r>
              <a:rPr lang="en-IN" sz="3600" b="1" dirty="0">
                <a:solidFill>
                  <a:srgbClr val="1F2328"/>
                </a:solidFill>
                <a:latin typeface="-apple-system"/>
                <a:ea typeface="Inter"/>
                <a:cs typeface="Inter"/>
                <a:sym typeface="Inter"/>
              </a:rPr>
              <a:t>Capstone</a:t>
            </a:r>
            <a:r>
              <a:rPr lang="en-IN" sz="3600" b="1" i="0" dirty="0">
                <a:solidFill>
                  <a:srgbClr val="1F2328"/>
                </a:solidFill>
                <a:effectLst/>
                <a:latin typeface="-apple-system"/>
              </a:rPr>
              <a:t> Project Member(s):</a:t>
            </a:r>
          </a:p>
          <a:p>
            <a:pPr algn="l"/>
            <a:endParaRPr lang="en-IN" sz="3600" b="1" i="0" dirty="0">
              <a:solidFill>
                <a:srgbClr val="1F2328"/>
              </a:solidFill>
              <a:effectLst/>
              <a:latin typeface="-apple-system"/>
            </a:endParaRPr>
          </a:p>
          <a:p>
            <a:pPr algn="l">
              <a:buFont typeface="Arial" panose="020B0604020202020204" pitchFamily="34" charset="0"/>
              <a:buChar char="•"/>
            </a:pPr>
            <a:r>
              <a:rPr lang="en-IN" sz="3600" b="0" i="0" dirty="0">
                <a:solidFill>
                  <a:srgbClr val="1F2328"/>
                </a:solidFill>
                <a:effectLst/>
                <a:latin typeface="-apple-system"/>
              </a:rPr>
              <a:t>Alejandro Duque (</a:t>
            </a:r>
            <a:r>
              <a:rPr lang="en-IN" sz="3600" b="0" i="0" u="sng" dirty="0">
                <a:solidFill>
                  <a:srgbClr val="0969DA"/>
                </a:solidFill>
                <a:effectLst/>
                <a:latin typeface="-apple-system"/>
                <a:hlinkClick r:id="rId2"/>
              </a:rPr>
              <a:t>aduquego55@gmail.com</a:t>
            </a:r>
            <a:r>
              <a:rPr lang="en-IN" sz="3600" b="0" i="0" dirty="0">
                <a:solidFill>
                  <a:srgbClr val="1F2328"/>
                </a:solidFill>
                <a:effectLst/>
                <a:latin typeface="-apple-system"/>
              </a:rPr>
              <a:t>)</a:t>
            </a:r>
          </a:p>
          <a:p>
            <a:pPr algn="l">
              <a:buFont typeface="Arial" panose="020B0604020202020204" pitchFamily="34" charset="0"/>
              <a:buChar char="•"/>
            </a:pPr>
            <a:endParaRPr lang="en-IN" sz="3600" b="0" i="0" dirty="0">
              <a:solidFill>
                <a:srgbClr val="1F2328"/>
              </a:solidFill>
              <a:effectLst/>
              <a:latin typeface="-apple-system"/>
            </a:endParaRPr>
          </a:p>
          <a:p>
            <a:pPr algn="l">
              <a:buFont typeface="Arial" panose="020B0604020202020204" pitchFamily="34" charset="0"/>
              <a:buChar char="•"/>
            </a:pPr>
            <a:r>
              <a:rPr lang="en-IN" sz="3600" b="0" i="0" dirty="0" err="1">
                <a:solidFill>
                  <a:srgbClr val="1F2328"/>
                </a:solidFill>
                <a:effectLst/>
                <a:latin typeface="-apple-system"/>
              </a:rPr>
              <a:t>Junia</a:t>
            </a:r>
            <a:r>
              <a:rPr lang="en-IN" sz="3600" b="0" i="0" dirty="0">
                <a:solidFill>
                  <a:srgbClr val="1F2328"/>
                </a:solidFill>
                <a:effectLst/>
                <a:latin typeface="-apple-system"/>
              </a:rPr>
              <a:t> </a:t>
            </a:r>
            <a:r>
              <a:rPr lang="en-IN" sz="3600" b="0" i="0" dirty="0" err="1">
                <a:solidFill>
                  <a:srgbClr val="1F2328"/>
                </a:solidFill>
                <a:effectLst/>
                <a:latin typeface="-apple-system"/>
              </a:rPr>
              <a:t>Compostella</a:t>
            </a:r>
            <a:r>
              <a:rPr lang="en-IN" sz="3600" b="0" i="0" dirty="0">
                <a:solidFill>
                  <a:srgbClr val="1F2328"/>
                </a:solidFill>
                <a:effectLst/>
                <a:latin typeface="-apple-system"/>
              </a:rPr>
              <a:t> (</a:t>
            </a:r>
            <a:r>
              <a:rPr lang="en-IN" sz="3600" b="0" i="0" u="sng" dirty="0">
                <a:solidFill>
                  <a:srgbClr val="0969DA"/>
                </a:solidFill>
                <a:effectLst/>
                <a:latin typeface="-apple-system"/>
                <a:hlinkClick r:id="rId3"/>
              </a:rPr>
              <a:t>jcompostella@ucdavis.edu</a:t>
            </a:r>
            <a:r>
              <a:rPr lang="en-IN" sz="3600" b="0" i="0" dirty="0">
                <a:solidFill>
                  <a:srgbClr val="1F2328"/>
                </a:solidFill>
                <a:effectLst/>
                <a:latin typeface="-apple-system"/>
              </a:rPr>
              <a:t>)</a:t>
            </a:r>
          </a:p>
          <a:p>
            <a:pPr algn="l">
              <a:buFont typeface="Arial" panose="020B0604020202020204" pitchFamily="34" charset="0"/>
              <a:buChar char="•"/>
            </a:pPr>
            <a:endParaRPr lang="en-IN" sz="3600" b="0" i="0" dirty="0">
              <a:solidFill>
                <a:srgbClr val="1F2328"/>
              </a:solidFill>
              <a:effectLst/>
              <a:latin typeface="-apple-system"/>
            </a:endParaRPr>
          </a:p>
          <a:p>
            <a:pPr algn="l">
              <a:buFont typeface="Arial" panose="020B0604020202020204" pitchFamily="34" charset="0"/>
              <a:buChar char="•"/>
            </a:pPr>
            <a:r>
              <a:rPr lang="en-IN" sz="3600" b="0" i="0" dirty="0">
                <a:solidFill>
                  <a:srgbClr val="1F2328"/>
                </a:solidFill>
                <a:effectLst/>
                <a:latin typeface="-apple-system"/>
              </a:rPr>
              <a:t>K.V. Ramakrishna Rao (</a:t>
            </a:r>
            <a:r>
              <a:rPr lang="en-IN" sz="3600" b="0" i="0" u="sng" dirty="0">
                <a:solidFill>
                  <a:srgbClr val="0969DA"/>
                </a:solidFill>
                <a:effectLst/>
                <a:latin typeface="-apple-system"/>
                <a:hlinkClick r:id="rId4"/>
              </a:rPr>
              <a:t>kvrkr866@gmail.com</a:t>
            </a:r>
            <a:r>
              <a:rPr lang="en-IN" sz="3600" b="0" i="0" dirty="0">
                <a:solidFill>
                  <a:srgbClr val="1F2328"/>
                </a:solidFill>
                <a:effectLst/>
                <a:latin typeface="-apple-system"/>
              </a:rPr>
              <a:t>)</a:t>
            </a: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2077492"/>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US" sz="5400" b="1" dirty="0">
                <a:solidFill>
                  <a:srgbClr val="000000"/>
                </a:solidFill>
                <a:latin typeface="Inter"/>
                <a:ea typeface="Inter"/>
                <a:cs typeface="Inter"/>
                <a:sym typeface="Inter"/>
              </a:rPr>
              <a:t>AI role in Unlocking the Interconnection Queue to power grids</a:t>
            </a:r>
            <a:r>
              <a:rPr lang="en-US" sz="4937" b="1" dirty="0">
                <a:solidFill>
                  <a:srgbClr val="000000"/>
                </a:solidFill>
                <a:latin typeface="Inter"/>
                <a:ea typeface="Inter"/>
                <a:cs typeface="Inter"/>
                <a:sym typeface="Inter"/>
              </a:rPr>
              <a:t> </a:t>
            </a:r>
            <a:endParaRPr dirty="0"/>
          </a:p>
        </p:txBody>
      </p:sp>
    </p:spTree>
    <p:extLst>
      <p:ext uri="{BB962C8B-B14F-4D97-AF65-F5344CB8AC3E}">
        <p14:creationId xmlns:p14="http://schemas.microsoft.com/office/powerpoint/2010/main" val="1824698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2031325"/>
          </a:xfrm>
          <a:prstGeom prst="rect">
            <a:avLst/>
          </a:prstGeom>
          <a:noFill/>
          <a:ln>
            <a:noFill/>
          </a:ln>
        </p:spPr>
        <p:txBody>
          <a:bodyPr spcFirstLastPara="1" wrap="square" lIns="0" tIns="0" rIns="0" bIns="0" anchor="t" anchorCtr="0">
            <a:spAutoFit/>
          </a:bodyPr>
          <a:lstStyle/>
          <a:p>
            <a:pPr marL="457200" indent="-457200" algn="l">
              <a:buFont typeface="Arial" panose="020B0604020202020204" pitchFamily="34" charset="0"/>
              <a:buChar char="•"/>
            </a:pPr>
            <a:r>
              <a:rPr lang="en-IN" sz="4000" dirty="0">
                <a:solidFill>
                  <a:srgbClr val="272525"/>
                </a:solidFill>
                <a:latin typeface="Verdana" panose="020B0604030504040204" pitchFamily="34" charset="0"/>
                <a:ea typeface="Verdana" panose="020B0604030504040204" pitchFamily="34" charset="0"/>
                <a:cs typeface="Inter"/>
                <a:sym typeface="Inter"/>
              </a:rPr>
              <a:t>TBD</a:t>
            </a:r>
            <a:endParaRPr lang="en-IN" sz="4000" dirty="0">
              <a:solidFill>
                <a:srgbClr val="272525"/>
              </a:solidFill>
              <a:latin typeface="Verdana" panose="020B0604030504040204" pitchFamily="34" charset="0"/>
              <a:ea typeface="Verdana" panose="020B0604030504040204" pitchFamily="34" charset="0"/>
              <a:sym typeface="Inter"/>
            </a:endParaRPr>
          </a:p>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US" sz="5400" b="1" dirty="0">
                <a:solidFill>
                  <a:srgbClr val="000000"/>
                </a:solidFill>
                <a:latin typeface="Verdana" panose="020B0604030504040204" pitchFamily="34" charset="0"/>
                <a:ea typeface="Verdana" panose="020B0604030504040204" pitchFamily="34" charset="0"/>
                <a:cs typeface="Inter"/>
                <a:sym typeface="Inter"/>
              </a:rPr>
              <a:t>Problem / Challenge statement</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860654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6F4F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 name="Google Shape;85;p13"/>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 name="Google Shape;86;p13" descr="preencoded.png"/>
          <p:cNvSpPr/>
          <p:nvPr/>
        </p:nvSpPr>
        <p:spPr>
          <a:xfrm>
            <a:off x="838124" y="3608798"/>
            <a:ext cx="4546283" cy="6408516"/>
          </a:xfrm>
          <a:custGeom>
            <a:avLst/>
            <a:gdLst/>
            <a:ahLst/>
            <a:cxnLst/>
            <a:rect l="l" t="t" r="r" b="b"/>
            <a:pathLst>
              <a:path w="6061710" h="8544687" extrusionOk="0">
                <a:moveTo>
                  <a:pt x="0" y="0"/>
                </a:moveTo>
                <a:lnTo>
                  <a:pt x="6061710" y="0"/>
                </a:lnTo>
                <a:lnTo>
                  <a:pt x="6061710" y="8544687"/>
                </a:lnTo>
                <a:lnTo>
                  <a:pt x="0" y="8544687"/>
                </a:lnTo>
                <a:lnTo>
                  <a:pt x="0" y="0"/>
                </a:lnTo>
                <a:close/>
              </a:path>
            </a:pathLst>
          </a:custGeom>
          <a:blipFill rotWithShape="1">
            <a:blip r:embed="rId3">
              <a:alphaModFix/>
            </a:blip>
            <a:stretch>
              <a:fillRect t="-3205" b="-320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 name="Google Shape;87;p13"/>
          <p:cNvSpPr txBox="1"/>
          <p:nvPr/>
        </p:nvSpPr>
        <p:spPr>
          <a:xfrm>
            <a:off x="838122" y="732903"/>
            <a:ext cx="9445526" cy="2139817"/>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1" dirty="0">
                <a:solidFill>
                  <a:srgbClr val="000000"/>
                </a:solidFill>
                <a:latin typeface="Inter"/>
                <a:ea typeface="Inter"/>
                <a:cs typeface="Inter"/>
                <a:sym typeface="Inter"/>
              </a:rPr>
              <a:t>Unlocking the Interconnection Queue</a:t>
            </a:r>
            <a:endParaRPr dirty="0"/>
          </a:p>
        </p:txBody>
      </p:sp>
      <p:sp>
        <p:nvSpPr>
          <p:cNvPr id="88" name="Google Shape;88;p13"/>
          <p:cNvSpPr txBox="1"/>
          <p:nvPr/>
        </p:nvSpPr>
        <p:spPr>
          <a:xfrm>
            <a:off x="838122" y="2485923"/>
            <a:ext cx="8039100" cy="873894"/>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dirty="0">
                <a:solidFill>
                  <a:srgbClr val="272525"/>
                </a:solidFill>
                <a:latin typeface="Inter"/>
                <a:ea typeface="Inter"/>
                <a:cs typeface="Inter"/>
                <a:sym typeface="Inter"/>
              </a:rPr>
              <a:t>Leveraging AI, LLMs, RAG &amp; Agents to </a:t>
            </a:r>
            <a:endParaRPr dirty="0"/>
          </a:p>
          <a:p>
            <a:pPr marL="0" marR="0" lvl="0" indent="0" algn="l" rtl="0">
              <a:lnSpc>
                <a:spcPct val="162871"/>
              </a:lnSpc>
              <a:spcBef>
                <a:spcPts val="0"/>
              </a:spcBef>
              <a:spcAft>
                <a:spcPts val="0"/>
              </a:spcAft>
              <a:buNone/>
            </a:pPr>
            <a:r>
              <a:rPr lang="en-US" sz="2187" dirty="0">
                <a:solidFill>
                  <a:srgbClr val="272525"/>
                </a:solidFill>
                <a:latin typeface="Inter"/>
                <a:ea typeface="Inter"/>
                <a:cs typeface="Inter"/>
                <a:sym typeface="Inter"/>
              </a:rPr>
              <a:t>Transform Grid </a:t>
            </a:r>
            <a:r>
              <a:rPr lang="en-US" sz="2187" dirty="0" err="1">
                <a:solidFill>
                  <a:srgbClr val="272525"/>
                </a:solidFill>
                <a:latin typeface="Inter"/>
                <a:ea typeface="Inter"/>
                <a:cs typeface="Inter"/>
                <a:sym typeface="Inter"/>
              </a:rPr>
              <a:t>Modernisation</a:t>
            </a:r>
            <a:endParaRPr sz="2187" dirty="0">
              <a:solidFill>
                <a:srgbClr val="272525"/>
              </a:solidFill>
              <a:latin typeface="Inter"/>
              <a:ea typeface="Inter"/>
              <a:cs typeface="Inter"/>
              <a:sym typeface="Inter"/>
            </a:endParaRPr>
          </a:p>
        </p:txBody>
      </p:sp>
      <p:pic>
        <p:nvPicPr>
          <p:cNvPr id="89" name="Google Shape;89;p13" descr="A diagram of a diagram"/>
          <p:cNvPicPr preferRelativeResize="0"/>
          <p:nvPr/>
        </p:nvPicPr>
        <p:blipFill rotWithShape="1">
          <a:blip r:embed="rId4">
            <a:alphaModFix/>
          </a:blip>
          <a:srcRect/>
          <a:stretch/>
        </p:blipFill>
        <p:spPr>
          <a:xfrm>
            <a:off x="9067800" y="1469575"/>
            <a:ext cx="8953501" cy="6924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6F4F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 name="Google Shape;95;p14"/>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14"/>
          <p:cNvSpPr txBox="1"/>
          <p:nvPr/>
        </p:nvSpPr>
        <p:spPr>
          <a:xfrm>
            <a:off x="881360" y="876597"/>
            <a:ext cx="10302628" cy="815579"/>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US" sz="4937" b="1" dirty="0">
                <a:solidFill>
                  <a:srgbClr val="000000"/>
                </a:solidFill>
                <a:latin typeface="Inter"/>
                <a:ea typeface="Inter"/>
                <a:cs typeface="Inter"/>
                <a:sym typeface="Inter"/>
              </a:rPr>
              <a:t>The Interconnection Queue Crisis</a:t>
            </a:r>
            <a:endParaRPr dirty="0"/>
          </a:p>
        </p:txBody>
      </p:sp>
      <p:sp>
        <p:nvSpPr>
          <p:cNvPr id="97" name="Google Shape;97;p14"/>
          <p:cNvSpPr txBox="1"/>
          <p:nvPr/>
        </p:nvSpPr>
        <p:spPr>
          <a:xfrm>
            <a:off x="896145" y="2478287"/>
            <a:ext cx="3777704" cy="481607"/>
          </a:xfrm>
          <a:prstGeom prst="rect">
            <a:avLst/>
          </a:prstGeom>
          <a:noFill/>
          <a:ln>
            <a:noFill/>
          </a:ln>
        </p:spPr>
        <p:txBody>
          <a:bodyPr spcFirstLastPara="1" wrap="square" lIns="0" tIns="0" rIns="0" bIns="0" anchor="t" anchorCtr="0">
            <a:spAutoFit/>
          </a:bodyPr>
          <a:lstStyle/>
          <a:p>
            <a:pPr marL="0" marR="0" lvl="0" indent="0" algn="l" rtl="0">
              <a:lnSpc>
                <a:spcPct val="125536"/>
              </a:lnSpc>
              <a:spcBef>
                <a:spcPts val="0"/>
              </a:spcBef>
              <a:spcAft>
                <a:spcPts val="0"/>
              </a:spcAft>
              <a:buNone/>
            </a:pPr>
            <a:r>
              <a:rPr lang="en-US" sz="2937" b="1">
                <a:solidFill>
                  <a:srgbClr val="000000"/>
                </a:solidFill>
                <a:latin typeface="Inter"/>
                <a:ea typeface="Inter"/>
                <a:cs typeface="Inter"/>
                <a:sym typeface="Inter"/>
              </a:rPr>
              <a:t>The Challenge</a:t>
            </a:r>
            <a:endParaRPr/>
          </a:p>
        </p:txBody>
      </p:sp>
      <p:sp>
        <p:nvSpPr>
          <p:cNvPr id="98" name="Google Shape;98;p14"/>
          <p:cNvSpPr txBox="1"/>
          <p:nvPr/>
        </p:nvSpPr>
        <p:spPr>
          <a:xfrm>
            <a:off x="881360" y="2959894"/>
            <a:ext cx="7955459" cy="4770537"/>
          </a:xfrm>
          <a:prstGeom prst="rect">
            <a:avLst/>
          </a:prstGeom>
          <a:noFill/>
          <a:ln>
            <a:noFill/>
          </a:ln>
        </p:spPr>
        <p:txBody>
          <a:bodyPr spcFirstLastPara="1" wrap="square" lIns="0" tIns="0" rIns="0" bIns="0" anchor="t" anchorCtr="0">
            <a:spAutoFit/>
          </a:bodyPr>
          <a:lstStyle/>
          <a:p>
            <a:pPr marL="0" marR="0" lvl="0" indent="0" algn="l" rtl="0">
              <a:lnSpc>
                <a:spcPct val="111607"/>
              </a:lnSpc>
              <a:spcBef>
                <a:spcPts val="0"/>
              </a:spcBef>
              <a:spcAft>
                <a:spcPts val="0"/>
              </a:spcAft>
              <a:buNone/>
            </a:pPr>
            <a:r>
              <a:rPr lang="en-US" sz="2800" dirty="0">
                <a:solidFill>
                  <a:srgbClr val="272525"/>
                </a:solidFill>
                <a:latin typeface="Inter"/>
                <a:ea typeface="Inter"/>
                <a:cs typeface="Inter"/>
                <a:sym typeface="Inter"/>
              </a:rPr>
              <a:t>Over 6 terawatts of renewable energy projects—enough to power 145 million customers—are trapped in interconnection queues across the grid. The median wait time has ballooned to five years from initial request to operation.</a:t>
            </a:r>
            <a:endParaRPr dirty="0"/>
          </a:p>
          <a:p>
            <a:pPr marL="0" marR="0" lvl="0" indent="0" algn="l" rtl="0">
              <a:lnSpc>
                <a:spcPct val="111607"/>
              </a:lnSpc>
              <a:spcBef>
                <a:spcPts val="0"/>
              </a:spcBef>
              <a:spcAft>
                <a:spcPts val="0"/>
              </a:spcAft>
              <a:buNone/>
            </a:pPr>
            <a:endParaRPr sz="2800" dirty="0">
              <a:solidFill>
                <a:srgbClr val="272525"/>
              </a:solidFill>
              <a:latin typeface="Inter"/>
              <a:ea typeface="Inter"/>
              <a:cs typeface="Inter"/>
              <a:sym typeface="Inter"/>
            </a:endParaRPr>
          </a:p>
          <a:p>
            <a:pPr marL="0" marR="0" lvl="0" indent="0" algn="l" rtl="0">
              <a:lnSpc>
                <a:spcPct val="111607"/>
              </a:lnSpc>
              <a:spcBef>
                <a:spcPts val="0"/>
              </a:spcBef>
              <a:spcAft>
                <a:spcPts val="0"/>
              </a:spcAft>
              <a:buNone/>
            </a:pPr>
            <a:r>
              <a:rPr lang="en-US" sz="2800" dirty="0">
                <a:solidFill>
                  <a:srgbClr val="272525"/>
                </a:solidFill>
                <a:latin typeface="Inter"/>
                <a:ea typeface="Inter"/>
                <a:cs typeface="Inter"/>
                <a:sym typeface="Inter"/>
              </a:rPr>
              <a:t>This bottleneck involves complex approval processes with manual reviews, lengthy technical studies for grid impact evaluation, and administrative procedures that can't keep pace with demand.</a:t>
            </a:r>
            <a:endParaRPr dirty="0"/>
          </a:p>
        </p:txBody>
      </p:sp>
      <p:sp>
        <p:nvSpPr>
          <p:cNvPr id="99" name="Google Shape;99;p14"/>
          <p:cNvSpPr txBox="1"/>
          <p:nvPr/>
        </p:nvSpPr>
        <p:spPr>
          <a:xfrm>
            <a:off x="9460706" y="2312194"/>
            <a:ext cx="3777704" cy="481607"/>
          </a:xfrm>
          <a:prstGeom prst="rect">
            <a:avLst/>
          </a:prstGeom>
          <a:noFill/>
          <a:ln>
            <a:noFill/>
          </a:ln>
        </p:spPr>
        <p:txBody>
          <a:bodyPr spcFirstLastPara="1" wrap="square" lIns="0" tIns="0" rIns="0" bIns="0" anchor="t" anchorCtr="0">
            <a:spAutoFit/>
          </a:bodyPr>
          <a:lstStyle/>
          <a:p>
            <a:pPr marL="0" marR="0" lvl="0" indent="0" algn="l" rtl="0">
              <a:lnSpc>
                <a:spcPct val="125536"/>
              </a:lnSpc>
              <a:spcBef>
                <a:spcPts val="0"/>
              </a:spcBef>
              <a:spcAft>
                <a:spcPts val="0"/>
              </a:spcAft>
              <a:buNone/>
            </a:pPr>
            <a:r>
              <a:rPr lang="en-US" sz="2937" b="1">
                <a:solidFill>
                  <a:srgbClr val="000000"/>
                </a:solidFill>
                <a:latin typeface="Inter"/>
                <a:ea typeface="Inter"/>
                <a:cs typeface="Inter"/>
                <a:sym typeface="Inter"/>
              </a:rPr>
              <a:t>Critical Impact</a:t>
            </a:r>
            <a:endParaRPr/>
          </a:p>
        </p:txBody>
      </p:sp>
      <p:grpSp>
        <p:nvGrpSpPr>
          <p:cNvPr id="100" name="Google Shape;100;p14"/>
          <p:cNvGrpSpPr/>
          <p:nvPr/>
        </p:nvGrpSpPr>
        <p:grpSpPr>
          <a:xfrm>
            <a:off x="9455944" y="3072259"/>
            <a:ext cx="7964996" cy="1983200"/>
            <a:chOff x="0" y="0"/>
            <a:chExt cx="10619994" cy="2644267"/>
          </a:xfrm>
        </p:grpSpPr>
        <p:sp>
          <p:nvSpPr>
            <p:cNvPr id="101" name="Google Shape;101;p14"/>
            <p:cNvSpPr/>
            <p:nvPr/>
          </p:nvSpPr>
          <p:spPr>
            <a:xfrm>
              <a:off x="6350" y="6350"/>
              <a:ext cx="10607294" cy="2631567"/>
            </a:xfrm>
            <a:custGeom>
              <a:avLst/>
              <a:gdLst/>
              <a:ahLst/>
              <a:cxnLst/>
              <a:rect l="l" t="t" r="r" b="b"/>
              <a:pathLst>
                <a:path w="10607294" h="2631567" extrusionOk="0">
                  <a:moveTo>
                    <a:pt x="0" y="141097"/>
                  </a:moveTo>
                  <a:cubicBezTo>
                    <a:pt x="0" y="63119"/>
                    <a:pt x="63373" y="0"/>
                    <a:pt x="141605" y="0"/>
                  </a:cubicBezTo>
                  <a:lnTo>
                    <a:pt x="10465689" y="0"/>
                  </a:lnTo>
                  <a:cubicBezTo>
                    <a:pt x="10543921" y="0"/>
                    <a:pt x="10607294" y="63119"/>
                    <a:pt x="10607294" y="141097"/>
                  </a:cubicBezTo>
                  <a:lnTo>
                    <a:pt x="10607294" y="2490470"/>
                  </a:lnTo>
                  <a:cubicBezTo>
                    <a:pt x="10607294" y="2568321"/>
                    <a:pt x="10543921" y="2631567"/>
                    <a:pt x="10465689" y="2631567"/>
                  </a:cubicBezTo>
                  <a:lnTo>
                    <a:pt x="141605" y="2631567"/>
                  </a:lnTo>
                  <a:cubicBezTo>
                    <a:pt x="63373" y="2631440"/>
                    <a:pt x="0" y="2568321"/>
                    <a:pt x="0" y="2490470"/>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14"/>
            <p:cNvSpPr/>
            <p:nvPr/>
          </p:nvSpPr>
          <p:spPr>
            <a:xfrm>
              <a:off x="0" y="0"/>
              <a:ext cx="10619994" cy="2644267"/>
            </a:xfrm>
            <a:custGeom>
              <a:avLst/>
              <a:gdLst/>
              <a:ahLst/>
              <a:cxnLst/>
              <a:rect l="l" t="t" r="r" b="b"/>
              <a:pathLst>
                <a:path w="10619994" h="2644267" extrusionOk="0">
                  <a:moveTo>
                    <a:pt x="0" y="147447"/>
                  </a:moveTo>
                  <a:cubicBezTo>
                    <a:pt x="0" y="65913"/>
                    <a:pt x="66294" y="0"/>
                    <a:pt x="147955" y="0"/>
                  </a:cubicBezTo>
                  <a:lnTo>
                    <a:pt x="10472039" y="0"/>
                  </a:lnTo>
                  <a:lnTo>
                    <a:pt x="10472039" y="6350"/>
                  </a:lnTo>
                  <a:lnTo>
                    <a:pt x="10472039" y="0"/>
                  </a:lnTo>
                  <a:cubicBezTo>
                    <a:pt x="10553700" y="0"/>
                    <a:pt x="10619994" y="65913"/>
                    <a:pt x="10619994" y="147447"/>
                  </a:cubicBezTo>
                  <a:lnTo>
                    <a:pt x="10613644" y="147447"/>
                  </a:lnTo>
                  <a:lnTo>
                    <a:pt x="10619994" y="147447"/>
                  </a:lnTo>
                  <a:lnTo>
                    <a:pt x="10619994" y="2496820"/>
                  </a:lnTo>
                  <a:lnTo>
                    <a:pt x="10613644" y="2496820"/>
                  </a:lnTo>
                  <a:lnTo>
                    <a:pt x="10619994" y="2496820"/>
                  </a:lnTo>
                  <a:cubicBezTo>
                    <a:pt x="10619994" y="2578227"/>
                    <a:pt x="10553700" y="2644267"/>
                    <a:pt x="10472039" y="2644267"/>
                  </a:cubicBezTo>
                  <a:lnTo>
                    <a:pt x="10472039" y="2637917"/>
                  </a:lnTo>
                  <a:lnTo>
                    <a:pt x="10472039" y="2644267"/>
                  </a:lnTo>
                  <a:lnTo>
                    <a:pt x="147955" y="2644267"/>
                  </a:lnTo>
                  <a:lnTo>
                    <a:pt x="147955" y="2637917"/>
                  </a:lnTo>
                  <a:lnTo>
                    <a:pt x="147955" y="2644267"/>
                  </a:lnTo>
                  <a:cubicBezTo>
                    <a:pt x="66294" y="2644140"/>
                    <a:pt x="0" y="2578227"/>
                    <a:pt x="0" y="2496820"/>
                  </a:cubicBezTo>
                  <a:lnTo>
                    <a:pt x="0" y="147447"/>
                  </a:lnTo>
                  <a:lnTo>
                    <a:pt x="6350" y="147447"/>
                  </a:lnTo>
                  <a:lnTo>
                    <a:pt x="0" y="147447"/>
                  </a:lnTo>
                  <a:moveTo>
                    <a:pt x="12700" y="147447"/>
                  </a:moveTo>
                  <a:lnTo>
                    <a:pt x="12700" y="2496820"/>
                  </a:lnTo>
                  <a:lnTo>
                    <a:pt x="6350" y="2496820"/>
                  </a:lnTo>
                  <a:lnTo>
                    <a:pt x="12700" y="2496820"/>
                  </a:lnTo>
                  <a:cubicBezTo>
                    <a:pt x="12700" y="2571242"/>
                    <a:pt x="73152" y="2631567"/>
                    <a:pt x="147955" y="2631567"/>
                  </a:cubicBezTo>
                  <a:lnTo>
                    <a:pt x="10472039" y="2631567"/>
                  </a:lnTo>
                  <a:cubicBezTo>
                    <a:pt x="10546715" y="2631567"/>
                    <a:pt x="10607294" y="2571242"/>
                    <a:pt x="10607294" y="2496820"/>
                  </a:cubicBezTo>
                  <a:lnTo>
                    <a:pt x="10607294" y="147447"/>
                  </a:lnTo>
                  <a:cubicBezTo>
                    <a:pt x="10607294" y="73025"/>
                    <a:pt x="10546715" y="12700"/>
                    <a:pt x="10472039" y="12700"/>
                  </a:cubicBezTo>
                  <a:lnTo>
                    <a:pt x="147955" y="12700"/>
                  </a:lnTo>
                  <a:lnTo>
                    <a:pt x="147955" y="6350"/>
                  </a:lnTo>
                  <a:lnTo>
                    <a:pt x="147955" y="12700"/>
                  </a:lnTo>
                  <a:cubicBezTo>
                    <a:pt x="73152" y="12700"/>
                    <a:pt x="12700" y="73025"/>
                    <a:pt x="12700" y="147447"/>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03" name="Google Shape;103;p14"/>
          <p:cNvSpPr txBox="1"/>
          <p:nvPr/>
        </p:nvSpPr>
        <p:spPr>
          <a:xfrm>
            <a:off x="9722049" y="3319314"/>
            <a:ext cx="3148012" cy="412402"/>
          </a:xfrm>
          <a:prstGeom prst="rect">
            <a:avLst/>
          </a:prstGeom>
          <a:noFill/>
          <a:ln>
            <a:noFill/>
          </a:ln>
        </p:spPr>
        <p:txBody>
          <a:bodyPr spcFirstLastPara="1" wrap="square" lIns="0" tIns="0" rIns="0" bIns="0" anchor="t" anchorCtr="0">
            <a:spAutoFit/>
          </a:bodyPr>
          <a:lstStyle/>
          <a:p>
            <a:pPr marL="0" marR="0" lvl="0" indent="0" algn="l" rtl="0">
              <a:lnSpc>
                <a:spcPct val="125646"/>
              </a:lnSpc>
              <a:spcBef>
                <a:spcPts val="0"/>
              </a:spcBef>
              <a:spcAft>
                <a:spcPts val="0"/>
              </a:spcAft>
              <a:buNone/>
            </a:pPr>
            <a:r>
              <a:rPr lang="en-US" sz="2437" b="1" dirty="0">
                <a:solidFill>
                  <a:srgbClr val="000000"/>
                </a:solidFill>
                <a:latin typeface="Inter"/>
                <a:ea typeface="Inter"/>
                <a:cs typeface="Inter"/>
                <a:sym typeface="Inter"/>
              </a:rPr>
              <a:t>💰</a:t>
            </a:r>
            <a:r>
              <a:rPr lang="en-US" sz="2437" b="1" dirty="0">
                <a:solidFill>
                  <a:srgbClr val="272525"/>
                </a:solidFill>
                <a:latin typeface="Inter"/>
                <a:ea typeface="Inter"/>
                <a:cs typeface="Inter"/>
                <a:sym typeface="Inter"/>
              </a:rPr>
              <a:t> Economic Loss</a:t>
            </a:r>
            <a:endParaRPr dirty="0"/>
          </a:p>
        </p:txBody>
      </p:sp>
      <p:sp>
        <p:nvSpPr>
          <p:cNvPr id="104" name="Google Shape;104;p14"/>
          <p:cNvSpPr txBox="1"/>
          <p:nvPr/>
        </p:nvSpPr>
        <p:spPr>
          <a:xfrm>
            <a:off x="9722049" y="3897809"/>
            <a:ext cx="7432774" cy="891480"/>
          </a:xfrm>
          <a:prstGeom prst="rect">
            <a:avLst/>
          </a:prstGeom>
          <a:noFill/>
          <a:ln>
            <a:noFill/>
          </a:ln>
        </p:spPr>
        <p:txBody>
          <a:bodyPr spcFirstLastPara="1" wrap="square" lIns="0" tIns="0" rIns="0" bIns="0" anchor="t" anchorCtr="0">
            <a:spAutoFit/>
          </a:bodyPr>
          <a:lstStyle/>
          <a:p>
            <a:pPr marL="0" marR="0" lvl="0" indent="0" algn="l" rtl="0">
              <a:lnSpc>
                <a:spcPct val="161331"/>
              </a:lnSpc>
              <a:spcBef>
                <a:spcPts val="0"/>
              </a:spcBef>
              <a:spcAft>
                <a:spcPts val="0"/>
              </a:spcAft>
              <a:buNone/>
            </a:pPr>
            <a:r>
              <a:rPr lang="en-US" sz="1937" dirty="0">
                <a:solidFill>
                  <a:srgbClr val="272525"/>
                </a:solidFill>
                <a:latin typeface="Inter"/>
                <a:ea typeface="Inter"/>
                <a:cs typeface="Inter"/>
                <a:sym typeface="Inter"/>
              </a:rPr>
              <a:t>Delays cost billions in lost investment and stalled infrastructure development</a:t>
            </a:r>
            <a:endParaRPr dirty="0"/>
          </a:p>
        </p:txBody>
      </p:sp>
      <p:grpSp>
        <p:nvGrpSpPr>
          <p:cNvPr id="105" name="Google Shape;105;p14"/>
          <p:cNvGrpSpPr/>
          <p:nvPr/>
        </p:nvGrpSpPr>
        <p:grpSpPr>
          <a:xfrm>
            <a:off x="9455944" y="5297686"/>
            <a:ext cx="7964996" cy="1580293"/>
            <a:chOff x="0" y="0"/>
            <a:chExt cx="10619994" cy="2107057"/>
          </a:xfrm>
        </p:grpSpPr>
        <p:sp>
          <p:nvSpPr>
            <p:cNvPr id="106" name="Google Shape;106;p14"/>
            <p:cNvSpPr/>
            <p:nvPr/>
          </p:nvSpPr>
          <p:spPr>
            <a:xfrm>
              <a:off x="6350" y="6350"/>
              <a:ext cx="10607294" cy="2094357"/>
            </a:xfrm>
            <a:custGeom>
              <a:avLst/>
              <a:gdLst/>
              <a:ahLst/>
              <a:cxnLst/>
              <a:rect l="l" t="t" r="r" b="b"/>
              <a:pathLst>
                <a:path w="10607294" h="2094357" extrusionOk="0">
                  <a:moveTo>
                    <a:pt x="0" y="140970"/>
                  </a:moveTo>
                  <a:cubicBezTo>
                    <a:pt x="0" y="63119"/>
                    <a:pt x="63500" y="0"/>
                    <a:pt x="141732" y="0"/>
                  </a:cubicBezTo>
                  <a:lnTo>
                    <a:pt x="10465562" y="0"/>
                  </a:lnTo>
                  <a:cubicBezTo>
                    <a:pt x="10543794" y="0"/>
                    <a:pt x="10607294" y="63119"/>
                    <a:pt x="10607294" y="140970"/>
                  </a:cubicBezTo>
                  <a:lnTo>
                    <a:pt x="10607294" y="1953260"/>
                  </a:lnTo>
                  <a:cubicBezTo>
                    <a:pt x="10607294" y="2031111"/>
                    <a:pt x="10543794" y="2094230"/>
                    <a:pt x="10465562" y="2094230"/>
                  </a:cubicBezTo>
                  <a:lnTo>
                    <a:pt x="141732" y="2094230"/>
                  </a:lnTo>
                  <a:cubicBezTo>
                    <a:pt x="63500" y="2094357"/>
                    <a:pt x="0" y="2031111"/>
                    <a:pt x="0" y="1953260"/>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 name="Google Shape;107;p14"/>
            <p:cNvSpPr/>
            <p:nvPr/>
          </p:nvSpPr>
          <p:spPr>
            <a:xfrm>
              <a:off x="0" y="0"/>
              <a:ext cx="10619994" cy="2107057"/>
            </a:xfrm>
            <a:custGeom>
              <a:avLst/>
              <a:gdLst/>
              <a:ahLst/>
              <a:cxnLst/>
              <a:rect l="l" t="t" r="r" b="b"/>
              <a:pathLst>
                <a:path w="10619994" h="2107057" extrusionOk="0">
                  <a:moveTo>
                    <a:pt x="0" y="147320"/>
                  </a:moveTo>
                  <a:cubicBezTo>
                    <a:pt x="0" y="65913"/>
                    <a:pt x="66294" y="0"/>
                    <a:pt x="148082" y="0"/>
                  </a:cubicBezTo>
                  <a:lnTo>
                    <a:pt x="10471912" y="0"/>
                  </a:lnTo>
                  <a:lnTo>
                    <a:pt x="10471912" y="6350"/>
                  </a:lnTo>
                  <a:lnTo>
                    <a:pt x="10471912" y="0"/>
                  </a:lnTo>
                  <a:cubicBezTo>
                    <a:pt x="10553700" y="0"/>
                    <a:pt x="10619994" y="65913"/>
                    <a:pt x="10619994" y="147320"/>
                  </a:cubicBezTo>
                  <a:lnTo>
                    <a:pt x="10613644" y="147320"/>
                  </a:lnTo>
                  <a:lnTo>
                    <a:pt x="10619994" y="147320"/>
                  </a:lnTo>
                  <a:lnTo>
                    <a:pt x="10619994" y="1959610"/>
                  </a:lnTo>
                  <a:lnTo>
                    <a:pt x="10613644" y="1959610"/>
                  </a:lnTo>
                  <a:lnTo>
                    <a:pt x="10619994" y="1959610"/>
                  </a:lnTo>
                  <a:cubicBezTo>
                    <a:pt x="10619994" y="2041017"/>
                    <a:pt x="10553700" y="2106930"/>
                    <a:pt x="10471912" y="2106930"/>
                  </a:cubicBezTo>
                  <a:lnTo>
                    <a:pt x="10471912" y="2100580"/>
                  </a:lnTo>
                  <a:lnTo>
                    <a:pt x="10471912" y="2106930"/>
                  </a:lnTo>
                  <a:lnTo>
                    <a:pt x="148082" y="2106930"/>
                  </a:lnTo>
                  <a:lnTo>
                    <a:pt x="148082" y="2100580"/>
                  </a:lnTo>
                  <a:lnTo>
                    <a:pt x="148082" y="2106930"/>
                  </a:lnTo>
                  <a:cubicBezTo>
                    <a:pt x="66294" y="2107057"/>
                    <a:pt x="0" y="2041017"/>
                    <a:pt x="0" y="1959610"/>
                  </a:cubicBezTo>
                  <a:lnTo>
                    <a:pt x="0" y="147320"/>
                  </a:lnTo>
                  <a:lnTo>
                    <a:pt x="6350" y="147320"/>
                  </a:lnTo>
                  <a:lnTo>
                    <a:pt x="0" y="147320"/>
                  </a:lnTo>
                  <a:moveTo>
                    <a:pt x="12700" y="147320"/>
                  </a:moveTo>
                  <a:lnTo>
                    <a:pt x="12700" y="1959610"/>
                  </a:lnTo>
                  <a:lnTo>
                    <a:pt x="6350" y="1959610"/>
                  </a:lnTo>
                  <a:lnTo>
                    <a:pt x="12700" y="1959610"/>
                  </a:lnTo>
                  <a:cubicBezTo>
                    <a:pt x="12700" y="2033905"/>
                    <a:pt x="73279" y="2094230"/>
                    <a:pt x="148082" y="2094230"/>
                  </a:cubicBezTo>
                  <a:lnTo>
                    <a:pt x="10471912" y="2094230"/>
                  </a:lnTo>
                  <a:cubicBezTo>
                    <a:pt x="10546715" y="2094230"/>
                    <a:pt x="10607294" y="2033905"/>
                    <a:pt x="10607294" y="1959610"/>
                  </a:cubicBezTo>
                  <a:lnTo>
                    <a:pt x="10607294" y="147320"/>
                  </a:lnTo>
                  <a:cubicBezTo>
                    <a:pt x="10607294" y="73025"/>
                    <a:pt x="10546715" y="12700"/>
                    <a:pt x="10471912" y="12700"/>
                  </a:cubicBezTo>
                  <a:lnTo>
                    <a:pt x="148082" y="12700"/>
                  </a:lnTo>
                  <a:lnTo>
                    <a:pt x="148082" y="6350"/>
                  </a:lnTo>
                  <a:lnTo>
                    <a:pt x="148082" y="12700"/>
                  </a:lnTo>
                  <a:cubicBezTo>
                    <a:pt x="73279" y="12700"/>
                    <a:pt x="12700" y="73025"/>
                    <a:pt x="12700" y="147320"/>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08" name="Google Shape;108;p14"/>
          <p:cNvSpPr txBox="1"/>
          <p:nvPr/>
        </p:nvSpPr>
        <p:spPr>
          <a:xfrm>
            <a:off x="9722049" y="5544741"/>
            <a:ext cx="3148012" cy="412402"/>
          </a:xfrm>
          <a:prstGeom prst="rect">
            <a:avLst/>
          </a:prstGeom>
          <a:noFill/>
          <a:ln>
            <a:noFill/>
          </a:ln>
        </p:spPr>
        <p:txBody>
          <a:bodyPr spcFirstLastPara="1" wrap="square" lIns="0" tIns="0" rIns="0" bIns="0" anchor="t" anchorCtr="0">
            <a:spAutoFit/>
          </a:bodyPr>
          <a:lstStyle/>
          <a:p>
            <a:pPr marL="0" marR="0" lvl="0" indent="0" algn="l" rtl="0">
              <a:lnSpc>
                <a:spcPct val="125646"/>
              </a:lnSpc>
              <a:spcBef>
                <a:spcPts val="0"/>
              </a:spcBef>
              <a:spcAft>
                <a:spcPts val="0"/>
              </a:spcAft>
              <a:buNone/>
            </a:pPr>
            <a:r>
              <a:rPr lang="en-US" sz="2437" b="1" dirty="0">
                <a:solidFill>
                  <a:srgbClr val="000000"/>
                </a:solidFill>
                <a:latin typeface="Inter"/>
                <a:ea typeface="Inter"/>
                <a:cs typeface="Inter"/>
                <a:sym typeface="Inter"/>
              </a:rPr>
              <a:t>🌍</a:t>
            </a:r>
            <a:r>
              <a:rPr lang="en-US" sz="2437" b="1" dirty="0">
                <a:solidFill>
                  <a:srgbClr val="272525"/>
                </a:solidFill>
                <a:latin typeface="Inter"/>
                <a:ea typeface="Inter"/>
                <a:cs typeface="Inter"/>
                <a:sym typeface="Inter"/>
              </a:rPr>
              <a:t> Climate Goals</a:t>
            </a:r>
            <a:endParaRPr dirty="0"/>
          </a:p>
        </p:txBody>
      </p:sp>
      <p:sp>
        <p:nvSpPr>
          <p:cNvPr id="109" name="Google Shape;109;p14"/>
          <p:cNvSpPr txBox="1"/>
          <p:nvPr/>
        </p:nvSpPr>
        <p:spPr>
          <a:xfrm>
            <a:off x="9722049" y="6123235"/>
            <a:ext cx="7432774" cy="488602"/>
          </a:xfrm>
          <a:prstGeom prst="rect">
            <a:avLst/>
          </a:prstGeom>
          <a:noFill/>
          <a:ln>
            <a:noFill/>
          </a:ln>
        </p:spPr>
        <p:txBody>
          <a:bodyPr spcFirstLastPara="1" wrap="square" lIns="0" tIns="0" rIns="0" bIns="0" anchor="t" anchorCtr="0">
            <a:spAutoFit/>
          </a:bodyPr>
          <a:lstStyle/>
          <a:p>
            <a:pPr marL="0" marR="0" lvl="0" indent="0" algn="l" rtl="0">
              <a:lnSpc>
                <a:spcPct val="161331"/>
              </a:lnSpc>
              <a:spcBef>
                <a:spcPts val="0"/>
              </a:spcBef>
              <a:spcAft>
                <a:spcPts val="0"/>
              </a:spcAft>
              <a:buNone/>
            </a:pPr>
            <a:r>
              <a:rPr lang="en-US" sz="1937">
                <a:solidFill>
                  <a:srgbClr val="272525"/>
                </a:solidFill>
                <a:latin typeface="Inter"/>
                <a:ea typeface="Inter"/>
                <a:cs typeface="Inter"/>
                <a:sym typeface="Inter"/>
              </a:rPr>
              <a:t>Slows clean energy transition and renewable adoption targets</a:t>
            </a:r>
            <a:endParaRPr/>
          </a:p>
        </p:txBody>
      </p:sp>
      <p:grpSp>
        <p:nvGrpSpPr>
          <p:cNvPr id="110" name="Google Shape;110;p14"/>
          <p:cNvGrpSpPr/>
          <p:nvPr/>
        </p:nvGrpSpPr>
        <p:grpSpPr>
          <a:xfrm>
            <a:off x="9455944" y="7120235"/>
            <a:ext cx="7964996" cy="1983200"/>
            <a:chOff x="0" y="0"/>
            <a:chExt cx="10619994" cy="2644267"/>
          </a:xfrm>
        </p:grpSpPr>
        <p:sp>
          <p:nvSpPr>
            <p:cNvPr id="111" name="Google Shape;111;p14"/>
            <p:cNvSpPr/>
            <p:nvPr/>
          </p:nvSpPr>
          <p:spPr>
            <a:xfrm>
              <a:off x="6350" y="6350"/>
              <a:ext cx="10607294" cy="2631567"/>
            </a:xfrm>
            <a:custGeom>
              <a:avLst/>
              <a:gdLst/>
              <a:ahLst/>
              <a:cxnLst/>
              <a:rect l="l" t="t" r="r" b="b"/>
              <a:pathLst>
                <a:path w="10607294" h="2631567" extrusionOk="0">
                  <a:moveTo>
                    <a:pt x="0" y="141097"/>
                  </a:moveTo>
                  <a:cubicBezTo>
                    <a:pt x="0" y="63119"/>
                    <a:pt x="63373" y="0"/>
                    <a:pt x="141605" y="0"/>
                  </a:cubicBezTo>
                  <a:lnTo>
                    <a:pt x="10465689" y="0"/>
                  </a:lnTo>
                  <a:cubicBezTo>
                    <a:pt x="10543921" y="0"/>
                    <a:pt x="10607294" y="63119"/>
                    <a:pt x="10607294" y="141097"/>
                  </a:cubicBezTo>
                  <a:lnTo>
                    <a:pt x="10607294" y="2490470"/>
                  </a:lnTo>
                  <a:cubicBezTo>
                    <a:pt x="10607294" y="2568321"/>
                    <a:pt x="10543921" y="2631567"/>
                    <a:pt x="10465689" y="2631567"/>
                  </a:cubicBezTo>
                  <a:lnTo>
                    <a:pt x="141605" y="2631567"/>
                  </a:lnTo>
                  <a:cubicBezTo>
                    <a:pt x="63373" y="2631440"/>
                    <a:pt x="0" y="2568321"/>
                    <a:pt x="0" y="2490470"/>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 name="Google Shape;112;p14"/>
            <p:cNvSpPr/>
            <p:nvPr/>
          </p:nvSpPr>
          <p:spPr>
            <a:xfrm>
              <a:off x="0" y="0"/>
              <a:ext cx="10619994" cy="2644267"/>
            </a:xfrm>
            <a:custGeom>
              <a:avLst/>
              <a:gdLst/>
              <a:ahLst/>
              <a:cxnLst/>
              <a:rect l="l" t="t" r="r" b="b"/>
              <a:pathLst>
                <a:path w="10619994" h="2644267" extrusionOk="0">
                  <a:moveTo>
                    <a:pt x="0" y="147447"/>
                  </a:moveTo>
                  <a:cubicBezTo>
                    <a:pt x="0" y="65913"/>
                    <a:pt x="66294" y="0"/>
                    <a:pt x="147955" y="0"/>
                  </a:cubicBezTo>
                  <a:lnTo>
                    <a:pt x="10472039" y="0"/>
                  </a:lnTo>
                  <a:lnTo>
                    <a:pt x="10472039" y="6350"/>
                  </a:lnTo>
                  <a:lnTo>
                    <a:pt x="10472039" y="0"/>
                  </a:lnTo>
                  <a:cubicBezTo>
                    <a:pt x="10553700" y="0"/>
                    <a:pt x="10619994" y="65913"/>
                    <a:pt x="10619994" y="147447"/>
                  </a:cubicBezTo>
                  <a:lnTo>
                    <a:pt x="10613644" y="147447"/>
                  </a:lnTo>
                  <a:lnTo>
                    <a:pt x="10619994" y="147447"/>
                  </a:lnTo>
                  <a:lnTo>
                    <a:pt x="10619994" y="2496820"/>
                  </a:lnTo>
                  <a:lnTo>
                    <a:pt x="10613644" y="2496820"/>
                  </a:lnTo>
                  <a:lnTo>
                    <a:pt x="10619994" y="2496820"/>
                  </a:lnTo>
                  <a:cubicBezTo>
                    <a:pt x="10619994" y="2578227"/>
                    <a:pt x="10553700" y="2644267"/>
                    <a:pt x="10472039" y="2644267"/>
                  </a:cubicBezTo>
                  <a:lnTo>
                    <a:pt x="10472039" y="2637917"/>
                  </a:lnTo>
                  <a:lnTo>
                    <a:pt x="10472039" y="2644267"/>
                  </a:lnTo>
                  <a:lnTo>
                    <a:pt x="147955" y="2644267"/>
                  </a:lnTo>
                  <a:lnTo>
                    <a:pt x="147955" y="2637917"/>
                  </a:lnTo>
                  <a:lnTo>
                    <a:pt x="147955" y="2644267"/>
                  </a:lnTo>
                  <a:cubicBezTo>
                    <a:pt x="66294" y="2644140"/>
                    <a:pt x="0" y="2578227"/>
                    <a:pt x="0" y="2496820"/>
                  </a:cubicBezTo>
                  <a:lnTo>
                    <a:pt x="0" y="147447"/>
                  </a:lnTo>
                  <a:lnTo>
                    <a:pt x="6350" y="147447"/>
                  </a:lnTo>
                  <a:lnTo>
                    <a:pt x="0" y="147447"/>
                  </a:lnTo>
                  <a:moveTo>
                    <a:pt x="12700" y="147447"/>
                  </a:moveTo>
                  <a:lnTo>
                    <a:pt x="12700" y="2496820"/>
                  </a:lnTo>
                  <a:lnTo>
                    <a:pt x="6350" y="2496820"/>
                  </a:lnTo>
                  <a:lnTo>
                    <a:pt x="12700" y="2496820"/>
                  </a:lnTo>
                  <a:cubicBezTo>
                    <a:pt x="12700" y="2571242"/>
                    <a:pt x="73152" y="2631567"/>
                    <a:pt x="147955" y="2631567"/>
                  </a:cubicBezTo>
                  <a:lnTo>
                    <a:pt x="10472039" y="2631567"/>
                  </a:lnTo>
                  <a:cubicBezTo>
                    <a:pt x="10546715" y="2631567"/>
                    <a:pt x="10607294" y="2571242"/>
                    <a:pt x="10607294" y="2496820"/>
                  </a:cubicBezTo>
                  <a:lnTo>
                    <a:pt x="10607294" y="147447"/>
                  </a:lnTo>
                  <a:cubicBezTo>
                    <a:pt x="10607294" y="73025"/>
                    <a:pt x="10546715" y="12700"/>
                    <a:pt x="10472039" y="12700"/>
                  </a:cubicBezTo>
                  <a:lnTo>
                    <a:pt x="147955" y="12700"/>
                  </a:lnTo>
                  <a:lnTo>
                    <a:pt x="147955" y="6350"/>
                  </a:lnTo>
                  <a:lnTo>
                    <a:pt x="147955" y="12700"/>
                  </a:lnTo>
                  <a:cubicBezTo>
                    <a:pt x="73152" y="12700"/>
                    <a:pt x="12700" y="73025"/>
                    <a:pt x="12700" y="147447"/>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13" name="Google Shape;113;p14"/>
          <p:cNvSpPr txBox="1"/>
          <p:nvPr/>
        </p:nvSpPr>
        <p:spPr>
          <a:xfrm>
            <a:off x="9722049" y="7367290"/>
            <a:ext cx="3148012" cy="412402"/>
          </a:xfrm>
          <a:prstGeom prst="rect">
            <a:avLst/>
          </a:prstGeom>
          <a:noFill/>
          <a:ln>
            <a:noFill/>
          </a:ln>
        </p:spPr>
        <p:txBody>
          <a:bodyPr spcFirstLastPara="1" wrap="square" lIns="0" tIns="0" rIns="0" bIns="0" anchor="t" anchorCtr="0">
            <a:spAutoFit/>
          </a:bodyPr>
          <a:lstStyle/>
          <a:p>
            <a:pPr marL="0" marR="0" lvl="0" indent="0" algn="l" rtl="0">
              <a:lnSpc>
                <a:spcPct val="125646"/>
              </a:lnSpc>
              <a:spcBef>
                <a:spcPts val="0"/>
              </a:spcBef>
              <a:spcAft>
                <a:spcPts val="0"/>
              </a:spcAft>
              <a:buNone/>
            </a:pPr>
            <a:r>
              <a:rPr lang="en-US" sz="2437" b="1" dirty="0">
                <a:solidFill>
                  <a:srgbClr val="000000"/>
                </a:solidFill>
                <a:latin typeface="Inter"/>
                <a:ea typeface="Inter"/>
                <a:cs typeface="Inter"/>
                <a:sym typeface="Inter"/>
              </a:rPr>
              <a:t>⚡</a:t>
            </a:r>
            <a:r>
              <a:rPr lang="en-US" sz="2437" b="1" dirty="0">
                <a:solidFill>
                  <a:srgbClr val="272525"/>
                </a:solidFill>
                <a:latin typeface="Inter"/>
                <a:ea typeface="Inter"/>
                <a:cs typeface="Inter"/>
                <a:sym typeface="Inter"/>
              </a:rPr>
              <a:t> Grid Expansion</a:t>
            </a:r>
            <a:endParaRPr dirty="0"/>
          </a:p>
        </p:txBody>
      </p:sp>
      <p:sp>
        <p:nvSpPr>
          <p:cNvPr id="114" name="Google Shape;114;p14"/>
          <p:cNvSpPr txBox="1"/>
          <p:nvPr/>
        </p:nvSpPr>
        <p:spPr>
          <a:xfrm>
            <a:off x="9722049" y="7945785"/>
            <a:ext cx="7432774" cy="891480"/>
          </a:xfrm>
          <a:prstGeom prst="rect">
            <a:avLst/>
          </a:prstGeom>
          <a:noFill/>
          <a:ln>
            <a:noFill/>
          </a:ln>
        </p:spPr>
        <p:txBody>
          <a:bodyPr spcFirstLastPara="1" wrap="square" lIns="0" tIns="0" rIns="0" bIns="0" anchor="t" anchorCtr="0">
            <a:spAutoFit/>
          </a:bodyPr>
          <a:lstStyle/>
          <a:p>
            <a:pPr marL="0" marR="0" lvl="0" indent="0" algn="l" rtl="0">
              <a:lnSpc>
                <a:spcPct val="161331"/>
              </a:lnSpc>
              <a:spcBef>
                <a:spcPts val="0"/>
              </a:spcBef>
              <a:spcAft>
                <a:spcPts val="0"/>
              </a:spcAft>
              <a:buNone/>
            </a:pPr>
            <a:r>
              <a:rPr lang="en-US" sz="1937" dirty="0">
                <a:solidFill>
                  <a:srgbClr val="272525"/>
                </a:solidFill>
                <a:latin typeface="Inter"/>
                <a:ea typeface="Inter"/>
                <a:cs typeface="Inter"/>
                <a:sym typeface="Inter"/>
              </a:rPr>
              <a:t>Prevents capacity growth for AI data </a:t>
            </a:r>
            <a:r>
              <a:rPr lang="en-US" sz="1937" dirty="0" err="1">
                <a:solidFill>
                  <a:srgbClr val="272525"/>
                </a:solidFill>
                <a:latin typeface="Inter"/>
                <a:ea typeface="Inter"/>
                <a:cs typeface="Inter"/>
                <a:sym typeface="Inter"/>
              </a:rPr>
              <a:t>centres</a:t>
            </a:r>
            <a:r>
              <a:rPr lang="en-US" sz="1937" dirty="0">
                <a:solidFill>
                  <a:srgbClr val="272525"/>
                </a:solidFill>
                <a:latin typeface="Inter"/>
                <a:ea typeface="Inter"/>
                <a:cs typeface="Inter"/>
                <a:sym typeface="Inter"/>
              </a:rPr>
              <a:t> and emerging technologies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2031325"/>
          </a:xfrm>
          <a:prstGeom prst="rect">
            <a:avLst/>
          </a:prstGeom>
          <a:noFill/>
          <a:ln>
            <a:noFill/>
          </a:ln>
        </p:spPr>
        <p:txBody>
          <a:bodyPr spcFirstLastPara="1" wrap="square" lIns="0" tIns="0" rIns="0" bIns="0" anchor="t" anchorCtr="0">
            <a:spAutoFit/>
          </a:bodyPr>
          <a:lstStyle/>
          <a:p>
            <a:pPr marL="457200" indent="-457200" algn="l">
              <a:buFont typeface="Arial" panose="020B0604020202020204" pitchFamily="34" charset="0"/>
              <a:buChar char="•"/>
            </a:pPr>
            <a:r>
              <a:rPr lang="en-IN" sz="4000" dirty="0">
                <a:solidFill>
                  <a:srgbClr val="272525"/>
                </a:solidFill>
                <a:latin typeface="Verdana" panose="020B0604030504040204" pitchFamily="34" charset="0"/>
                <a:ea typeface="Verdana" panose="020B0604030504040204" pitchFamily="34" charset="0"/>
                <a:cs typeface="Inter"/>
                <a:sym typeface="Inter"/>
              </a:rPr>
              <a:t>TBD</a:t>
            </a:r>
            <a:endParaRPr lang="en-IN" sz="4000" dirty="0">
              <a:solidFill>
                <a:srgbClr val="272525"/>
              </a:solidFill>
              <a:latin typeface="Verdana" panose="020B0604030504040204" pitchFamily="34" charset="0"/>
              <a:ea typeface="Verdana" panose="020B0604030504040204" pitchFamily="34" charset="0"/>
              <a:sym typeface="Inter"/>
            </a:endParaRPr>
          </a:p>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US" sz="5400" b="1" dirty="0">
                <a:solidFill>
                  <a:srgbClr val="000000"/>
                </a:solidFill>
                <a:latin typeface="Verdana" panose="020B0604030504040204" pitchFamily="34" charset="0"/>
                <a:ea typeface="Verdana" panose="020B0604030504040204" pitchFamily="34" charset="0"/>
                <a:cs typeface="Inter"/>
                <a:sym typeface="Inter"/>
              </a:rPr>
              <a:t>Business case / Market opportunity</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30105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2031325"/>
          </a:xfrm>
          <a:prstGeom prst="rect">
            <a:avLst/>
          </a:prstGeom>
          <a:noFill/>
          <a:ln>
            <a:noFill/>
          </a:ln>
        </p:spPr>
        <p:txBody>
          <a:bodyPr spcFirstLastPara="1" wrap="square" lIns="0" tIns="0" rIns="0" bIns="0" anchor="t" anchorCtr="0">
            <a:spAutoFit/>
          </a:bodyPr>
          <a:lstStyle/>
          <a:p>
            <a:pPr marL="457200" indent="-457200" algn="l">
              <a:buFont typeface="Arial" panose="020B0604020202020204" pitchFamily="34" charset="0"/>
              <a:buChar char="•"/>
            </a:pPr>
            <a:r>
              <a:rPr lang="en-IN" sz="4000" dirty="0">
                <a:solidFill>
                  <a:srgbClr val="272525"/>
                </a:solidFill>
                <a:latin typeface="Verdana" panose="020B0604030504040204" pitchFamily="34" charset="0"/>
                <a:ea typeface="Verdana" panose="020B0604030504040204" pitchFamily="34" charset="0"/>
                <a:cs typeface="Inter"/>
                <a:sym typeface="Inter"/>
              </a:rPr>
              <a:t>TBD</a:t>
            </a:r>
            <a:endParaRPr lang="en-IN" sz="4000" dirty="0">
              <a:solidFill>
                <a:srgbClr val="272525"/>
              </a:solidFill>
              <a:latin typeface="Verdana" panose="020B0604030504040204" pitchFamily="34" charset="0"/>
              <a:ea typeface="Verdana" panose="020B0604030504040204" pitchFamily="34" charset="0"/>
              <a:sym typeface="Inter"/>
            </a:endParaRPr>
          </a:p>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US" sz="5400" b="1" dirty="0">
                <a:solidFill>
                  <a:srgbClr val="000000"/>
                </a:solidFill>
                <a:latin typeface="Verdana" panose="020B0604030504040204" pitchFamily="34" charset="0"/>
                <a:ea typeface="Verdana" panose="020B0604030504040204" pitchFamily="34" charset="0"/>
                <a:cs typeface="Inter"/>
                <a:sym typeface="Inter"/>
              </a:rPr>
              <a:t>Solution Overview</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16075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5"/>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6F4F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 name="Google Shape;120;p15"/>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1" name="Google Shape;121;p15"/>
          <p:cNvSpPr txBox="1"/>
          <p:nvPr/>
        </p:nvSpPr>
        <p:spPr>
          <a:xfrm>
            <a:off x="886271" y="755897"/>
            <a:ext cx="11454854" cy="819894"/>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US" sz="4937" b="1" dirty="0">
                <a:solidFill>
                  <a:srgbClr val="000000"/>
                </a:solidFill>
                <a:latin typeface="Inter"/>
                <a:ea typeface="Inter"/>
                <a:cs typeface="Inter"/>
                <a:sym typeface="Inter"/>
              </a:rPr>
              <a:t>Existing Solutions &amp; Their Limitations</a:t>
            </a:r>
            <a:endParaRPr dirty="0"/>
          </a:p>
        </p:txBody>
      </p:sp>
      <p:sp>
        <p:nvSpPr>
          <p:cNvPr id="122" name="Google Shape;122;p15"/>
          <p:cNvSpPr txBox="1"/>
          <p:nvPr/>
        </p:nvSpPr>
        <p:spPr>
          <a:xfrm>
            <a:off x="886271" y="1996529"/>
            <a:ext cx="16515457" cy="368114"/>
          </a:xfrm>
          <a:prstGeom prst="rect">
            <a:avLst/>
          </a:prstGeom>
          <a:noFill/>
          <a:ln>
            <a:noFill/>
          </a:ln>
        </p:spPr>
        <p:txBody>
          <a:bodyPr spcFirstLastPara="1" wrap="square" lIns="0" tIns="0" rIns="0" bIns="0" anchor="t" anchorCtr="0">
            <a:spAutoFit/>
          </a:bodyPr>
          <a:lstStyle/>
          <a:p>
            <a:pPr marL="0" marR="0" lvl="0" indent="0" algn="l" rtl="0">
              <a:lnSpc>
                <a:spcPct val="159350"/>
              </a:lnSpc>
              <a:spcBef>
                <a:spcPts val="0"/>
              </a:spcBef>
              <a:spcAft>
                <a:spcPts val="0"/>
              </a:spcAft>
              <a:buNone/>
            </a:pPr>
            <a:r>
              <a:rPr lang="en-US" sz="2000" dirty="0">
                <a:solidFill>
                  <a:srgbClr val="272525"/>
                </a:solidFill>
                <a:latin typeface="Inter"/>
                <a:ea typeface="Inter"/>
                <a:cs typeface="Inter"/>
                <a:sym typeface="Inter"/>
              </a:rPr>
              <a:t>Traditional approaches to interconnection processing face fundamental constraints that prevent scalability and efficiency.</a:t>
            </a:r>
            <a:endParaRPr dirty="0"/>
          </a:p>
        </p:txBody>
      </p:sp>
      <p:grpSp>
        <p:nvGrpSpPr>
          <p:cNvPr id="123" name="Google Shape;123;p15"/>
          <p:cNvGrpSpPr/>
          <p:nvPr/>
        </p:nvGrpSpPr>
        <p:grpSpPr>
          <a:xfrm>
            <a:off x="871984" y="2758082"/>
            <a:ext cx="8159591" cy="3267075"/>
            <a:chOff x="0" y="0"/>
            <a:chExt cx="10879455" cy="4356100"/>
          </a:xfrm>
        </p:grpSpPr>
        <p:sp>
          <p:nvSpPr>
            <p:cNvPr id="124" name="Google Shape;124;p15"/>
            <p:cNvSpPr/>
            <p:nvPr/>
          </p:nvSpPr>
          <p:spPr>
            <a:xfrm>
              <a:off x="19050" y="19050"/>
              <a:ext cx="10841355" cy="4318000"/>
            </a:xfrm>
            <a:custGeom>
              <a:avLst/>
              <a:gdLst/>
              <a:ahLst/>
              <a:cxnLst/>
              <a:rect l="l" t="t" r="r" b="b"/>
              <a:pathLst>
                <a:path w="10841355" h="4318000" extrusionOk="0">
                  <a:moveTo>
                    <a:pt x="0" y="141859"/>
                  </a:moveTo>
                  <a:cubicBezTo>
                    <a:pt x="0" y="63500"/>
                    <a:pt x="63881" y="0"/>
                    <a:pt x="142494" y="0"/>
                  </a:cubicBezTo>
                  <a:lnTo>
                    <a:pt x="10698861" y="0"/>
                  </a:lnTo>
                  <a:cubicBezTo>
                    <a:pt x="10777601" y="0"/>
                    <a:pt x="10841355" y="63500"/>
                    <a:pt x="10841355" y="141859"/>
                  </a:cubicBezTo>
                  <a:lnTo>
                    <a:pt x="10841355" y="4176141"/>
                  </a:lnTo>
                  <a:cubicBezTo>
                    <a:pt x="10841355" y="4254500"/>
                    <a:pt x="10777474" y="4318000"/>
                    <a:pt x="10698861" y="4318000"/>
                  </a:cubicBezTo>
                  <a:lnTo>
                    <a:pt x="142494" y="4318000"/>
                  </a:lnTo>
                  <a:cubicBezTo>
                    <a:pt x="63754" y="4318000"/>
                    <a:pt x="0" y="4254500"/>
                    <a:pt x="0" y="4176141"/>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5" name="Google Shape;125;p15"/>
            <p:cNvSpPr/>
            <p:nvPr/>
          </p:nvSpPr>
          <p:spPr>
            <a:xfrm>
              <a:off x="0" y="0"/>
              <a:ext cx="10879455" cy="4356100"/>
            </a:xfrm>
            <a:custGeom>
              <a:avLst/>
              <a:gdLst/>
              <a:ahLst/>
              <a:cxnLst/>
              <a:rect l="l" t="t" r="r" b="b"/>
              <a:pathLst>
                <a:path w="10879455" h="4356100" extrusionOk="0">
                  <a:moveTo>
                    <a:pt x="0" y="160909"/>
                  </a:moveTo>
                  <a:cubicBezTo>
                    <a:pt x="0" y="71882"/>
                    <a:pt x="72390" y="0"/>
                    <a:pt x="161544" y="0"/>
                  </a:cubicBezTo>
                  <a:lnTo>
                    <a:pt x="10717911" y="0"/>
                  </a:lnTo>
                  <a:lnTo>
                    <a:pt x="10717911" y="19050"/>
                  </a:lnTo>
                  <a:lnTo>
                    <a:pt x="10717911" y="0"/>
                  </a:lnTo>
                  <a:cubicBezTo>
                    <a:pt x="10807065" y="0"/>
                    <a:pt x="10879455" y="71882"/>
                    <a:pt x="10879455" y="160909"/>
                  </a:cubicBezTo>
                  <a:lnTo>
                    <a:pt x="10860405" y="160909"/>
                  </a:lnTo>
                  <a:lnTo>
                    <a:pt x="10879455" y="160909"/>
                  </a:lnTo>
                  <a:lnTo>
                    <a:pt x="10879455" y="4195191"/>
                  </a:lnTo>
                  <a:lnTo>
                    <a:pt x="10860405" y="4195191"/>
                  </a:lnTo>
                  <a:lnTo>
                    <a:pt x="10879455" y="4195191"/>
                  </a:lnTo>
                  <a:cubicBezTo>
                    <a:pt x="10879455" y="4284091"/>
                    <a:pt x="10807065" y="4356100"/>
                    <a:pt x="10717911" y="4356100"/>
                  </a:cubicBezTo>
                  <a:lnTo>
                    <a:pt x="10717911" y="4337050"/>
                  </a:lnTo>
                  <a:lnTo>
                    <a:pt x="10717911" y="4356100"/>
                  </a:lnTo>
                  <a:lnTo>
                    <a:pt x="161544" y="4356100"/>
                  </a:lnTo>
                  <a:lnTo>
                    <a:pt x="161544" y="4337050"/>
                  </a:lnTo>
                  <a:lnTo>
                    <a:pt x="161544" y="4356100"/>
                  </a:lnTo>
                  <a:cubicBezTo>
                    <a:pt x="72390" y="4356100"/>
                    <a:pt x="0" y="4284218"/>
                    <a:pt x="0" y="4195191"/>
                  </a:cubicBezTo>
                  <a:lnTo>
                    <a:pt x="0" y="160909"/>
                  </a:lnTo>
                  <a:lnTo>
                    <a:pt x="19050" y="160909"/>
                  </a:lnTo>
                  <a:lnTo>
                    <a:pt x="0" y="160909"/>
                  </a:lnTo>
                  <a:moveTo>
                    <a:pt x="38100" y="160909"/>
                  </a:moveTo>
                  <a:lnTo>
                    <a:pt x="38100" y="4195191"/>
                  </a:lnTo>
                  <a:lnTo>
                    <a:pt x="19050" y="4195191"/>
                  </a:lnTo>
                  <a:lnTo>
                    <a:pt x="38100" y="4195191"/>
                  </a:lnTo>
                  <a:cubicBezTo>
                    <a:pt x="38100" y="4262882"/>
                    <a:pt x="93345" y="4318000"/>
                    <a:pt x="161544" y="4318000"/>
                  </a:cubicBezTo>
                  <a:lnTo>
                    <a:pt x="10717911" y="4318000"/>
                  </a:lnTo>
                  <a:cubicBezTo>
                    <a:pt x="10786237" y="4318000"/>
                    <a:pt x="10841355" y="4263009"/>
                    <a:pt x="10841355" y="4195191"/>
                  </a:cubicBezTo>
                  <a:lnTo>
                    <a:pt x="10841355" y="160909"/>
                  </a:lnTo>
                  <a:cubicBezTo>
                    <a:pt x="10841355" y="93218"/>
                    <a:pt x="10786110" y="38100"/>
                    <a:pt x="10717911" y="38100"/>
                  </a:cubicBezTo>
                  <a:lnTo>
                    <a:pt x="161544" y="38100"/>
                  </a:lnTo>
                  <a:lnTo>
                    <a:pt x="161544" y="19050"/>
                  </a:lnTo>
                  <a:lnTo>
                    <a:pt x="161544" y="38100"/>
                  </a:lnTo>
                  <a:cubicBezTo>
                    <a:pt x="93345" y="38100"/>
                    <a:pt x="38100" y="93091"/>
                    <a:pt x="38100" y="160909"/>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6" name="Google Shape;126;p15"/>
          <p:cNvSpPr/>
          <p:nvPr/>
        </p:nvSpPr>
        <p:spPr>
          <a:xfrm>
            <a:off x="914846" y="2800945"/>
            <a:ext cx="8073961" cy="759809"/>
          </a:xfrm>
          <a:custGeom>
            <a:avLst/>
            <a:gdLst/>
            <a:ahLst/>
            <a:cxnLst/>
            <a:rect l="l" t="t" r="r" b="b"/>
            <a:pathLst>
              <a:path w="10765282" h="1013079" extrusionOk="0">
                <a:moveTo>
                  <a:pt x="0" y="96139"/>
                </a:moveTo>
                <a:cubicBezTo>
                  <a:pt x="0" y="43053"/>
                  <a:pt x="43053" y="0"/>
                  <a:pt x="96139" y="0"/>
                </a:cubicBezTo>
                <a:lnTo>
                  <a:pt x="10669143" y="0"/>
                </a:lnTo>
                <a:cubicBezTo>
                  <a:pt x="10722229" y="0"/>
                  <a:pt x="10765282" y="43053"/>
                  <a:pt x="10765282" y="96139"/>
                </a:cubicBezTo>
                <a:lnTo>
                  <a:pt x="10765282" y="916940"/>
                </a:lnTo>
                <a:cubicBezTo>
                  <a:pt x="10765282" y="970026"/>
                  <a:pt x="10722229" y="1013079"/>
                  <a:pt x="10669143" y="1013079"/>
                </a:cubicBezTo>
                <a:lnTo>
                  <a:pt x="96139" y="1013079"/>
                </a:lnTo>
                <a:cubicBezTo>
                  <a:pt x="43053" y="1013079"/>
                  <a:pt x="0" y="970026"/>
                  <a:pt x="0" y="916940"/>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 name="Google Shape;127;p15"/>
          <p:cNvSpPr txBox="1"/>
          <p:nvPr/>
        </p:nvSpPr>
        <p:spPr>
          <a:xfrm>
            <a:off x="4761905" y="2995761"/>
            <a:ext cx="379810" cy="41761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937" b="1" dirty="0">
                <a:solidFill>
                  <a:srgbClr val="272525"/>
                </a:solidFill>
                <a:latin typeface="Inter"/>
                <a:ea typeface="Inter"/>
                <a:cs typeface="Inter"/>
                <a:sym typeface="Inter"/>
              </a:rPr>
              <a:t>1</a:t>
            </a:r>
            <a:endParaRPr dirty="0"/>
          </a:p>
        </p:txBody>
      </p:sp>
      <p:sp>
        <p:nvSpPr>
          <p:cNvPr id="128" name="Google Shape;128;p15"/>
          <p:cNvSpPr txBox="1"/>
          <p:nvPr/>
        </p:nvSpPr>
        <p:spPr>
          <a:xfrm>
            <a:off x="1168004" y="3794820"/>
            <a:ext cx="3165574" cy="414635"/>
          </a:xfrm>
          <a:prstGeom prst="rect">
            <a:avLst/>
          </a:prstGeom>
          <a:noFill/>
          <a:ln>
            <a:noFill/>
          </a:ln>
        </p:spPr>
        <p:txBody>
          <a:bodyPr spcFirstLastPara="1" wrap="square" lIns="0" tIns="0" rIns="0" bIns="0" anchor="t" anchorCtr="0">
            <a:spAutoFit/>
          </a:bodyPr>
          <a:lstStyle/>
          <a:p>
            <a:pPr marL="0" marR="0" lvl="0" indent="0" algn="l" rtl="0">
              <a:lnSpc>
                <a:spcPct val="125646"/>
              </a:lnSpc>
              <a:spcBef>
                <a:spcPts val="0"/>
              </a:spcBef>
              <a:spcAft>
                <a:spcPts val="0"/>
              </a:spcAft>
              <a:buNone/>
            </a:pPr>
            <a:r>
              <a:rPr lang="en-US" sz="2437" b="1" dirty="0">
                <a:solidFill>
                  <a:srgbClr val="272525"/>
                </a:solidFill>
                <a:latin typeface="Inter"/>
                <a:ea typeface="Inter"/>
                <a:cs typeface="Inter"/>
                <a:sym typeface="Inter"/>
              </a:rPr>
              <a:t>Manual Processing</a:t>
            </a:r>
            <a:endParaRPr dirty="0"/>
          </a:p>
        </p:txBody>
      </p:sp>
      <p:sp>
        <p:nvSpPr>
          <p:cNvPr id="129" name="Google Shape;129;p15"/>
          <p:cNvSpPr txBox="1"/>
          <p:nvPr/>
        </p:nvSpPr>
        <p:spPr>
          <a:xfrm>
            <a:off x="1168003" y="4275683"/>
            <a:ext cx="7689393" cy="978729"/>
          </a:xfrm>
          <a:prstGeom prst="rect">
            <a:avLst/>
          </a:prstGeom>
          <a:noFill/>
          <a:ln>
            <a:noFill/>
          </a:ln>
        </p:spPr>
        <p:txBody>
          <a:bodyPr spcFirstLastPara="1" wrap="square" lIns="0" tIns="0" rIns="0" bIns="0" anchor="t" anchorCtr="0">
            <a:spAutoFit/>
          </a:bodyPr>
          <a:lstStyle/>
          <a:p>
            <a:pPr marL="0" marR="0" lvl="0" indent="0" algn="l" rtl="0">
              <a:lnSpc>
                <a:spcPct val="159350"/>
              </a:lnSpc>
              <a:spcBef>
                <a:spcPts val="0"/>
              </a:spcBef>
              <a:spcAft>
                <a:spcPts val="0"/>
              </a:spcAft>
              <a:buNone/>
            </a:pPr>
            <a:r>
              <a:rPr lang="en-US" sz="2000" b="1" dirty="0">
                <a:solidFill>
                  <a:srgbClr val="272525"/>
                </a:solidFill>
                <a:latin typeface="Inter"/>
                <a:ea typeface="Inter"/>
                <a:cs typeface="Inter"/>
                <a:sym typeface="Inter"/>
              </a:rPr>
              <a:t>Approach:</a:t>
            </a:r>
            <a:r>
              <a:rPr lang="en-US" sz="2000" dirty="0">
                <a:solidFill>
                  <a:srgbClr val="272525"/>
                </a:solidFill>
                <a:latin typeface="Inter"/>
                <a:ea typeface="Inter"/>
                <a:cs typeface="Inter"/>
                <a:sym typeface="Inter"/>
              </a:rPr>
              <a:t> Human review of applications and technical studies</a:t>
            </a:r>
            <a:endParaRPr dirty="0"/>
          </a:p>
        </p:txBody>
      </p:sp>
      <p:sp>
        <p:nvSpPr>
          <p:cNvPr id="130" name="Google Shape;130;p15"/>
          <p:cNvSpPr txBox="1"/>
          <p:nvPr/>
        </p:nvSpPr>
        <p:spPr>
          <a:xfrm>
            <a:off x="1168004" y="5095810"/>
            <a:ext cx="7689392" cy="978729"/>
          </a:xfrm>
          <a:prstGeom prst="rect">
            <a:avLst/>
          </a:prstGeom>
          <a:noFill/>
          <a:ln>
            <a:noFill/>
          </a:ln>
        </p:spPr>
        <p:txBody>
          <a:bodyPr spcFirstLastPara="1" wrap="square" lIns="0" tIns="0" rIns="0" bIns="0" anchor="t" anchorCtr="0">
            <a:spAutoFit/>
          </a:bodyPr>
          <a:lstStyle/>
          <a:p>
            <a:pPr marL="0" marR="0" lvl="0" indent="0" algn="l" rtl="0">
              <a:lnSpc>
                <a:spcPct val="159350"/>
              </a:lnSpc>
              <a:spcBef>
                <a:spcPts val="0"/>
              </a:spcBef>
              <a:spcAft>
                <a:spcPts val="0"/>
              </a:spcAft>
              <a:buNone/>
            </a:pPr>
            <a:r>
              <a:rPr lang="en-US" sz="2000" b="1" dirty="0">
                <a:solidFill>
                  <a:srgbClr val="272525"/>
                </a:solidFill>
                <a:latin typeface="Inter"/>
                <a:ea typeface="Inter"/>
                <a:cs typeface="Inter"/>
                <a:sym typeface="Inter"/>
              </a:rPr>
              <a:t>Limitation:</a:t>
            </a:r>
            <a:r>
              <a:rPr lang="en-US" sz="2000" dirty="0">
                <a:solidFill>
                  <a:srgbClr val="272525"/>
                </a:solidFill>
                <a:latin typeface="Inter"/>
                <a:ea typeface="Inter"/>
                <a:cs typeface="Inter"/>
                <a:sym typeface="Inter"/>
              </a:rPr>
              <a:t> Slow, error-prone, and inconsistent across projects</a:t>
            </a:r>
            <a:endParaRPr dirty="0"/>
          </a:p>
        </p:txBody>
      </p:sp>
      <p:grpSp>
        <p:nvGrpSpPr>
          <p:cNvPr id="131" name="Google Shape;131;p15"/>
          <p:cNvGrpSpPr/>
          <p:nvPr/>
        </p:nvGrpSpPr>
        <p:grpSpPr>
          <a:xfrm>
            <a:off x="9256216" y="2758082"/>
            <a:ext cx="8159782" cy="3267075"/>
            <a:chOff x="0" y="0"/>
            <a:chExt cx="10879709" cy="4356100"/>
          </a:xfrm>
        </p:grpSpPr>
        <p:sp>
          <p:nvSpPr>
            <p:cNvPr id="132" name="Google Shape;132;p15"/>
            <p:cNvSpPr/>
            <p:nvPr/>
          </p:nvSpPr>
          <p:spPr>
            <a:xfrm>
              <a:off x="19050" y="19050"/>
              <a:ext cx="10841609" cy="4318000"/>
            </a:xfrm>
            <a:custGeom>
              <a:avLst/>
              <a:gdLst/>
              <a:ahLst/>
              <a:cxnLst/>
              <a:rect l="l" t="t" r="r" b="b"/>
              <a:pathLst>
                <a:path w="10841609" h="4318000" extrusionOk="0">
                  <a:moveTo>
                    <a:pt x="0" y="141859"/>
                  </a:moveTo>
                  <a:cubicBezTo>
                    <a:pt x="0" y="63500"/>
                    <a:pt x="63881" y="0"/>
                    <a:pt x="142494" y="0"/>
                  </a:cubicBezTo>
                  <a:lnTo>
                    <a:pt x="10699115" y="0"/>
                  </a:lnTo>
                  <a:cubicBezTo>
                    <a:pt x="10777855" y="0"/>
                    <a:pt x="10841609" y="63500"/>
                    <a:pt x="10841609" y="141859"/>
                  </a:cubicBezTo>
                  <a:lnTo>
                    <a:pt x="10841609" y="4176141"/>
                  </a:lnTo>
                  <a:cubicBezTo>
                    <a:pt x="10841609" y="4254500"/>
                    <a:pt x="10777728" y="4318000"/>
                    <a:pt x="10699115" y="4318000"/>
                  </a:cubicBezTo>
                  <a:lnTo>
                    <a:pt x="142494" y="4318000"/>
                  </a:lnTo>
                  <a:cubicBezTo>
                    <a:pt x="63754" y="4318000"/>
                    <a:pt x="0" y="4254500"/>
                    <a:pt x="0" y="4176141"/>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15"/>
            <p:cNvSpPr/>
            <p:nvPr/>
          </p:nvSpPr>
          <p:spPr>
            <a:xfrm>
              <a:off x="0" y="0"/>
              <a:ext cx="10879709" cy="4356100"/>
            </a:xfrm>
            <a:custGeom>
              <a:avLst/>
              <a:gdLst/>
              <a:ahLst/>
              <a:cxnLst/>
              <a:rect l="l" t="t" r="r" b="b"/>
              <a:pathLst>
                <a:path w="10879709" h="4356100" extrusionOk="0">
                  <a:moveTo>
                    <a:pt x="0" y="160909"/>
                  </a:moveTo>
                  <a:cubicBezTo>
                    <a:pt x="0" y="71882"/>
                    <a:pt x="72390" y="0"/>
                    <a:pt x="161544" y="0"/>
                  </a:cubicBezTo>
                  <a:lnTo>
                    <a:pt x="10718165" y="0"/>
                  </a:lnTo>
                  <a:lnTo>
                    <a:pt x="10718165" y="19050"/>
                  </a:lnTo>
                  <a:lnTo>
                    <a:pt x="10718165" y="0"/>
                  </a:lnTo>
                  <a:cubicBezTo>
                    <a:pt x="10807319" y="0"/>
                    <a:pt x="10879709" y="71882"/>
                    <a:pt x="10879709" y="160909"/>
                  </a:cubicBezTo>
                  <a:lnTo>
                    <a:pt x="10860659" y="160909"/>
                  </a:lnTo>
                  <a:lnTo>
                    <a:pt x="10879709" y="160909"/>
                  </a:lnTo>
                  <a:lnTo>
                    <a:pt x="10879709" y="4195191"/>
                  </a:lnTo>
                  <a:lnTo>
                    <a:pt x="10860659" y="4195191"/>
                  </a:lnTo>
                  <a:lnTo>
                    <a:pt x="10879709" y="4195191"/>
                  </a:lnTo>
                  <a:cubicBezTo>
                    <a:pt x="10879709" y="4284091"/>
                    <a:pt x="10807319" y="4356100"/>
                    <a:pt x="10718165" y="4356100"/>
                  </a:cubicBezTo>
                  <a:lnTo>
                    <a:pt x="10718165" y="4337050"/>
                  </a:lnTo>
                  <a:lnTo>
                    <a:pt x="10718165" y="4356100"/>
                  </a:lnTo>
                  <a:lnTo>
                    <a:pt x="161544" y="4356100"/>
                  </a:lnTo>
                  <a:lnTo>
                    <a:pt x="161544" y="4337050"/>
                  </a:lnTo>
                  <a:lnTo>
                    <a:pt x="161544" y="4356100"/>
                  </a:lnTo>
                  <a:cubicBezTo>
                    <a:pt x="72390" y="4356100"/>
                    <a:pt x="0" y="4284218"/>
                    <a:pt x="0" y="4195191"/>
                  </a:cubicBezTo>
                  <a:lnTo>
                    <a:pt x="0" y="160909"/>
                  </a:lnTo>
                  <a:lnTo>
                    <a:pt x="19050" y="160909"/>
                  </a:lnTo>
                  <a:lnTo>
                    <a:pt x="0" y="160909"/>
                  </a:lnTo>
                  <a:moveTo>
                    <a:pt x="38100" y="160909"/>
                  </a:moveTo>
                  <a:lnTo>
                    <a:pt x="38100" y="4195191"/>
                  </a:lnTo>
                  <a:lnTo>
                    <a:pt x="19050" y="4195191"/>
                  </a:lnTo>
                  <a:lnTo>
                    <a:pt x="38100" y="4195191"/>
                  </a:lnTo>
                  <a:cubicBezTo>
                    <a:pt x="38100" y="4262882"/>
                    <a:pt x="93345" y="4318000"/>
                    <a:pt x="161544" y="4318000"/>
                  </a:cubicBezTo>
                  <a:lnTo>
                    <a:pt x="10718165" y="4318000"/>
                  </a:lnTo>
                  <a:cubicBezTo>
                    <a:pt x="10786491" y="4318000"/>
                    <a:pt x="10841609" y="4263009"/>
                    <a:pt x="10841609" y="4195191"/>
                  </a:cubicBezTo>
                  <a:lnTo>
                    <a:pt x="10841609" y="160909"/>
                  </a:lnTo>
                  <a:cubicBezTo>
                    <a:pt x="10841609" y="93218"/>
                    <a:pt x="10786364" y="38100"/>
                    <a:pt x="10718165" y="38100"/>
                  </a:cubicBezTo>
                  <a:lnTo>
                    <a:pt x="161544" y="38100"/>
                  </a:lnTo>
                  <a:lnTo>
                    <a:pt x="161544" y="19050"/>
                  </a:lnTo>
                  <a:lnTo>
                    <a:pt x="161544" y="38100"/>
                  </a:lnTo>
                  <a:cubicBezTo>
                    <a:pt x="93345" y="38100"/>
                    <a:pt x="38100" y="93091"/>
                    <a:pt x="38100" y="160909"/>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34" name="Google Shape;134;p15"/>
          <p:cNvSpPr/>
          <p:nvPr/>
        </p:nvSpPr>
        <p:spPr>
          <a:xfrm>
            <a:off x="9299079" y="2824445"/>
            <a:ext cx="8074057" cy="759809"/>
          </a:xfrm>
          <a:custGeom>
            <a:avLst/>
            <a:gdLst/>
            <a:ahLst/>
            <a:cxnLst/>
            <a:rect l="l" t="t" r="r" b="b"/>
            <a:pathLst>
              <a:path w="10765409" h="1013079" extrusionOk="0">
                <a:moveTo>
                  <a:pt x="0" y="96139"/>
                </a:moveTo>
                <a:cubicBezTo>
                  <a:pt x="0" y="43053"/>
                  <a:pt x="43053" y="0"/>
                  <a:pt x="96139" y="0"/>
                </a:cubicBezTo>
                <a:lnTo>
                  <a:pt x="10669270" y="0"/>
                </a:lnTo>
                <a:cubicBezTo>
                  <a:pt x="10722356" y="0"/>
                  <a:pt x="10765409" y="43053"/>
                  <a:pt x="10765409" y="96139"/>
                </a:cubicBezTo>
                <a:lnTo>
                  <a:pt x="10765409" y="916940"/>
                </a:lnTo>
                <a:cubicBezTo>
                  <a:pt x="10765409" y="970026"/>
                  <a:pt x="10722356" y="1013079"/>
                  <a:pt x="10669270" y="1013079"/>
                </a:cubicBezTo>
                <a:lnTo>
                  <a:pt x="96139" y="1013079"/>
                </a:lnTo>
                <a:cubicBezTo>
                  <a:pt x="43053" y="1013079"/>
                  <a:pt x="0" y="970026"/>
                  <a:pt x="0" y="916940"/>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15"/>
          <p:cNvSpPr txBox="1"/>
          <p:nvPr/>
        </p:nvSpPr>
        <p:spPr>
          <a:xfrm>
            <a:off x="13146137" y="2995761"/>
            <a:ext cx="379810" cy="41761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937" b="1" dirty="0">
                <a:solidFill>
                  <a:srgbClr val="272525"/>
                </a:solidFill>
                <a:latin typeface="Inter"/>
                <a:ea typeface="Inter"/>
                <a:cs typeface="Inter"/>
                <a:sym typeface="Inter"/>
              </a:rPr>
              <a:t>2</a:t>
            </a:r>
            <a:endParaRPr dirty="0"/>
          </a:p>
        </p:txBody>
      </p:sp>
      <p:sp>
        <p:nvSpPr>
          <p:cNvPr id="136" name="Google Shape;136;p15"/>
          <p:cNvSpPr txBox="1"/>
          <p:nvPr/>
        </p:nvSpPr>
        <p:spPr>
          <a:xfrm>
            <a:off x="9552235" y="3794820"/>
            <a:ext cx="3165574" cy="414635"/>
          </a:xfrm>
          <a:prstGeom prst="rect">
            <a:avLst/>
          </a:prstGeom>
          <a:noFill/>
          <a:ln>
            <a:noFill/>
          </a:ln>
        </p:spPr>
        <p:txBody>
          <a:bodyPr spcFirstLastPara="1" wrap="square" lIns="0" tIns="0" rIns="0" bIns="0" anchor="t" anchorCtr="0">
            <a:spAutoFit/>
          </a:bodyPr>
          <a:lstStyle/>
          <a:p>
            <a:pPr marL="0" marR="0" lvl="0" indent="0" algn="l" rtl="0">
              <a:lnSpc>
                <a:spcPct val="125646"/>
              </a:lnSpc>
              <a:spcBef>
                <a:spcPts val="0"/>
              </a:spcBef>
              <a:spcAft>
                <a:spcPts val="0"/>
              </a:spcAft>
              <a:buNone/>
            </a:pPr>
            <a:r>
              <a:rPr lang="en-US" sz="2437" b="1" dirty="0">
                <a:solidFill>
                  <a:srgbClr val="272525"/>
                </a:solidFill>
                <a:latin typeface="Inter"/>
                <a:ea typeface="Inter"/>
                <a:cs typeface="Inter"/>
                <a:sym typeface="Inter"/>
              </a:rPr>
              <a:t>Static Grid Models</a:t>
            </a:r>
            <a:endParaRPr dirty="0"/>
          </a:p>
        </p:txBody>
      </p:sp>
      <p:sp>
        <p:nvSpPr>
          <p:cNvPr id="137" name="Google Shape;137;p15"/>
          <p:cNvSpPr txBox="1"/>
          <p:nvPr/>
        </p:nvSpPr>
        <p:spPr>
          <a:xfrm>
            <a:off x="9552235" y="4275684"/>
            <a:ext cx="7567761" cy="368114"/>
          </a:xfrm>
          <a:prstGeom prst="rect">
            <a:avLst/>
          </a:prstGeom>
          <a:noFill/>
          <a:ln>
            <a:noFill/>
          </a:ln>
        </p:spPr>
        <p:txBody>
          <a:bodyPr spcFirstLastPara="1" wrap="square" lIns="0" tIns="0" rIns="0" bIns="0" anchor="t" anchorCtr="0">
            <a:spAutoFit/>
          </a:bodyPr>
          <a:lstStyle/>
          <a:p>
            <a:pPr marL="0" marR="0" lvl="0" indent="0" algn="l" rtl="0">
              <a:lnSpc>
                <a:spcPct val="159350"/>
              </a:lnSpc>
              <a:spcBef>
                <a:spcPts val="0"/>
              </a:spcBef>
              <a:spcAft>
                <a:spcPts val="0"/>
              </a:spcAft>
              <a:buNone/>
            </a:pPr>
            <a:r>
              <a:rPr lang="en-US" sz="2000" b="1" dirty="0">
                <a:solidFill>
                  <a:srgbClr val="272525"/>
                </a:solidFill>
                <a:latin typeface="Inter"/>
                <a:ea typeface="Inter"/>
                <a:cs typeface="Inter"/>
                <a:sym typeface="Inter"/>
              </a:rPr>
              <a:t>Approach:</a:t>
            </a:r>
            <a:r>
              <a:rPr lang="en-US" sz="2000" dirty="0">
                <a:solidFill>
                  <a:srgbClr val="272525"/>
                </a:solidFill>
                <a:latin typeface="Inter"/>
                <a:ea typeface="Inter"/>
                <a:cs typeface="Inter"/>
                <a:sym typeface="Inter"/>
              </a:rPr>
              <a:t> Fixed capacity ratings and assessments</a:t>
            </a:r>
            <a:endParaRPr dirty="0"/>
          </a:p>
        </p:txBody>
      </p:sp>
      <p:sp>
        <p:nvSpPr>
          <p:cNvPr id="138" name="Google Shape;138;p15"/>
          <p:cNvSpPr txBox="1"/>
          <p:nvPr/>
        </p:nvSpPr>
        <p:spPr>
          <a:xfrm>
            <a:off x="9552235" y="4832896"/>
            <a:ext cx="7567761" cy="778483"/>
          </a:xfrm>
          <a:prstGeom prst="rect">
            <a:avLst/>
          </a:prstGeom>
          <a:noFill/>
          <a:ln>
            <a:noFill/>
          </a:ln>
        </p:spPr>
        <p:txBody>
          <a:bodyPr spcFirstLastPara="1" wrap="square" lIns="0" tIns="0" rIns="0" bIns="0" anchor="t" anchorCtr="0">
            <a:spAutoFit/>
          </a:bodyPr>
          <a:lstStyle/>
          <a:p>
            <a:pPr marL="0" marR="0" lvl="0" indent="0" algn="l" rtl="0">
              <a:lnSpc>
                <a:spcPct val="159350"/>
              </a:lnSpc>
              <a:spcBef>
                <a:spcPts val="0"/>
              </a:spcBef>
              <a:spcAft>
                <a:spcPts val="0"/>
              </a:spcAft>
              <a:buNone/>
            </a:pPr>
            <a:r>
              <a:rPr lang="en-US" sz="2000" b="1" dirty="0">
                <a:solidFill>
                  <a:srgbClr val="272525"/>
                </a:solidFill>
                <a:latin typeface="Inter"/>
                <a:ea typeface="Inter"/>
                <a:cs typeface="Inter"/>
                <a:sym typeface="Inter"/>
              </a:rPr>
              <a:t>Limitation:</a:t>
            </a:r>
            <a:r>
              <a:rPr lang="en-US" sz="2000" dirty="0">
                <a:solidFill>
                  <a:srgbClr val="272525"/>
                </a:solidFill>
                <a:latin typeface="Inter"/>
                <a:ea typeface="Inter"/>
                <a:cs typeface="Inter"/>
                <a:sym typeface="Inter"/>
              </a:rPr>
              <a:t> Conservative estimates that underutilize actual grid capacity</a:t>
            </a:r>
            <a:endParaRPr dirty="0"/>
          </a:p>
        </p:txBody>
      </p:sp>
      <p:grpSp>
        <p:nvGrpSpPr>
          <p:cNvPr id="139" name="Google Shape;139;p15"/>
          <p:cNvGrpSpPr/>
          <p:nvPr/>
        </p:nvGrpSpPr>
        <p:grpSpPr>
          <a:xfrm>
            <a:off x="871984" y="6249740"/>
            <a:ext cx="8159591" cy="3267075"/>
            <a:chOff x="0" y="0"/>
            <a:chExt cx="10879455" cy="4356100"/>
          </a:xfrm>
        </p:grpSpPr>
        <p:sp>
          <p:nvSpPr>
            <p:cNvPr id="140" name="Google Shape;140;p15"/>
            <p:cNvSpPr/>
            <p:nvPr/>
          </p:nvSpPr>
          <p:spPr>
            <a:xfrm>
              <a:off x="19050" y="19050"/>
              <a:ext cx="10841355" cy="4318000"/>
            </a:xfrm>
            <a:custGeom>
              <a:avLst/>
              <a:gdLst/>
              <a:ahLst/>
              <a:cxnLst/>
              <a:rect l="l" t="t" r="r" b="b"/>
              <a:pathLst>
                <a:path w="10841355" h="4318000" extrusionOk="0">
                  <a:moveTo>
                    <a:pt x="0" y="141859"/>
                  </a:moveTo>
                  <a:cubicBezTo>
                    <a:pt x="0" y="63500"/>
                    <a:pt x="63881" y="0"/>
                    <a:pt x="142494" y="0"/>
                  </a:cubicBezTo>
                  <a:lnTo>
                    <a:pt x="10698861" y="0"/>
                  </a:lnTo>
                  <a:cubicBezTo>
                    <a:pt x="10777601" y="0"/>
                    <a:pt x="10841355" y="63500"/>
                    <a:pt x="10841355" y="141859"/>
                  </a:cubicBezTo>
                  <a:lnTo>
                    <a:pt x="10841355" y="4176141"/>
                  </a:lnTo>
                  <a:cubicBezTo>
                    <a:pt x="10841355" y="4254500"/>
                    <a:pt x="10777474" y="4318000"/>
                    <a:pt x="10698861" y="4318000"/>
                  </a:cubicBezTo>
                  <a:lnTo>
                    <a:pt x="142494" y="4318000"/>
                  </a:lnTo>
                  <a:cubicBezTo>
                    <a:pt x="63754" y="4318000"/>
                    <a:pt x="0" y="4254500"/>
                    <a:pt x="0" y="4176141"/>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1" name="Google Shape;141;p15"/>
            <p:cNvSpPr/>
            <p:nvPr/>
          </p:nvSpPr>
          <p:spPr>
            <a:xfrm>
              <a:off x="0" y="0"/>
              <a:ext cx="10879455" cy="4356100"/>
            </a:xfrm>
            <a:custGeom>
              <a:avLst/>
              <a:gdLst/>
              <a:ahLst/>
              <a:cxnLst/>
              <a:rect l="l" t="t" r="r" b="b"/>
              <a:pathLst>
                <a:path w="10879455" h="4356100" extrusionOk="0">
                  <a:moveTo>
                    <a:pt x="0" y="160909"/>
                  </a:moveTo>
                  <a:cubicBezTo>
                    <a:pt x="0" y="71882"/>
                    <a:pt x="72390" y="0"/>
                    <a:pt x="161544" y="0"/>
                  </a:cubicBezTo>
                  <a:lnTo>
                    <a:pt x="10717911" y="0"/>
                  </a:lnTo>
                  <a:lnTo>
                    <a:pt x="10717911" y="19050"/>
                  </a:lnTo>
                  <a:lnTo>
                    <a:pt x="10717911" y="0"/>
                  </a:lnTo>
                  <a:cubicBezTo>
                    <a:pt x="10807065" y="0"/>
                    <a:pt x="10879455" y="71882"/>
                    <a:pt x="10879455" y="160909"/>
                  </a:cubicBezTo>
                  <a:lnTo>
                    <a:pt x="10860405" y="160909"/>
                  </a:lnTo>
                  <a:lnTo>
                    <a:pt x="10879455" y="160909"/>
                  </a:lnTo>
                  <a:lnTo>
                    <a:pt x="10879455" y="4195191"/>
                  </a:lnTo>
                  <a:lnTo>
                    <a:pt x="10860405" y="4195191"/>
                  </a:lnTo>
                  <a:lnTo>
                    <a:pt x="10879455" y="4195191"/>
                  </a:lnTo>
                  <a:cubicBezTo>
                    <a:pt x="10879455" y="4284091"/>
                    <a:pt x="10807065" y="4356100"/>
                    <a:pt x="10717911" y="4356100"/>
                  </a:cubicBezTo>
                  <a:lnTo>
                    <a:pt x="10717911" y="4337050"/>
                  </a:lnTo>
                  <a:lnTo>
                    <a:pt x="10717911" y="4356100"/>
                  </a:lnTo>
                  <a:lnTo>
                    <a:pt x="161544" y="4356100"/>
                  </a:lnTo>
                  <a:lnTo>
                    <a:pt x="161544" y="4337050"/>
                  </a:lnTo>
                  <a:lnTo>
                    <a:pt x="161544" y="4356100"/>
                  </a:lnTo>
                  <a:cubicBezTo>
                    <a:pt x="72390" y="4356100"/>
                    <a:pt x="0" y="4284218"/>
                    <a:pt x="0" y="4195191"/>
                  </a:cubicBezTo>
                  <a:lnTo>
                    <a:pt x="0" y="160909"/>
                  </a:lnTo>
                  <a:lnTo>
                    <a:pt x="19050" y="160909"/>
                  </a:lnTo>
                  <a:lnTo>
                    <a:pt x="0" y="160909"/>
                  </a:lnTo>
                  <a:moveTo>
                    <a:pt x="38100" y="160909"/>
                  </a:moveTo>
                  <a:lnTo>
                    <a:pt x="38100" y="4195191"/>
                  </a:lnTo>
                  <a:lnTo>
                    <a:pt x="19050" y="4195191"/>
                  </a:lnTo>
                  <a:lnTo>
                    <a:pt x="38100" y="4195191"/>
                  </a:lnTo>
                  <a:cubicBezTo>
                    <a:pt x="38100" y="4262882"/>
                    <a:pt x="93345" y="4318000"/>
                    <a:pt x="161544" y="4318000"/>
                  </a:cubicBezTo>
                  <a:lnTo>
                    <a:pt x="10717911" y="4318000"/>
                  </a:lnTo>
                  <a:cubicBezTo>
                    <a:pt x="10786237" y="4318000"/>
                    <a:pt x="10841355" y="4263009"/>
                    <a:pt x="10841355" y="4195191"/>
                  </a:cubicBezTo>
                  <a:lnTo>
                    <a:pt x="10841355" y="160909"/>
                  </a:lnTo>
                  <a:cubicBezTo>
                    <a:pt x="10841355" y="93218"/>
                    <a:pt x="10786110" y="38100"/>
                    <a:pt x="10717911" y="38100"/>
                  </a:cubicBezTo>
                  <a:lnTo>
                    <a:pt x="161544" y="38100"/>
                  </a:lnTo>
                  <a:lnTo>
                    <a:pt x="161544" y="19050"/>
                  </a:lnTo>
                  <a:lnTo>
                    <a:pt x="161544" y="38100"/>
                  </a:lnTo>
                  <a:cubicBezTo>
                    <a:pt x="93345" y="38100"/>
                    <a:pt x="38100" y="93091"/>
                    <a:pt x="38100" y="160909"/>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42" name="Google Shape;142;p15"/>
          <p:cNvSpPr/>
          <p:nvPr/>
        </p:nvSpPr>
        <p:spPr>
          <a:xfrm>
            <a:off x="914846" y="6292602"/>
            <a:ext cx="8073961" cy="759810"/>
          </a:xfrm>
          <a:custGeom>
            <a:avLst/>
            <a:gdLst/>
            <a:ahLst/>
            <a:cxnLst/>
            <a:rect l="l" t="t" r="r" b="b"/>
            <a:pathLst>
              <a:path w="10765282" h="1013079" extrusionOk="0">
                <a:moveTo>
                  <a:pt x="0" y="96139"/>
                </a:moveTo>
                <a:cubicBezTo>
                  <a:pt x="0" y="43053"/>
                  <a:pt x="43053" y="0"/>
                  <a:pt x="96139" y="0"/>
                </a:cubicBezTo>
                <a:lnTo>
                  <a:pt x="10669143" y="0"/>
                </a:lnTo>
                <a:cubicBezTo>
                  <a:pt x="10722229" y="0"/>
                  <a:pt x="10765282" y="43053"/>
                  <a:pt x="10765282" y="96139"/>
                </a:cubicBezTo>
                <a:lnTo>
                  <a:pt x="10765282" y="916940"/>
                </a:lnTo>
                <a:cubicBezTo>
                  <a:pt x="10765282" y="970026"/>
                  <a:pt x="10722229" y="1013079"/>
                  <a:pt x="10669143" y="1013079"/>
                </a:cubicBezTo>
                <a:lnTo>
                  <a:pt x="96139" y="1013079"/>
                </a:lnTo>
                <a:cubicBezTo>
                  <a:pt x="43053" y="1013079"/>
                  <a:pt x="0" y="970026"/>
                  <a:pt x="0" y="916940"/>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15"/>
          <p:cNvSpPr txBox="1"/>
          <p:nvPr/>
        </p:nvSpPr>
        <p:spPr>
          <a:xfrm>
            <a:off x="4761905" y="6487418"/>
            <a:ext cx="379810" cy="41761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937" b="1" dirty="0">
                <a:solidFill>
                  <a:srgbClr val="272525"/>
                </a:solidFill>
                <a:latin typeface="Inter"/>
                <a:ea typeface="Inter"/>
                <a:cs typeface="Inter"/>
                <a:sym typeface="Inter"/>
              </a:rPr>
              <a:t>3</a:t>
            </a:r>
            <a:endParaRPr dirty="0"/>
          </a:p>
        </p:txBody>
      </p:sp>
      <p:sp>
        <p:nvSpPr>
          <p:cNvPr id="144" name="Google Shape;144;p15"/>
          <p:cNvSpPr txBox="1"/>
          <p:nvPr/>
        </p:nvSpPr>
        <p:spPr>
          <a:xfrm>
            <a:off x="1168004" y="7286476"/>
            <a:ext cx="3165574" cy="414635"/>
          </a:xfrm>
          <a:prstGeom prst="rect">
            <a:avLst/>
          </a:prstGeom>
          <a:noFill/>
          <a:ln>
            <a:noFill/>
          </a:ln>
        </p:spPr>
        <p:txBody>
          <a:bodyPr spcFirstLastPara="1" wrap="square" lIns="0" tIns="0" rIns="0" bIns="0" anchor="t" anchorCtr="0">
            <a:spAutoFit/>
          </a:bodyPr>
          <a:lstStyle/>
          <a:p>
            <a:pPr marL="0" marR="0" lvl="0" indent="0" algn="l" rtl="0">
              <a:lnSpc>
                <a:spcPct val="125646"/>
              </a:lnSpc>
              <a:spcBef>
                <a:spcPts val="0"/>
              </a:spcBef>
              <a:spcAft>
                <a:spcPts val="0"/>
              </a:spcAft>
              <a:buNone/>
            </a:pPr>
            <a:r>
              <a:rPr lang="en-US" sz="2437" b="1" dirty="0">
                <a:solidFill>
                  <a:srgbClr val="272525"/>
                </a:solidFill>
                <a:latin typeface="Inter"/>
                <a:ea typeface="Inter"/>
                <a:cs typeface="Inter"/>
                <a:sym typeface="Inter"/>
              </a:rPr>
              <a:t>Traditional Software</a:t>
            </a:r>
            <a:endParaRPr dirty="0"/>
          </a:p>
        </p:txBody>
      </p:sp>
      <p:sp>
        <p:nvSpPr>
          <p:cNvPr id="145" name="Google Shape;145;p15"/>
          <p:cNvSpPr txBox="1"/>
          <p:nvPr/>
        </p:nvSpPr>
        <p:spPr>
          <a:xfrm>
            <a:off x="1168004" y="7767340"/>
            <a:ext cx="7567612" cy="368114"/>
          </a:xfrm>
          <a:prstGeom prst="rect">
            <a:avLst/>
          </a:prstGeom>
          <a:noFill/>
          <a:ln>
            <a:noFill/>
          </a:ln>
        </p:spPr>
        <p:txBody>
          <a:bodyPr spcFirstLastPara="1" wrap="square" lIns="0" tIns="0" rIns="0" bIns="0" anchor="t" anchorCtr="0">
            <a:spAutoFit/>
          </a:bodyPr>
          <a:lstStyle/>
          <a:p>
            <a:pPr marL="0" marR="0" lvl="0" indent="0" algn="l" rtl="0">
              <a:lnSpc>
                <a:spcPct val="159350"/>
              </a:lnSpc>
              <a:spcBef>
                <a:spcPts val="0"/>
              </a:spcBef>
              <a:spcAft>
                <a:spcPts val="0"/>
              </a:spcAft>
              <a:buNone/>
            </a:pPr>
            <a:r>
              <a:rPr lang="en-US" sz="2000" b="1" dirty="0">
                <a:solidFill>
                  <a:srgbClr val="272525"/>
                </a:solidFill>
                <a:latin typeface="Inter"/>
                <a:ea typeface="Inter"/>
                <a:cs typeface="Inter"/>
                <a:sym typeface="Inter"/>
              </a:rPr>
              <a:t>Approach:</a:t>
            </a:r>
            <a:r>
              <a:rPr lang="en-US" sz="2000" dirty="0">
                <a:solidFill>
                  <a:srgbClr val="272525"/>
                </a:solidFill>
                <a:latin typeface="Inter"/>
                <a:ea typeface="Inter"/>
                <a:cs typeface="Inter"/>
                <a:sym typeface="Inter"/>
              </a:rPr>
              <a:t> Basic automation and database management</a:t>
            </a:r>
            <a:endParaRPr dirty="0"/>
          </a:p>
        </p:txBody>
      </p:sp>
      <p:sp>
        <p:nvSpPr>
          <p:cNvPr id="146" name="Google Shape;146;p15"/>
          <p:cNvSpPr txBox="1"/>
          <p:nvPr/>
        </p:nvSpPr>
        <p:spPr>
          <a:xfrm>
            <a:off x="1168004" y="8324553"/>
            <a:ext cx="7567612" cy="778483"/>
          </a:xfrm>
          <a:prstGeom prst="rect">
            <a:avLst/>
          </a:prstGeom>
          <a:noFill/>
          <a:ln>
            <a:noFill/>
          </a:ln>
        </p:spPr>
        <p:txBody>
          <a:bodyPr spcFirstLastPara="1" wrap="square" lIns="0" tIns="0" rIns="0" bIns="0" anchor="t" anchorCtr="0">
            <a:spAutoFit/>
          </a:bodyPr>
          <a:lstStyle/>
          <a:p>
            <a:pPr marL="0" marR="0" lvl="0" indent="0" algn="l" rtl="0">
              <a:lnSpc>
                <a:spcPct val="159350"/>
              </a:lnSpc>
              <a:spcBef>
                <a:spcPts val="0"/>
              </a:spcBef>
              <a:spcAft>
                <a:spcPts val="0"/>
              </a:spcAft>
              <a:buNone/>
            </a:pPr>
            <a:r>
              <a:rPr lang="en-US" sz="2000" b="1" dirty="0">
                <a:solidFill>
                  <a:srgbClr val="272525"/>
                </a:solidFill>
                <a:latin typeface="Inter"/>
                <a:ea typeface="Inter"/>
                <a:cs typeface="Inter"/>
                <a:sym typeface="Inter"/>
              </a:rPr>
              <a:t>Limitation:</a:t>
            </a:r>
            <a:r>
              <a:rPr lang="en-US" sz="2000" dirty="0">
                <a:solidFill>
                  <a:srgbClr val="272525"/>
                </a:solidFill>
                <a:latin typeface="Inter"/>
                <a:ea typeface="Inter"/>
                <a:cs typeface="Inter"/>
                <a:sym typeface="Inter"/>
              </a:rPr>
              <a:t> Cannot handle complexity and scale of modern requirements</a:t>
            </a:r>
            <a:endParaRPr dirty="0"/>
          </a:p>
        </p:txBody>
      </p:sp>
      <p:grpSp>
        <p:nvGrpSpPr>
          <p:cNvPr id="147" name="Google Shape;147;p15"/>
          <p:cNvGrpSpPr/>
          <p:nvPr/>
        </p:nvGrpSpPr>
        <p:grpSpPr>
          <a:xfrm>
            <a:off x="9256216" y="6249740"/>
            <a:ext cx="8159782" cy="3267075"/>
            <a:chOff x="0" y="0"/>
            <a:chExt cx="10879709" cy="4356100"/>
          </a:xfrm>
        </p:grpSpPr>
        <p:sp>
          <p:nvSpPr>
            <p:cNvPr id="148" name="Google Shape;148;p15"/>
            <p:cNvSpPr/>
            <p:nvPr/>
          </p:nvSpPr>
          <p:spPr>
            <a:xfrm>
              <a:off x="19050" y="19050"/>
              <a:ext cx="10841609" cy="4318000"/>
            </a:xfrm>
            <a:custGeom>
              <a:avLst/>
              <a:gdLst/>
              <a:ahLst/>
              <a:cxnLst/>
              <a:rect l="l" t="t" r="r" b="b"/>
              <a:pathLst>
                <a:path w="10841609" h="4318000" extrusionOk="0">
                  <a:moveTo>
                    <a:pt x="0" y="141859"/>
                  </a:moveTo>
                  <a:cubicBezTo>
                    <a:pt x="0" y="63500"/>
                    <a:pt x="63881" y="0"/>
                    <a:pt x="142494" y="0"/>
                  </a:cubicBezTo>
                  <a:lnTo>
                    <a:pt x="10699115" y="0"/>
                  </a:lnTo>
                  <a:cubicBezTo>
                    <a:pt x="10777855" y="0"/>
                    <a:pt x="10841609" y="63500"/>
                    <a:pt x="10841609" y="141859"/>
                  </a:cubicBezTo>
                  <a:lnTo>
                    <a:pt x="10841609" y="4176141"/>
                  </a:lnTo>
                  <a:cubicBezTo>
                    <a:pt x="10841609" y="4254500"/>
                    <a:pt x="10777728" y="4318000"/>
                    <a:pt x="10699115" y="4318000"/>
                  </a:cubicBezTo>
                  <a:lnTo>
                    <a:pt x="142494" y="4318000"/>
                  </a:lnTo>
                  <a:cubicBezTo>
                    <a:pt x="63754" y="4318000"/>
                    <a:pt x="0" y="4254500"/>
                    <a:pt x="0" y="4176141"/>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9" name="Google Shape;149;p15"/>
            <p:cNvSpPr/>
            <p:nvPr/>
          </p:nvSpPr>
          <p:spPr>
            <a:xfrm>
              <a:off x="0" y="0"/>
              <a:ext cx="10879709" cy="4356100"/>
            </a:xfrm>
            <a:custGeom>
              <a:avLst/>
              <a:gdLst/>
              <a:ahLst/>
              <a:cxnLst/>
              <a:rect l="l" t="t" r="r" b="b"/>
              <a:pathLst>
                <a:path w="10879709" h="4356100" extrusionOk="0">
                  <a:moveTo>
                    <a:pt x="0" y="160909"/>
                  </a:moveTo>
                  <a:cubicBezTo>
                    <a:pt x="0" y="71882"/>
                    <a:pt x="72390" y="0"/>
                    <a:pt x="161544" y="0"/>
                  </a:cubicBezTo>
                  <a:lnTo>
                    <a:pt x="10718165" y="0"/>
                  </a:lnTo>
                  <a:lnTo>
                    <a:pt x="10718165" y="19050"/>
                  </a:lnTo>
                  <a:lnTo>
                    <a:pt x="10718165" y="0"/>
                  </a:lnTo>
                  <a:cubicBezTo>
                    <a:pt x="10807319" y="0"/>
                    <a:pt x="10879709" y="71882"/>
                    <a:pt x="10879709" y="160909"/>
                  </a:cubicBezTo>
                  <a:lnTo>
                    <a:pt x="10860659" y="160909"/>
                  </a:lnTo>
                  <a:lnTo>
                    <a:pt x="10879709" y="160909"/>
                  </a:lnTo>
                  <a:lnTo>
                    <a:pt x="10879709" y="4195191"/>
                  </a:lnTo>
                  <a:lnTo>
                    <a:pt x="10860659" y="4195191"/>
                  </a:lnTo>
                  <a:lnTo>
                    <a:pt x="10879709" y="4195191"/>
                  </a:lnTo>
                  <a:cubicBezTo>
                    <a:pt x="10879709" y="4284091"/>
                    <a:pt x="10807319" y="4356100"/>
                    <a:pt x="10718165" y="4356100"/>
                  </a:cubicBezTo>
                  <a:lnTo>
                    <a:pt x="10718165" y="4337050"/>
                  </a:lnTo>
                  <a:lnTo>
                    <a:pt x="10718165" y="4356100"/>
                  </a:lnTo>
                  <a:lnTo>
                    <a:pt x="161544" y="4356100"/>
                  </a:lnTo>
                  <a:lnTo>
                    <a:pt x="161544" y="4337050"/>
                  </a:lnTo>
                  <a:lnTo>
                    <a:pt x="161544" y="4356100"/>
                  </a:lnTo>
                  <a:cubicBezTo>
                    <a:pt x="72390" y="4356100"/>
                    <a:pt x="0" y="4284218"/>
                    <a:pt x="0" y="4195191"/>
                  </a:cubicBezTo>
                  <a:lnTo>
                    <a:pt x="0" y="160909"/>
                  </a:lnTo>
                  <a:lnTo>
                    <a:pt x="19050" y="160909"/>
                  </a:lnTo>
                  <a:lnTo>
                    <a:pt x="0" y="160909"/>
                  </a:lnTo>
                  <a:moveTo>
                    <a:pt x="38100" y="160909"/>
                  </a:moveTo>
                  <a:lnTo>
                    <a:pt x="38100" y="4195191"/>
                  </a:lnTo>
                  <a:lnTo>
                    <a:pt x="19050" y="4195191"/>
                  </a:lnTo>
                  <a:lnTo>
                    <a:pt x="38100" y="4195191"/>
                  </a:lnTo>
                  <a:cubicBezTo>
                    <a:pt x="38100" y="4262882"/>
                    <a:pt x="93345" y="4318000"/>
                    <a:pt x="161544" y="4318000"/>
                  </a:cubicBezTo>
                  <a:lnTo>
                    <a:pt x="10718165" y="4318000"/>
                  </a:lnTo>
                  <a:cubicBezTo>
                    <a:pt x="10786491" y="4318000"/>
                    <a:pt x="10841609" y="4263009"/>
                    <a:pt x="10841609" y="4195191"/>
                  </a:cubicBezTo>
                  <a:lnTo>
                    <a:pt x="10841609" y="160909"/>
                  </a:lnTo>
                  <a:cubicBezTo>
                    <a:pt x="10841609" y="93218"/>
                    <a:pt x="10786364" y="38100"/>
                    <a:pt x="10718165" y="38100"/>
                  </a:cubicBezTo>
                  <a:lnTo>
                    <a:pt x="161544" y="38100"/>
                  </a:lnTo>
                  <a:lnTo>
                    <a:pt x="161544" y="19050"/>
                  </a:lnTo>
                  <a:lnTo>
                    <a:pt x="161544" y="38100"/>
                  </a:lnTo>
                  <a:cubicBezTo>
                    <a:pt x="93345" y="38100"/>
                    <a:pt x="38100" y="93091"/>
                    <a:pt x="38100" y="160909"/>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50" name="Google Shape;150;p15"/>
          <p:cNvSpPr/>
          <p:nvPr/>
        </p:nvSpPr>
        <p:spPr>
          <a:xfrm>
            <a:off x="9299079" y="6292602"/>
            <a:ext cx="8074057" cy="759810"/>
          </a:xfrm>
          <a:custGeom>
            <a:avLst/>
            <a:gdLst/>
            <a:ahLst/>
            <a:cxnLst/>
            <a:rect l="l" t="t" r="r" b="b"/>
            <a:pathLst>
              <a:path w="10765409" h="1013079" extrusionOk="0">
                <a:moveTo>
                  <a:pt x="0" y="96139"/>
                </a:moveTo>
                <a:cubicBezTo>
                  <a:pt x="0" y="43053"/>
                  <a:pt x="43053" y="0"/>
                  <a:pt x="96139" y="0"/>
                </a:cubicBezTo>
                <a:lnTo>
                  <a:pt x="10669270" y="0"/>
                </a:lnTo>
                <a:cubicBezTo>
                  <a:pt x="10722356" y="0"/>
                  <a:pt x="10765409" y="43053"/>
                  <a:pt x="10765409" y="96139"/>
                </a:cubicBezTo>
                <a:lnTo>
                  <a:pt x="10765409" y="916940"/>
                </a:lnTo>
                <a:cubicBezTo>
                  <a:pt x="10765409" y="970026"/>
                  <a:pt x="10722356" y="1013079"/>
                  <a:pt x="10669270" y="1013079"/>
                </a:cubicBezTo>
                <a:lnTo>
                  <a:pt x="96139" y="1013079"/>
                </a:lnTo>
                <a:cubicBezTo>
                  <a:pt x="43053" y="1013079"/>
                  <a:pt x="0" y="970026"/>
                  <a:pt x="0" y="916940"/>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1" name="Google Shape;151;p15"/>
          <p:cNvSpPr txBox="1"/>
          <p:nvPr/>
        </p:nvSpPr>
        <p:spPr>
          <a:xfrm>
            <a:off x="13146137" y="6487418"/>
            <a:ext cx="379810" cy="41761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937" b="1" dirty="0">
                <a:solidFill>
                  <a:srgbClr val="272525"/>
                </a:solidFill>
                <a:latin typeface="Inter"/>
                <a:ea typeface="Inter"/>
                <a:cs typeface="Inter"/>
                <a:sym typeface="Inter"/>
              </a:rPr>
              <a:t>4</a:t>
            </a:r>
            <a:endParaRPr dirty="0"/>
          </a:p>
        </p:txBody>
      </p:sp>
      <p:sp>
        <p:nvSpPr>
          <p:cNvPr id="152" name="Google Shape;152;p15"/>
          <p:cNvSpPr txBox="1"/>
          <p:nvPr/>
        </p:nvSpPr>
        <p:spPr>
          <a:xfrm>
            <a:off x="9552235" y="7286476"/>
            <a:ext cx="3165574" cy="414635"/>
          </a:xfrm>
          <a:prstGeom prst="rect">
            <a:avLst/>
          </a:prstGeom>
          <a:noFill/>
          <a:ln>
            <a:noFill/>
          </a:ln>
        </p:spPr>
        <p:txBody>
          <a:bodyPr spcFirstLastPara="1" wrap="square" lIns="0" tIns="0" rIns="0" bIns="0" anchor="t" anchorCtr="0">
            <a:spAutoFit/>
          </a:bodyPr>
          <a:lstStyle/>
          <a:p>
            <a:pPr marL="0" marR="0" lvl="0" indent="0" algn="l" rtl="0">
              <a:lnSpc>
                <a:spcPct val="125646"/>
              </a:lnSpc>
              <a:spcBef>
                <a:spcPts val="0"/>
              </a:spcBef>
              <a:spcAft>
                <a:spcPts val="0"/>
              </a:spcAft>
              <a:buNone/>
            </a:pPr>
            <a:r>
              <a:rPr lang="en-US" sz="2437" b="1" dirty="0">
                <a:solidFill>
                  <a:srgbClr val="272525"/>
                </a:solidFill>
                <a:latin typeface="Inter"/>
                <a:ea typeface="Inter"/>
                <a:cs typeface="Inter"/>
                <a:sym typeface="Inter"/>
              </a:rPr>
              <a:t>Batch Studies</a:t>
            </a:r>
            <a:endParaRPr dirty="0"/>
          </a:p>
        </p:txBody>
      </p:sp>
      <p:sp>
        <p:nvSpPr>
          <p:cNvPr id="153" name="Google Shape;153;p15"/>
          <p:cNvSpPr txBox="1"/>
          <p:nvPr/>
        </p:nvSpPr>
        <p:spPr>
          <a:xfrm>
            <a:off x="9552235" y="7767340"/>
            <a:ext cx="7567761" cy="368114"/>
          </a:xfrm>
          <a:prstGeom prst="rect">
            <a:avLst/>
          </a:prstGeom>
          <a:noFill/>
          <a:ln>
            <a:noFill/>
          </a:ln>
        </p:spPr>
        <p:txBody>
          <a:bodyPr spcFirstLastPara="1" wrap="square" lIns="0" tIns="0" rIns="0" bIns="0" anchor="t" anchorCtr="0">
            <a:spAutoFit/>
          </a:bodyPr>
          <a:lstStyle/>
          <a:p>
            <a:pPr marL="0" marR="0" lvl="0" indent="0" algn="l" rtl="0">
              <a:lnSpc>
                <a:spcPct val="159350"/>
              </a:lnSpc>
              <a:spcBef>
                <a:spcPts val="0"/>
              </a:spcBef>
              <a:spcAft>
                <a:spcPts val="0"/>
              </a:spcAft>
              <a:buNone/>
            </a:pPr>
            <a:r>
              <a:rPr lang="en-US" sz="2000" b="1" dirty="0">
                <a:solidFill>
                  <a:srgbClr val="272525"/>
                </a:solidFill>
                <a:latin typeface="Inter"/>
                <a:ea typeface="Inter"/>
                <a:cs typeface="Inter"/>
                <a:sym typeface="Inter"/>
              </a:rPr>
              <a:t>Approach:</a:t>
            </a:r>
            <a:r>
              <a:rPr lang="en-US" sz="2000" dirty="0">
                <a:solidFill>
                  <a:srgbClr val="272525"/>
                </a:solidFill>
                <a:latin typeface="Inter"/>
                <a:ea typeface="Inter"/>
                <a:cs typeface="Inter"/>
                <a:sym typeface="Inter"/>
              </a:rPr>
              <a:t> Sequential project evaluations</a:t>
            </a:r>
            <a:endParaRPr dirty="0"/>
          </a:p>
        </p:txBody>
      </p:sp>
      <p:sp>
        <p:nvSpPr>
          <p:cNvPr id="154" name="Google Shape;154;p15"/>
          <p:cNvSpPr txBox="1"/>
          <p:nvPr/>
        </p:nvSpPr>
        <p:spPr>
          <a:xfrm>
            <a:off x="9552235" y="8324553"/>
            <a:ext cx="7567761" cy="778483"/>
          </a:xfrm>
          <a:prstGeom prst="rect">
            <a:avLst/>
          </a:prstGeom>
          <a:noFill/>
          <a:ln>
            <a:noFill/>
          </a:ln>
        </p:spPr>
        <p:txBody>
          <a:bodyPr spcFirstLastPara="1" wrap="square" lIns="0" tIns="0" rIns="0" bIns="0" anchor="t" anchorCtr="0">
            <a:spAutoFit/>
          </a:bodyPr>
          <a:lstStyle/>
          <a:p>
            <a:pPr marL="0" marR="0" lvl="0" indent="0" algn="l" rtl="0">
              <a:lnSpc>
                <a:spcPct val="159350"/>
              </a:lnSpc>
              <a:spcBef>
                <a:spcPts val="0"/>
              </a:spcBef>
              <a:spcAft>
                <a:spcPts val="0"/>
              </a:spcAft>
              <a:buNone/>
            </a:pPr>
            <a:r>
              <a:rPr lang="en-US" sz="2000" b="1" dirty="0">
                <a:solidFill>
                  <a:srgbClr val="272525"/>
                </a:solidFill>
                <a:latin typeface="Inter"/>
                <a:ea typeface="Inter"/>
                <a:cs typeface="Inter"/>
                <a:sym typeface="Inter"/>
              </a:rPr>
              <a:t>Limitation:</a:t>
            </a:r>
            <a:r>
              <a:rPr lang="en-US" sz="2000" dirty="0">
                <a:solidFill>
                  <a:srgbClr val="272525"/>
                </a:solidFill>
                <a:latin typeface="Inter"/>
                <a:ea typeface="Inter"/>
                <a:cs typeface="Inter"/>
                <a:sym typeface="Inter"/>
              </a:rPr>
              <a:t> Creates cascading backlogs across the entire queue</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A</a:t>
            </a:r>
            <a:r>
              <a:rPr lang="en-IN" sz="5400" dirty="0">
                <a:solidFill>
                  <a:srgbClr val="272525"/>
                </a:solidFill>
                <a:latin typeface="Verdana" panose="020B0604030504040204" pitchFamily="34" charset="0"/>
                <a:ea typeface="Verdana" panose="020B0604030504040204" pitchFamily="34" charset="0"/>
                <a:sym typeface="Inter"/>
              </a:rPr>
              <a:t>I role in solving the Challenges phase wise</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809591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6"/>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6F4F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16"/>
          <p:cNvSpPr/>
          <p:nvPr/>
        </p:nvSpPr>
        <p:spPr>
          <a:xfrm>
            <a:off x="8576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1" name="Google Shape;161;p16" descr="preencoded.png">
            <a:hlinkClick r:id="rId3"/>
          </p:cNvPr>
          <p:cNvSpPr/>
          <p:nvPr/>
        </p:nvSpPr>
        <p:spPr>
          <a:xfrm>
            <a:off x="16049019" y="9686925"/>
            <a:ext cx="2153221" cy="514350"/>
          </a:xfrm>
          <a:custGeom>
            <a:avLst/>
            <a:gdLst/>
            <a:ahLst/>
            <a:cxnLst/>
            <a:rect l="l" t="t" r="r" b="b"/>
            <a:pathLst>
              <a:path w="2870962" h="685800" extrusionOk="0">
                <a:moveTo>
                  <a:pt x="0" y="0"/>
                </a:moveTo>
                <a:lnTo>
                  <a:pt x="2870962" y="0"/>
                </a:lnTo>
                <a:lnTo>
                  <a:pt x="2870962" y="685800"/>
                </a:lnTo>
                <a:lnTo>
                  <a:pt x="0" y="68580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2" name="Google Shape;162;p16" descr="preencoded.png"/>
          <p:cNvSpPr/>
          <p:nvPr/>
        </p:nvSpPr>
        <p:spPr>
          <a:xfrm>
            <a:off x="11495449" y="0"/>
            <a:ext cx="6858000" cy="10350817"/>
          </a:xfrm>
          <a:custGeom>
            <a:avLst/>
            <a:gdLst/>
            <a:ahLst/>
            <a:cxnLst/>
            <a:rect l="l" t="t" r="r" b="b"/>
            <a:pathLst>
              <a:path w="9144000" h="13801089" extrusionOk="0">
                <a:moveTo>
                  <a:pt x="0" y="0"/>
                </a:moveTo>
                <a:lnTo>
                  <a:pt x="9144000" y="0"/>
                </a:lnTo>
                <a:lnTo>
                  <a:pt x="9144000" y="13801089"/>
                </a:lnTo>
                <a:lnTo>
                  <a:pt x="0" y="13801089"/>
                </a:lnTo>
                <a:lnTo>
                  <a:pt x="0" y="0"/>
                </a:lnTo>
                <a:close/>
              </a:path>
            </a:pathLst>
          </a:custGeom>
          <a:blipFill rotWithShape="1">
            <a:blip r:embed="rId5">
              <a:alphaModFix/>
            </a:blip>
            <a:stretch>
              <a:fillRect t="-12" b="-1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3" name="Google Shape;163;p16"/>
          <p:cNvSpPr txBox="1"/>
          <p:nvPr/>
        </p:nvSpPr>
        <p:spPr>
          <a:xfrm>
            <a:off x="496044" y="370731"/>
            <a:ext cx="7278737" cy="461962"/>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1" dirty="0">
                <a:solidFill>
                  <a:srgbClr val="000000"/>
                </a:solidFill>
                <a:latin typeface="Inter"/>
                <a:ea typeface="Inter"/>
                <a:cs typeface="Inter"/>
                <a:sym typeface="Inter"/>
              </a:rPr>
              <a:t>AI-Solvable Challenges in Interconnection</a:t>
            </a:r>
            <a:endParaRPr dirty="0"/>
          </a:p>
        </p:txBody>
      </p:sp>
      <p:sp>
        <p:nvSpPr>
          <p:cNvPr id="164" name="Google Shape;164;p16"/>
          <p:cNvSpPr txBox="1"/>
          <p:nvPr/>
        </p:nvSpPr>
        <p:spPr>
          <a:xfrm>
            <a:off x="496044" y="997595"/>
            <a:ext cx="10437911" cy="461665"/>
          </a:xfrm>
          <a:prstGeom prst="rect">
            <a:avLst/>
          </a:prstGeom>
          <a:noFill/>
          <a:ln>
            <a:noFill/>
          </a:ln>
        </p:spPr>
        <p:txBody>
          <a:bodyPr spcFirstLastPara="1" wrap="square" lIns="0" tIns="0" rIns="0" bIns="0" anchor="t" anchorCtr="0">
            <a:spAutoFit/>
          </a:bodyPr>
          <a:lstStyle/>
          <a:p>
            <a:pPr marL="0" marR="0" lvl="0" indent="0" algn="l" rtl="0">
              <a:lnSpc>
                <a:spcPct val="109375"/>
              </a:lnSpc>
              <a:spcBef>
                <a:spcPts val="0"/>
              </a:spcBef>
              <a:spcAft>
                <a:spcPts val="0"/>
              </a:spcAft>
              <a:buNone/>
            </a:pPr>
            <a:r>
              <a:rPr lang="en-US" sz="1600" dirty="0">
                <a:solidFill>
                  <a:srgbClr val="272525"/>
                </a:solidFill>
                <a:latin typeface="Inter"/>
                <a:ea typeface="Inter"/>
                <a:cs typeface="Inter"/>
                <a:sym typeface="Inter"/>
              </a:rPr>
              <a:t>Artificial intelligence offers targeted solutions across four critical domains, each with defined implementation timelines and proven methodologies.</a:t>
            </a:r>
            <a:endParaRPr dirty="0"/>
          </a:p>
        </p:txBody>
      </p:sp>
      <p:grpSp>
        <p:nvGrpSpPr>
          <p:cNvPr id="165" name="Google Shape;165;p16"/>
          <p:cNvGrpSpPr/>
          <p:nvPr/>
        </p:nvGrpSpPr>
        <p:grpSpPr>
          <a:xfrm>
            <a:off x="491252" y="1591406"/>
            <a:ext cx="10447496" cy="2035683"/>
            <a:chOff x="0" y="0"/>
            <a:chExt cx="13929995" cy="2714244"/>
          </a:xfrm>
        </p:grpSpPr>
        <p:sp>
          <p:nvSpPr>
            <p:cNvPr id="166" name="Google Shape;166;p16"/>
            <p:cNvSpPr/>
            <p:nvPr/>
          </p:nvSpPr>
          <p:spPr>
            <a:xfrm>
              <a:off x="6350" y="6350"/>
              <a:ext cx="13917295" cy="2701544"/>
            </a:xfrm>
            <a:custGeom>
              <a:avLst/>
              <a:gdLst/>
              <a:ahLst/>
              <a:cxnLst/>
              <a:rect l="l" t="t" r="r" b="b"/>
              <a:pathLst>
                <a:path w="13917295" h="2701544" extrusionOk="0">
                  <a:moveTo>
                    <a:pt x="0" y="79375"/>
                  </a:moveTo>
                  <a:cubicBezTo>
                    <a:pt x="0" y="35560"/>
                    <a:pt x="35687" y="0"/>
                    <a:pt x="79756" y="0"/>
                  </a:cubicBezTo>
                  <a:lnTo>
                    <a:pt x="13837538" y="0"/>
                  </a:lnTo>
                  <a:cubicBezTo>
                    <a:pt x="13881607" y="0"/>
                    <a:pt x="13917295" y="35560"/>
                    <a:pt x="13917295" y="79375"/>
                  </a:cubicBezTo>
                  <a:lnTo>
                    <a:pt x="13917295" y="2622169"/>
                  </a:lnTo>
                  <a:cubicBezTo>
                    <a:pt x="13917295" y="2665984"/>
                    <a:pt x="13881607" y="2701544"/>
                    <a:pt x="13837538" y="2701544"/>
                  </a:cubicBezTo>
                  <a:lnTo>
                    <a:pt x="79756" y="2701544"/>
                  </a:lnTo>
                  <a:cubicBezTo>
                    <a:pt x="35687" y="2701544"/>
                    <a:pt x="0" y="2665984"/>
                    <a:pt x="0" y="2622169"/>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67" name="Google Shape;167;p16"/>
            <p:cNvSpPr/>
            <p:nvPr/>
          </p:nvSpPr>
          <p:spPr>
            <a:xfrm>
              <a:off x="0" y="0"/>
              <a:ext cx="13929995" cy="2714244"/>
            </a:xfrm>
            <a:custGeom>
              <a:avLst/>
              <a:gdLst/>
              <a:ahLst/>
              <a:cxnLst/>
              <a:rect l="l" t="t" r="r" b="b"/>
              <a:pathLst>
                <a:path w="13929995" h="2714244" extrusionOk="0">
                  <a:moveTo>
                    <a:pt x="0" y="85725"/>
                  </a:moveTo>
                  <a:cubicBezTo>
                    <a:pt x="0" y="38354"/>
                    <a:pt x="38608" y="0"/>
                    <a:pt x="86106" y="0"/>
                  </a:cubicBezTo>
                  <a:lnTo>
                    <a:pt x="13843888" y="0"/>
                  </a:lnTo>
                  <a:lnTo>
                    <a:pt x="13843888" y="6350"/>
                  </a:lnTo>
                  <a:lnTo>
                    <a:pt x="13843888" y="0"/>
                  </a:lnTo>
                  <a:cubicBezTo>
                    <a:pt x="13891386" y="0"/>
                    <a:pt x="13929995" y="38354"/>
                    <a:pt x="13929995" y="85725"/>
                  </a:cubicBezTo>
                  <a:lnTo>
                    <a:pt x="13923645" y="85725"/>
                  </a:lnTo>
                  <a:lnTo>
                    <a:pt x="13929995" y="85725"/>
                  </a:lnTo>
                  <a:lnTo>
                    <a:pt x="13929995" y="2628519"/>
                  </a:lnTo>
                  <a:lnTo>
                    <a:pt x="13923645" y="2628519"/>
                  </a:lnTo>
                  <a:lnTo>
                    <a:pt x="13929995" y="2628519"/>
                  </a:lnTo>
                  <a:cubicBezTo>
                    <a:pt x="13929995" y="2675890"/>
                    <a:pt x="13891386" y="2714244"/>
                    <a:pt x="13843888" y="2714244"/>
                  </a:cubicBezTo>
                  <a:lnTo>
                    <a:pt x="13843888" y="2707894"/>
                  </a:lnTo>
                  <a:lnTo>
                    <a:pt x="13843888" y="2714244"/>
                  </a:lnTo>
                  <a:lnTo>
                    <a:pt x="86106" y="2714244"/>
                  </a:lnTo>
                  <a:lnTo>
                    <a:pt x="86106" y="2707894"/>
                  </a:lnTo>
                  <a:lnTo>
                    <a:pt x="86106" y="2714244"/>
                  </a:lnTo>
                  <a:cubicBezTo>
                    <a:pt x="38608" y="2714244"/>
                    <a:pt x="0" y="2675890"/>
                    <a:pt x="0" y="2628519"/>
                  </a:cubicBezTo>
                  <a:lnTo>
                    <a:pt x="0" y="85725"/>
                  </a:lnTo>
                  <a:lnTo>
                    <a:pt x="6350" y="85725"/>
                  </a:lnTo>
                  <a:lnTo>
                    <a:pt x="0" y="85725"/>
                  </a:lnTo>
                  <a:moveTo>
                    <a:pt x="12700" y="85725"/>
                  </a:moveTo>
                  <a:lnTo>
                    <a:pt x="12700" y="2628519"/>
                  </a:lnTo>
                  <a:lnTo>
                    <a:pt x="6350" y="2628519"/>
                  </a:lnTo>
                  <a:lnTo>
                    <a:pt x="12700" y="2628519"/>
                  </a:lnTo>
                  <a:cubicBezTo>
                    <a:pt x="12700" y="2668778"/>
                    <a:pt x="45466" y="2701544"/>
                    <a:pt x="86106" y="2701544"/>
                  </a:cubicBezTo>
                  <a:lnTo>
                    <a:pt x="13843888" y="2701544"/>
                  </a:lnTo>
                  <a:cubicBezTo>
                    <a:pt x="13884402" y="2701544"/>
                    <a:pt x="13917295" y="2668778"/>
                    <a:pt x="13917295" y="2628519"/>
                  </a:cubicBezTo>
                  <a:lnTo>
                    <a:pt x="13917295" y="85725"/>
                  </a:lnTo>
                  <a:cubicBezTo>
                    <a:pt x="13917295" y="45466"/>
                    <a:pt x="13884528" y="12700"/>
                    <a:pt x="13843888" y="12700"/>
                  </a:cubicBezTo>
                  <a:lnTo>
                    <a:pt x="86106" y="12700"/>
                  </a:lnTo>
                  <a:lnTo>
                    <a:pt x="86106" y="6350"/>
                  </a:lnTo>
                  <a:lnTo>
                    <a:pt x="86106" y="12700"/>
                  </a:lnTo>
                  <a:cubicBezTo>
                    <a:pt x="45466" y="12700"/>
                    <a:pt x="12700" y="45466"/>
                    <a:pt x="12700" y="85725"/>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68" name="Google Shape;168;p16"/>
          <p:cNvSpPr/>
          <p:nvPr/>
        </p:nvSpPr>
        <p:spPr>
          <a:xfrm>
            <a:off x="647254" y="1582639"/>
            <a:ext cx="425195" cy="425196"/>
          </a:xfrm>
          <a:custGeom>
            <a:avLst/>
            <a:gdLst/>
            <a:ahLst/>
            <a:cxnLst/>
            <a:rect l="l" t="t" r="r" b="b"/>
            <a:pathLst>
              <a:path w="566928" h="566928" extrusionOk="0">
                <a:moveTo>
                  <a:pt x="0" y="283464"/>
                </a:moveTo>
                <a:cubicBezTo>
                  <a:pt x="0" y="126873"/>
                  <a:pt x="126873" y="0"/>
                  <a:pt x="283464" y="0"/>
                </a:cubicBezTo>
                <a:cubicBezTo>
                  <a:pt x="440055" y="0"/>
                  <a:pt x="566928" y="126873"/>
                  <a:pt x="566928" y="283464"/>
                </a:cubicBezTo>
                <a:cubicBezTo>
                  <a:pt x="566928" y="440055"/>
                  <a:pt x="440055" y="566928"/>
                  <a:pt x="283464" y="566928"/>
                </a:cubicBezTo>
                <a:cubicBezTo>
                  <a:pt x="126873" y="566928"/>
                  <a:pt x="0" y="440055"/>
                  <a:pt x="0" y="283464"/>
                </a:cubicBezTo>
                <a:close/>
              </a:path>
            </a:pathLst>
          </a:custGeom>
          <a:solidFill>
            <a:srgbClr val="4950B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9" name="Google Shape;169;p16" descr="preencoded.png"/>
          <p:cNvSpPr/>
          <p:nvPr/>
        </p:nvSpPr>
        <p:spPr>
          <a:xfrm>
            <a:off x="764232" y="1699618"/>
            <a:ext cx="191244" cy="130670"/>
          </a:xfrm>
          <a:custGeom>
            <a:avLst/>
            <a:gdLst/>
            <a:ahLst/>
            <a:cxnLst/>
            <a:rect l="l" t="t" r="r" b="b"/>
            <a:pathLst>
              <a:path w="191244" h="191244" extrusionOk="0">
                <a:moveTo>
                  <a:pt x="0" y="0"/>
                </a:moveTo>
                <a:lnTo>
                  <a:pt x="191244" y="0"/>
                </a:lnTo>
                <a:lnTo>
                  <a:pt x="191244" y="191243"/>
                </a:lnTo>
                <a:lnTo>
                  <a:pt x="0" y="191243"/>
                </a:lnTo>
                <a:lnTo>
                  <a:pt x="0" y="0"/>
                </a:lnTo>
                <a:close/>
              </a:path>
            </a:pathLst>
          </a:custGeom>
          <a:blipFill rotWithShape="1">
            <a:blip r:embed="rId6">
              <a:alphaModFix/>
            </a:blip>
            <a:stretch>
              <a:fillRect t="-9522" b="-952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0" name="Google Shape;170;p16"/>
          <p:cNvSpPr txBox="1"/>
          <p:nvPr/>
        </p:nvSpPr>
        <p:spPr>
          <a:xfrm>
            <a:off x="3865773" y="1624521"/>
            <a:ext cx="6219832" cy="1552284"/>
          </a:xfrm>
          <a:prstGeom prst="rect">
            <a:avLst/>
          </a:prstGeom>
          <a:noFill/>
          <a:ln>
            <a:noFill/>
          </a:ln>
        </p:spPr>
        <p:txBody>
          <a:bodyPr spcFirstLastPara="1" wrap="square" lIns="0" tIns="0" rIns="0" bIns="0" anchor="t" anchorCtr="0">
            <a:spAutoFit/>
          </a:bodyPr>
          <a:lstStyle/>
          <a:p>
            <a:pPr marL="0" marR="0" lvl="0" indent="0" algn="l" rtl="0">
              <a:lnSpc>
                <a:spcPct val="97222"/>
              </a:lnSpc>
              <a:spcBef>
                <a:spcPts val="0"/>
              </a:spcBef>
              <a:spcAft>
                <a:spcPts val="0"/>
              </a:spcAft>
              <a:buNone/>
            </a:pPr>
            <a:r>
              <a:rPr lang="en-US" sz="1800" b="1" dirty="0">
                <a:solidFill>
                  <a:srgbClr val="272525"/>
                </a:solidFill>
                <a:latin typeface="Inter"/>
                <a:ea typeface="Inter"/>
                <a:cs typeface="Inter"/>
                <a:sym typeface="Inter"/>
              </a:rPr>
              <a:t>Document Processing</a:t>
            </a:r>
            <a:endParaRPr dirty="0"/>
          </a:p>
          <a:p>
            <a:pPr marL="0" marR="0" lvl="0" indent="0" algn="l" rtl="0">
              <a:lnSpc>
                <a:spcPct val="97222"/>
              </a:lnSpc>
              <a:spcBef>
                <a:spcPts val="0"/>
              </a:spcBef>
              <a:spcAft>
                <a:spcPts val="0"/>
              </a:spcAft>
              <a:buNone/>
            </a:pPr>
            <a:endParaRPr sz="1800" b="1" dirty="0">
              <a:solidFill>
                <a:srgbClr val="272525"/>
              </a:solidFill>
              <a:latin typeface="Inter"/>
              <a:ea typeface="Inter"/>
              <a:cs typeface="Inter"/>
              <a:sym typeface="Inter"/>
            </a:endParaRPr>
          </a:p>
          <a:p>
            <a:pPr marL="0" marR="0" lvl="0" indent="0" algn="l" rtl="0">
              <a:lnSpc>
                <a:spcPct val="97222"/>
              </a:lnSpc>
              <a:spcBef>
                <a:spcPts val="0"/>
              </a:spcBef>
              <a:spcAft>
                <a:spcPts val="0"/>
              </a:spcAft>
              <a:buNone/>
            </a:pPr>
            <a:r>
              <a:rPr lang="en-US" sz="1800" b="1" dirty="0">
                <a:solidFill>
                  <a:srgbClr val="272525"/>
                </a:solidFill>
                <a:latin typeface="Inter"/>
                <a:ea typeface="Inter"/>
                <a:cs typeface="Inter"/>
                <a:sym typeface="Inter"/>
              </a:rPr>
              <a:t> Challenge:</a:t>
            </a:r>
            <a:r>
              <a:rPr lang="en-US" sz="1800" dirty="0">
                <a:solidFill>
                  <a:srgbClr val="272525"/>
                </a:solidFill>
                <a:latin typeface="Inter"/>
                <a:ea typeface="Inter"/>
                <a:cs typeface="Inter"/>
                <a:sym typeface="Inter"/>
              </a:rPr>
              <a:t> Application review &amp; validation</a:t>
            </a:r>
            <a:endParaRPr dirty="0"/>
          </a:p>
          <a:p>
            <a:pPr marL="0" marR="0" lvl="0" indent="0" algn="l" rtl="0">
              <a:lnSpc>
                <a:spcPct val="97222"/>
              </a:lnSpc>
              <a:spcBef>
                <a:spcPts val="0"/>
              </a:spcBef>
              <a:spcAft>
                <a:spcPts val="0"/>
              </a:spcAft>
              <a:buNone/>
            </a:pPr>
            <a:endParaRPr sz="1800" dirty="0">
              <a:solidFill>
                <a:srgbClr val="272525"/>
              </a:solidFill>
              <a:latin typeface="Inter"/>
              <a:ea typeface="Inter"/>
              <a:cs typeface="Inter"/>
              <a:sym typeface="Inter"/>
            </a:endParaRPr>
          </a:p>
          <a:p>
            <a:pPr marL="0" marR="0" lvl="0" indent="0" algn="l" rtl="0">
              <a:lnSpc>
                <a:spcPct val="97222"/>
              </a:lnSpc>
              <a:spcBef>
                <a:spcPts val="0"/>
              </a:spcBef>
              <a:spcAft>
                <a:spcPts val="0"/>
              </a:spcAft>
              <a:buNone/>
            </a:pPr>
            <a:r>
              <a:rPr lang="en-US" sz="1800" dirty="0">
                <a:solidFill>
                  <a:srgbClr val="272525"/>
                </a:solidFill>
                <a:latin typeface="Inter"/>
                <a:ea typeface="Inter"/>
                <a:cs typeface="Inter"/>
                <a:sym typeface="Inter"/>
              </a:rPr>
              <a:t>Potential AI Solution: LLM + RAG</a:t>
            </a:r>
            <a:endParaRPr dirty="0"/>
          </a:p>
          <a:p>
            <a:pPr marL="0" marR="0" lvl="0" indent="0" algn="l" rtl="0">
              <a:lnSpc>
                <a:spcPct val="97222"/>
              </a:lnSpc>
              <a:spcBef>
                <a:spcPts val="0"/>
              </a:spcBef>
              <a:spcAft>
                <a:spcPts val="0"/>
              </a:spcAft>
              <a:buNone/>
            </a:pPr>
            <a:endParaRPr dirty="0"/>
          </a:p>
        </p:txBody>
      </p:sp>
      <p:grpSp>
        <p:nvGrpSpPr>
          <p:cNvPr id="171" name="Google Shape;171;p16"/>
          <p:cNvGrpSpPr/>
          <p:nvPr/>
        </p:nvGrpSpPr>
        <p:grpSpPr>
          <a:xfrm>
            <a:off x="491281" y="3594498"/>
            <a:ext cx="10447496" cy="2138411"/>
            <a:chOff x="0" y="0"/>
            <a:chExt cx="13929995" cy="2714244"/>
          </a:xfrm>
        </p:grpSpPr>
        <p:sp>
          <p:nvSpPr>
            <p:cNvPr id="172" name="Google Shape;172;p16"/>
            <p:cNvSpPr/>
            <p:nvPr/>
          </p:nvSpPr>
          <p:spPr>
            <a:xfrm>
              <a:off x="6350" y="6350"/>
              <a:ext cx="13917295" cy="2701544"/>
            </a:xfrm>
            <a:custGeom>
              <a:avLst/>
              <a:gdLst/>
              <a:ahLst/>
              <a:cxnLst/>
              <a:rect l="l" t="t" r="r" b="b"/>
              <a:pathLst>
                <a:path w="13917295" h="2701544" extrusionOk="0">
                  <a:moveTo>
                    <a:pt x="0" y="79375"/>
                  </a:moveTo>
                  <a:cubicBezTo>
                    <a:pt x="0" y="35560"/>
                    <a:pt x="35687" y="0"/>
                    <a:pt x="79756" y="0"/>
                  </a:cubicBezTo>
                  <a:lnTo>
                    <a:pt x="13837538" y="0"/>
                  </a:lnTo>
                  <a:cubicBezTo>
                    <a:pt x="13881607" y="0"/>
                    <a:pt x="13917295" y="35560"/>
                    <a:pt x="13917295" y="79375"/>
                  </a:cubicBezTo>
                  <a:lnTo>
                    <a:pt x="13917295" y="2622169"/>
                  </a:lnTo>
                  <a:cubicBezTo>
                    <a:pt x="13917295" y="2665984"/>
                    <a:pt x="13881607" y="2701544"/>
                    <a:pt x="13837538" y="2701544"/>
                  </a:cubicBezTo>
                  <a:lnTo>
                    <a:pt x="79756" y="2701544"/>
                  </a:lnTo>
                  <a:cubicBezTo>
                    <a:pt x="35687" y="2701544"/>
                    <a:pt x="0" y="2665984"/>
                    <a:pt x="0" y="2622169"/>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3" name="Google Shape;173;p16"/>
            <p:cNvSpPr/>
            <p:nvPr/>
          </p:nvSpPr>
          <p:spPr>
            <a:xfrm>
              <a:off x="0" y="0"/>
              <a:ext cx="13929995" cy="2714244"/>
            </a:xfrm>
            <a:custGeom>
              <a:avLst/>
              <a:gdLst/>
              <a:ahLst/>
              <a:cxnLst/>
              <a:rect l="l" t="t" r="r" b="b"/>
              <a:pathLst>
                <a:path w="13929995" h="2714244" extrusionOk="0">
                  <a:moveTo>
                    <a:pt x="0" y="85725"/>
                  </a:moveTo>
                  <a:cubicBezTo>
                    <a:pt x="0" y="38354"/>
                    <a:pt x="38608" y="0"/>
                    <a:pt x="86106" y="0"/>
                  </a:cubicBezTo>
                  <a:lnTo>
                    <a:pt x="13843888" y="0"/>
                  </a:lnTo>
                  <a:lnTo>
                    <a:pt x="13843888" y="6350"/>
                  </a:lnTo>
                  <a:lnTo>
                    <a:pt x="13843888" y="0"/>
                  </a:lnTo>
                  <a:cubicBezTo>
                    <a:pt x="13891386" y="0"/>
                    <a:pt x="13929995" y="38354"/>
                    <a:pt x="13929995" y="85725"/>
                  </a:cubicBezTo>
                  <a:lnTo>
                    <a:pt x="13923645" y="85725"/>
                  </a:lnTo>
                  <a:lnTo>
                    <a:pt x="13929995" y="85725"/>
                  </a:lnTo>
                  <a:lnTo>
                    <a:pt x="13929995" y="2628519"/>
                  </a:lnTo>
                  <a:lnTo>
                    <a:pt x="13923645" y="2628519"/>
                  </a:lnTo>
                  <a:lnTo>
                    <a:pt x="13929995" y="2628519"/>
                  </a:lnTo>
                  <a:cubicBezTo>
                    <a:pt x="13929995" y="2675890"/>
                    <a:pt x="13891386" y="2714244"/>
                    <a:pt x="13843888" y="2714244"/>
                  </a:cubicBezTo>
                  <a:lnTo>
                    <a:pt x="13843888" y="2707894"/>
                  </a:lnTo>
                  <a:lnTo>
                    <a:pt x="13843888" y="2714244"/>
                  </a:lnTo>
                  <a:lnTo>
                    <a:pt x="86106" y="2714244"/>
                  </a:lnTo>
                  <a:lnTo>
                    <a:pt x="86106" y="2707894"/>
                  </a:lnTo>
                  <a:lnTo>
                    <a:pt x="86106" y="2714244"/>
                  </a:lnTo>
                  <a:cubicBezTo>
                    <a:pt x="38608" y="2714244"/>
                    <a:pt x="0" y="2675890"/>
                    <a:pt x="0" y="2628519"/>
                  </a:cubicBezTo>
                  <a:lnTo>
                    <a:pt x="0" y="85725"/>
                  </a:lnTo>
                  <a:lnTo>
                    <a:pt x="6350" y="85725"/>
                  </a:lnTo>
                  <a:lnTo>
                    <a:pt x="0" y="85725"/>
                  </a:lnTo>
                  <a:moveTo>
                    <a:pt x="12700" y="85725"/>
                  </a:moveTo>
                  <a:lnTo>
                    <a:pt x="12700" y="2628519"/>
                  </a:lnTo>
                  <a:lnTo>
                    <a:pt x="6350" y="2628519"/>
                  </a:lnTo>
                  <a:lnTo>
                    <a:pt x="12700" y="2628519"/>
                  </a:lnTo>
                  <a:cubicBezTo>
                    <a:pt x="12700" y="2668778"/>
                    <a:pt x="45466" y="2701544"/>
                    <a:pt x="86106" y="2701544"/>
                  </a:cubicBezTo>
                  <a:lnTo>
                    <a:pt x="13843888" y="2701544"/>
                  </a:lnTo>
                  <a:cubicBezTo>
                    <a:pt x="13884402" y="2701544"/>
                    <a:pt x="13917295" y="2668778"/>
                    <a:pt x="13917295" y="2628519"/>
                  </a:cubicBezTo>
                  <a:lnTo>
                    <a:pt x="13917295" y="85725"/>
                  </a:lnTo>
                  <a:cubicBezTo>
                    <a:pt x="13917295" y="45466"/>
                    <a:pt x="13884528" y="12700"/>
                    <a:pt x="13843888" y="12700"/>
                  </a:cubicBezTo>
                  <a:lnTo>
                    <a:pt x="86106" y="12700"/>
                  </a:lnTo>
                  <a:lnTo>
                    <a:pt x="86106" y="6350"/>
                  </a:lnTo>
                  <a:lnTo>
                    <a:pt x="86106" y="12700"/>
                  </a:lnTo>
                  <a:cubicBezTo>
                    <a:pt x="45466" y="12700"/>
                    <a:pt x="12700" y="45466"/>
                    <a:pt x="12700" y="85725"/>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74" name="Google Shape;174;p16"/>
          <p:cNvSpPr/>
          <p:nvPr/>
        </p:nvSpPr>
        <p:spPr>
          <a:xfrm>
            <a:off x="647254" y="3750469"/>
            <a:ext cx="425195" cy="425196"/>
          </a:xfrm>
          <a:custGeom>
            <a:avLst/>
            <a:gdLst/>
            <a:ahLst/>
            <a:cxnLst/>
            <a:rect l="l" t="t" r="r" b="b"/>
            <a:pathLst>
              <a:path w="566928" h="566928" extrusionOk="0">
                <a:moveTo>
                  <a:pt x="0" y="283464"/>
                </a:moveTo>
                <a:cubicBezTo>
                  <a:pt x="0" y="126873"/>
                  <a:pt x="126873" y="0"/>
                  <a:pt x="283464" y="0"/>
                </a:cubicBezTo>
                <a:cubicBezTo>
                  <a:pt x="440055" y="0"/>
                  <a:pt x="566928" y="126873"/>
                  <a:pt x="566928" y="283464"/>
                </a:cubicBezTo>
                <a:cubicBezTo>
                  <a:pt x="566928" y="440055"/>
                  <a:pt x="440055" y="566928"/>
                  <a:pt x="283464" y="566928"/>
                </a:cubicBezTo>
                <a:cubicBezTo>
                  <a:pt x="126873" y="566928"/>
                  <a:pt x="0" y="440055"/>
                  <a:pt x="0" y="283464"/>
                </a:cubicBezTo>
                <a:close/>
              </a:path>
            </a:pathLst>
          </a:custGeom>
          <a:solidFill>
            <a:srgbClr val="4950B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5" name="Google Shape;175;p16" descr="preencoded.png"/>
          <p:cNvSpPr/>
          <p:nvPr/>
        </p:nvSpPr>
        <p:spPr>
          <a:xfrm>
            <a:off x="764232" y="3867447"/>
            <a:ext cx="191244" cy="191244"/>
          </a:xfrm>
          <a:custGeom>
            <a:avLst/>
            <a:gdLst/>
            <a:ahLst/>
            <a:cxnLst/>
            <a:rect l="l" t="t" r="r" b="b"/>
            <a:pathLst>
              <a:path w="191244" h="191244" extrusionOk="0">
                <a:moveTo>
                  <a:pt x="0" y="0"/>
                </a:moveTo>
                <a:lnTo>
                  <a:pt x="191244" y="0"/>
                </a:lnTo>
                <a:lnTo>
                  <a:pt x="191244" y="191244"/>
                </a:lnTo>
                <a:lnTo>
                  <a:pt x="0" y="191244"/>
                </a:lnTo>
                <a:lnTo>
                  <a:pt x="0" y="0"/>
                </a:lnTo>
                <a:close/>
              </a:path>
            </a:pathLst>
          </a:custGeom>
          <a:blipFill rotWithShape="1">
            <a:blip r:embed="rId7">
              <a:alphaModFix/>
            </a:blip>
            <a:stretch>
              <a:fillRect t="-2379" b="-237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6" name="Google Shape;176;p16"/>
          <p:cNvSpPr txBox="1"/>
          <p:nvPr/>
        </p:nvSpPr>
        <p:spPr>
          <a:xfrm>
            <a:off x="3865773" y="3774243"/>
            <a:ext cx="5736617" cy="1473609"/>
          </a:xfrm>
          <a:prstGeom prst="rect">
            <a:avLst/>
          </a:prstGeom>
          <a:noFill/>
          <a:ln>
            <a:noFill/>
          </a:ln>
        </p:spPr>
        <p:txBody>
          <a:bodyPr spcFirstLastPara="1" wrap="square" lIns="0" tIns="0" rIns="0" bIns="0" anchor="t" anchorCtr="0">
            <a:spAutoFit/>
          </a:bodyPr>
          <a:lstStyle/>
          <a:p>
            <a:pPr marL="0" marR="0" lvl="0" indent="0" algn="l" rtl="0">
              <a:lnSpc>
                <a:spcPct val="84350"/>
              </a:lnSpc>
              <a:spcBef>
                <a:spcPts val="0"/>
              </a:spcBef>
              <a:spcAft>
                <a:spcPts val="0"/>
              </a:spcAft>
              <a:buNone/>
            </a:pPr>
            <a:r>
              <a:rPr lang="en-US" sz="2000" b="1" dirty="0">
                <a:solidFill>
                  <a:srgbClr val="272525"/>
                </a:solidFill>
                <a:latin typeface="Inter"/>
                <a:ea typeface="Inter"/>
                <a:cs typeface="Inter"/>
                <a:sym typeface="Inter"/>
              </a:rPr>
              <a:t>Technical Studies</a:t>
            </a:r>
            <a:endParaRPr dirty="0"/>
          </a:p>
          <a:p>
            <a:pPr marL="0" marR="0" lvl="0" indent="0" algn="l" rtl="0">
              <a:lnSpc>
                <a:spcPct val="84350"/>
              </a:lnSpc>
              <a:spcBef>
                <a:spcPts val="0"/>
              </a:spcBef>
              <a:spcAft>
                <a:spcPts val="0"/>
              </a:spcAft>
              <a:buNone/>
            </a:pPr>
            <a:endParaRPr sz="2000" b="1" dirty="0">
              <a:solidFill>
                <a:srgbClr val="272525"/>
              </a:solidFill>
              <a:latin typeface="Inter"/>
              <a:ea typeface="Inter"/>
              <a:cs typeface="Inter"/>
              <a:sym typeface="Inter"/>
            </a:endParaRPr>
          </a:p>
          <a:p>
            <a:pPr marL="0" marR="0" lvl="0" indent="0" algn="l" rtl="0">
              <a:lnSpc>
                <a:spcPct val="84350"/>
              </a:lnSpc>
              <a:spcBef>
                <a:spcPts val="0"/>
              </a:spcBef>
              <a:spcAft>
                <a:spcPts val="0"/>
              </a:spcAft>
              <a:buNone/>
            </a:pPr>
            <a:r>
              <a:rPr lang="en-US" sz="2000" b="1" dirty="0">
                <a:solidFill>
                  <a:srgbClr val="272525"/>
                </a:solidFill>
                <a:latin typeface="Inter"/>
                <a:ea typeface="Inter"/>
                <a:cs typeface="Inter"/>
                <a:sym typeface="Inter"/>
              </a:rPr>
              <a:t>Challenge:</a:t>
            </a:r>
            <a:r>
              <a:rPr lang="en-US" sz="2000" dirty="0">
                <a:solidFill>
                  <a:srgbClr val="272525"/>
                </a:solidFill>
                <a:latin typeface="Inter"/>
                <a:ea typeface="Inter"/>
                <a:cs typeface="Inter"/>
                <a:sym typeface="Inter"/>
              </a:rPr>
              <a:t> Grid impact analysis &amp; modeling</a:t>
            </a:r>
            <a:endParaRPr dirty="0"/>
          </a:p>
          <a:p>
            <a:pPr marL="0" marR="0" lvl="0" indent="0" algn="l" rtl="0">
              <a:lnSpc>
                <a:spcPct val="84350"/>
              </a:lnSpc>
              <a:spcBef>
                <a:spcPts val="0"/>
              </a:spcBef>
              <a:spcAft>
                <a:spcPts val="0"/>
              </a:spcAft>
              <a:buNone/>
            </a:pPr>
            <a:endParaRPr sz="2000" b="1" dirty="0">
              <a:solidFill>
                <a:srgbClr val="272525"/>
              </a:solidFill>
              <a:latin typeface="Inter"/>
              <a:ea typeface="Inter"/>
              <a:cs typeface="Inter"/>
              <a:sym typeface="Inter"/>
            </a:endParaRPr>
          </a:p>
          <a:p>
            <a:pPr marL="0" marR="0" lvl="0" indent="0" algn="l" rtl="0">
              <a:lnSpc>
                <a:spcPct val="84350"/>
              </a:lnSpc>
              <a:spcBef>
                <a:spcPts val="0"/>
              </a:spcBef>
              <a:spcAft>
                <a:spcPts val="0"/>
              </a:spcAft>
              <a:buNone/>
            </a:pPr>
            <a:r>
              <a:rPr lang="en-US" sz="2000" b="1" dirty="0">
                <a:solidFill>
                  <a:srgbClr val="272525"/>
                </a:solidFill>
                <a:latin typeface="Inter"/>
                <a:ea typeface="Inter"/>
                <a:cs typeface="Inter"/>
                <a:sym typeface="Inter"/>
              </a:rPr>
              <a:t>Potential AI Solution:</a:t>
            </a:r>
            <a:r>
              <a:rPr lang="en-US" sz="2000" dirty="0">
                <a:solidFill>
                  <a:srgbClr val="272525"/>
                </a:solidFill>
                <a:latin typeface="Inter"/>
                <a:ea typeface="Inter"/>
                <a:cs typeface="Inter"/>
                <a:sym typeface="Inter"/>
              </a:rPr>
              <a:t> ML Models + Agents</a:t>
            </a:r>
            <a:endParaRPr dirty="0"/>
          </a:p>
          <a:p>
            <a:pPr marL="0" marR="0" lvl="0" indent="0" algn="l" rtl="0">
              <a:lnSpc>
                <a:spcPct val="84350"/>
              </a:lnSpc>
              <a:spcBef>
                <a:spcPts val="0"/>
              </a:spcBef>
              <a:spcAft>
                <a:spcPts val="0"/>
              </a:spcAft>
              <a:buNone/>
            </a:pPr>
            <a:endParaRPr lang="en-US" dirty="0"/>
          </a:p>
        </p:txBody>
      </p:sp>
      <p:grpSp>
        <p:nvGrpSpPr>
          <p:cNvPr id="177" name="Google Shape;177;p16"/>
          <p:cNvGrpSpPr/>
          <p:nvPr/>
        </p:nvGrpSpPr>
        <p:grpSpPr>
          <a:xfrm>
            <a:off x="491281" y="5762327"/>
            <a:ext cx="10447496" cy="2138411"/>
            <a:chOff x="0" y="0"/>
            <a:chExt cx="13929995" cy="2714244"/>
          </a:xfrm>
        </p:grpSpPr>
        <p:sp>
          <p:nvSpPr>
            <p:cNvPr id="178" name="Google Shape;178;p16"/>
            <p:cNvSpPr/>
            <p:nvPr/>
          </p:nvSpPr>
          <p:spPr>
            <a:xfrm>
              <a:off x="6350" y="6350"/>
              <a:ext cx="13917295" cy="2701544"/>
            </a:xfrm>
            <a:custGeom>
              <a:avLst/>
              <a:gdLst/>
              <a:ahLst/>
              <a:cxnLst/>
              <a:rect l="l" t="t" r="r" b="b"/>
              <a:pathLst>
                <a:path w="13917295" h="2701544" extrusionOk="0">
                  <a:moveTo>
                    <a:pt x="0" y="79375"/>
                  </a:moveTo>
                  <a:cubicBezTo>
                    <a:pt x="0" y="35560"/>
                    <a:pt x="35687" y="0"/>
                    <a:pt x="79756" y="0"/>
                  </a:cubicBezTo>
                  <a:lnTo>
                    <a:pt x="13837538" y="0"/>
                  </a:lnTo>
                  <a:cubicBezTo>
                    <a:pt x="13881607" y="0"/>
                    <a:pt x="13917295" y="35560"/>
                    <a:pt x="13917295" y="79375"/>
                  </a:cubicBezTo>
                  <a:lnTo>
                    <a:pt x="13917295" y="2622169"/>
                  </a:lnTo>
                  <a:cubicBezTo>
                    <a:pt x="13917295" y="2665984"/>
                    <a:pt x="13881607" y="2701544"/>
                    <a:pt x="13837538" y="2701544"/>
                  </a:cubicBezTo>
                  <a:lnTo>
                    <a:pt x="79756" y="2701544"/>
                  </a:lnTo>
                  <a:cubicBezTo>
                    <a:pt x="35687" y="2701544"/>
                    <a:pt x="0" y="2665984"/>
                    <a:pt x="0" y="2622169"/>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9" name="Google Shape;179;p16"/>
            <p:cNvSpPr/>
            <p:nvPr/>
          </p:nvSpPr>
          <p:spPr>
            <a:xfrm>
              <a:off x="0" y="0"/>
              <a:ext cx="13929995" cy="2714244"/>
            </a:xfrm>
            <a:custGeom>
              <a:avLst/>
              <a:gdLst/>
              <a:ahLst/>
              <a:cxnLst/>
              <a:rect l="l" t="t" r="r" b="b"/>
              <a:pathLst>
                <a:path w="13929995" h="2714244" extrusionOk="0">
                  <a:moveTo>
                    <a:pt x="0" y="85725"/>
                  </a:moveTo>
                  <a:cubicBezTo>
                    <a:pt x="0" y="38354"/>
                    <a:pt x="38608" y="0"/>
                    <a:pt x="86106" y="0"/>
                  </a:cubicBezTo>
                  <a:lnTo>
                    <a:pt x="13843888" y="0"/>
                  </a:lnTo>
                  <a:lnTo>
                    <a:pt x="13843888" y="6350"/>
                  </a:lnTo>
                  <a:lnTo>
                    <a:pt x="13843888" y="0"/>
                  </a:lnTo>
                  <a:cubicBezTo>
                    <a:pt x="13891386" y="0"/>
                    <a:pt x="13929995" y="38354"/>
                    <a:pt x="13929995" y="85725"/>
                  </a:cubicBezTo>
                  <a:lnTo>
                    <a:pt x="13923645" y="85725"/>
                  </a:lnTo>
                  <a:lnTo>
                    <a:pt x="13929995" y="85725"/>
                  </a:lnTo>
                  <a:lnTo>
                    <a:pt x="13929995" y="2628519"/>
                  </a:lnTo>
                  <a:lnTo>
                    <a:pt x="13923645" y="2628519"/>
                  </a:lnTo>
                  <a:lnTo>
                    <a:pt x="13929995" y="2628519"/>
                  </a:lnTo>
                  <a:cubicBezTo>
                    <a:pt x="13929995" y="2675890"/>
                    <a:pt x="13891386" y="2714244"/>
                    <a:pt x="13843888" y="2714244"/>
                  </a:cubicBezTo>
                  <a:lnTo>
                    <a:pt x="13843888" y="2707894"/>
                  </a:lnTo>
                  <a:lnTo>
                    <a:pt x="13843888" y="2714244"/>
                  </a:lnTo>
                  <a:lnTo>
                    <a:pt x="86106" y="2714244"/>
                  </a:lnTo>
                  <a:lnTo>
                    <a:pt x="86106" y="2707894"/>
                  </a:lnTo>
                  <a:lnTo>
                    <a:pt x="86106" y="2714244"/>
                  </a:lnTo>
                  <a:cubicBezTo>
                    <a:pt x="38608" y="2714244"/>
                    <a:pt x="0" y="2675890"/>
                    <a:pt x="0" y="2628519"/>
                  </a:cubicBezTo>
                  <a:lnTo>
                    <a:pt x="0" y="85725"/>
                  </a:lnTo>
                  <a:lnTo>
                    <a:pt x="6350" y="85725"/>
                  </a:lnTo>
                  <a:lnTo>
                    <a:pt x="0" y="85725"/>
                  </a:lnTo>
                  <a:moveTo>
                    <a:pt x="12700" y="85725"/>
                  </a:moveTo>
                  <a:lnTo>
                    <a:pt x="12700" y="2628519"/>
                  </a:lnTo>
                  <a:lnTo>
                    <a:pt x="6350" y="2628519"/>
                  </a:lnTo>
                  <a:lnTo>
                    <a:pt x="12700" y="2628519"/>
                  </a:lnTo>
                  <a:cubicBezTo>
                    <a:pt x="12700" y="2668778"/>
                    <a:pt x="45466" y="2701544"/>
                    <a:pt x="86106" y="2701544"/>
                  </a:cubicBezTo>
                  <a:lnTo>
                    <a:pt x="13843888" y="2701544"/>
                  </a:lnTo>
                  <a:cubicBezTo>
                    <a:pt x="13884402" y="2701544"/>
                    <a:pt x="13917295" y="2668778"/>
                    <a:pt x="13917295" y="2628519"/>
                  </a:cubicBezTo>
                  <a:lnTo>
                    <a:pt x="13917295" y="85725"/>
                  </a:lnTo>
                  <a:cubicBezTo>
                    <a:pt x="13917295" y="45466"/>
                    <a:pt x="13884528" y="12700"/>
                    <a:pt x="13843888" y="12700"/>
                  </a:cubicBezTo>
                  <a:lnTo>
                    <a:pt x="86106" y="12700"/>
                  </a:lnTo>
                  <a:lnTo>
                    <a:pt x="86106" y="6350"/>
                  </a:lnTo>
                  <a:lnTo>
                    <a:pt x="86106" y="12700"/>
                  </a:lnTo>
                  <a:cubicBezTo>
                    <a:pt x="45466" y="12700"/>
                    <a:pt x="12700" y="45466"/>
                    <a:pt x="12700" y="85725"/>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80" name="Google Shape;180;p16"/>
          <p:cNvSpPr/>
          <p:nvPr/>
        </p:nvSpPr>
        <p:spPr>
          <a:xfrm>
            <a:off x="647254" y="5918299"/>
            <a:ext cx="425195" cy="425196"/>
          </a:xfrm>
          <a:custGeom>
            <a:avLst/>
            <a:gdLst/>
            <a:ahLst/>
            <a:cxnLst/>
            <a:rect l="l" t="t" r="r" b="b"/>
            <a:pathLst>
              <a:path w="566928" h="566928" extrusionOk="0">
                <a:moveTo>
                  <a:pt x="0" y="283464"/>
                </a:moveTo>
                <a:cubicBezTo>
                  <a:pt x="0" y="126873"/>
                  <a:pt x="126873" y="0"/>
                  <a:pt x="283464" y="0"/>
                </a:cubicBezTo>
                <a:cubicBezTo>
                  <a:pt x="440055" y="0"/>
                  <a:pt x="566928" y="126873"/>
                  <a:pt x="566928" y="283464"/>
                </a:cubicBezTo>
                <a:cubicBezTo>
                  <a:pt x="566928" y="440055"/>
                  <a:pt x="440055" y="566928"/>
                  <a:pt x="283464" y="566928"/>
                </a:cubicBezTo>
                <a:cubicBezTo>
                  <a:pt x="126873" y="566928"/>
                  <a:pt x="0" y="440055"/>
                  <a:pt x="0" y="283464"/>
                </a:cubicBezTo>
                <a:close/>
              </a:path>
            </a:pathLst>
          </a:custGeom>
          <a:solidFill>
            <a:srgbClr val="4950B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1" name="Google Shape;181;p16" descr="preencoded.png"/>
          <p:cNvSpPr/>
          <p:nvPr/>
        </p:nvSpPr>
        <p:spPr>
          <a:xfrm>
            <a:off x="764232" y="6035279"/>
            <a:ext cx="191244" cy="191244"/>
          </a:xfrm>
          <a:custGeom>
            <a:avLst/>
            <a:gdLst/>
            <a:ahLst/>
            <a:cxnLst/>
            <a:rect l="l" t="t" r="r" b="b"/>
            <a:pathLst>
              <a:path w="191244" h="191244" extrusionOk="0">
                <a:moveTo>
                  <a:pt x="0" y="0"/>
                </a:moveTo>
                <a:lnTo>
                  <a:pt x="191244" y="0"/>
                </a:lnTo>
                <a:lnTo>
                  <a:pt x="191244" y="191244"/>
                </a:lnTo>
                <a:lnTo>
                  <a:pt x="0" y="191244"/>
                </a:lnTo>
                <a:lnTo>
                  <a:pt x="0" y="0"/>
                </a:lnTo>
                <a:close/>
              </a:path>
            </a:pathLst>
          </a:cu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82" name="Google Shape;182;p16"/>
          <p:cNvGrpSpPr/>
          <p:nvPr/>
        </p:nvGrpSpPr>
        <p:grpSpPr>
          <a:xfrm>
            <a:off x="491281" y="7930158"/>
            <a:ext cx="10447496" cy="2035683"/>
            <a:chOff x="0" y="0"/>
            <a:chExt cx="13929995" cy="2714244"/>
          </a:xfrm>
        </p:grpSpPr>
        <p:sp>
          <p:nvSpPr>
            <p:cNvPr id="183" name="Google Shape;183;p16"/>
            <p:cNvSpPr/>
            <p:nvPr/>
          </p:nvSpPr>
          <p:spPr>
            <a:xfrm>
              <a:off x="6350" y="6350"/>
              <a:ext cx="13917295" cy="2701544"/>
            </a:xfrm>
            <a:custGeom>
              <a:avLst/>
              <a:gdLst/>
              <a:ahLst/>
              <a:cxnLst/>
              <a:rect l="l" t="t" r="r" b="b"/>
              <a:pathLst>
                <a:path w="13917295" h="2701544" extrusionOk="0">
                  <a:moveTo>
                    <a:pt x="0" y="79375"/>
                  </a:moveTo>
                  <a:cubicBezTo>
                    <a:pt x="0" y="35560"/>
                    <a:pt x="35687" y="0"/>
                    <a:pt x="79756" y="0"/>
                  </a:cubicBezTo>
                  <a:lnTo>
                    <a:pt x="13837538" y="0"/>
                  </a:lnTo>
                  <a:cubicBezTo>
                    <a:pt x="13881607" y="0"/>
                    <a:pt x="13917295" y="35560"/>
                    <a:pt x="13917295" y="79375"/>
                  </a:cubicBezTo>
                  <a:lnTo>
                    <a:pt x="13917295" y="2622169"/>
                  </a:lnTo>
                  <a:cubicBezTo>
                    <a:pt x="13917295" y="2665984"/>
                    <a:pt x="13881607" y="2701544"/>
                    <a:pt x="13837538" y="2701544"/>
                  </a:cubicBezTo>
                  <a:lnTo>
                    <a:pt x="79756" y="2701544"/>
                  </a:lnTo>
                  <a:cubicBezTo>
                    <a:pt x="35687" y="2701544"/>
                    <a:pt x="0" y="2665984"/>
                    <a:pt x="0" y="2622169"/>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4" name="Google Shape;184;p16"/>
            <p:cNvSpPr/>
            <p:nvPr/>
          </p:nvSpPr>
          <p:spPr>
            <a:xfrm>
              <a:off x="0" y="0"/>
              <a:ext cx="13929995" cy="2714244"/>
            </a:xfrm>
            <a:custGeom>
              <a:avLst/>
              <a:gdLst/>
              <a:ahLst/>
              <a:cxnLst/>
              <a:rect l="l" t="t" r="r" b="b"/>
              <a:pathLst>
                <a:path w="13929995" h="2714244" extrusionOk="0">
                  <a:moveTo>
                    <a:pt x="0" y="85725"/>
                  </a:moveTo>
                  <a:cubicBezTo>
                    <a:pt x="0" y="38354"/>
                    <a:pt x="38608" y="0"/>
                    <a:pt x="86106" y="0"/>
                  </a:cubicBezTo>
                  <a:lnTo>
                    <a:pt x="13843888" y="0"/>
                  </a:lnTo>
                  <a:lnTo>
                    <a:pt x="13843888" y="6350"/>
                  </a:lnTo>
                  <a:lnTo>
                    <a:pt x="13843888" y="0"/>
                  </a:lnTo>
                  <a:cubicBezTo>
                    <a:pt x="13891386" y="0"/>
                    <a:pt x="13929995" y="38354"/>
                    <a:pt x="13929995" y="85725"/>
                  </a:cubicBezTo>
                  <a:lnTo>
                    <a:pt x="13923645" y="85725"/>
                  </a:lnTo>
                  <a:lnTo>
                    <a:pt x="13929995" y="85725"/>
                  </a:lnTo>
                  <a:lnTo>
                    <a:pt x="13929995" y="2628519"/>
                  </a:lnTo>
                  <a:lnTo>
                    <a:pt x="13923645" y="2628519"/>
                  </a:lnTo>
                  <a:lnTo>
                    <a:pt x="13929995" y="2628519"/>
                  </a:lnTo>
                  <a:cubicBezTo>
                    <a:pt x="13929995" y="2675890"/>
                    <a:pt x="13891386" y="2714244"/>
                    <a:pt x="13843888" y="2714244"/>
                  </a:cubicBezTo>
                  <a:lnTo>
                    <a:pt x="13843888" y="2707894"/>
                  </a:lnTo>
                  <a:lnTo>
                    <a:pt x="13843888" y="2714244"/>
                  </a:lnTo>
                  <a:lnTo>
                    <a:pt x="86106" y="2714244"/>
                  </a:lnTo>
                  <a:lnTo>
                    <a:pt x="86106" y="2707894"/>
                  </a:lnTo>
                  <a:lnTo>
                    <a:pt x="86106" y="2714244"/>
                  </a:lnTo>
                  <a:cubicBezTo>
                    <a:pt x="38608" y="2714244"/>
                    <a:pt x="0" y="2675890"/>
                    <a:pt x="0" y="2628519"/>
                  </a:cubicBezTo>
                  <a:lnTo>
                    <a:pt x="0" y="85725"/>
                  </a:lnTo>
                  <a:lnTo>
                    <a:pt x="6350" y="85725"/>
                  </a:lnTo>
                  <a:lnTo>
                    <a:pt x="0" y="85725"/>
                  </a:lnTo>
                  <a:moveTo>
                    <a:pt x="12700" y="85725"/>
                  </a:moveTo>
                  <a:lnTo>
                    <a:pt x="12700" y="2628519"/>
                  </a:lnTo>
                  <a:lnTo>
                    <a:pt x="6350" y="2628519"/>
                  </a:lnTo>
                  <a:lnTo>
                    <a:pt x="12700" y="2628519"/>
                  </a:lnTo>
                  <a:cubicBezTo>
                    <a:pt x="12700" y="2668778"/>
                    <a:pt x="45466" y="2701544"/>
                    <a:pt x="86106" y="2701544"/>
                  </a:cubicBezTo>
                  <a:lnTo>
                    <a:pt x="13843888" y="2701544"/>
                  </a:lnTo>
                  <a:cubicBezTo>
                    <a:pt x="13884402" y="2701544"/>
                    <a:pt x="13917295" y="2668778"/>
                    <a:pt x="13917295" y="2628519"/>
                  </a:cubicBezTo>
                  <a:lnTo>
                    <a:pt x="13917295" y="85725"/>
                  </a:lnTo>
                  <a:cubicBezTo>
                    <a:pt x="13917295" y="45466"/>
                    <a:pt x="13884528" y="12700"/>
                    <a:pt x="13843888" y="12700"/>
                  </a:cubicBezTo>
                  <a:lnTo>
                    <a:pt x="86106" y="12700"/>
                  </a:lnTo>
                  <a:lnTo>
                    <a:pt x="86106" y="6350"/>
                  </a:lnTo>
                  <a:lnTo>
                    <a:pt x="86106" y="12700"/>
                  </a:lnTo>
                  <a:cubicBezTo>
                    <a:pt x="45466" y="12700"/>
                    <a:pt x="12700" y="45466"/>
                    <a:pt x="12700" y="85725"/>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85" name="Google Shape;185;p16"/>
          <p:cNvSpPr/>
          <p:nvPr/>
        </p:nvSpPr>
        <p:spPr>
          <a:xfrm>
            <a:off x="647254" y="8086130"/>
            <a:ext cx="425195" cy="425196"/>
          </a:xfrm>
          <a:custGeom>
            <a:avLst/>
            <a:gdLst/>
            <a:ahLst/>
            <a:cxnLst/>
            <a:rect l="l" t="t" r="r" b="b"/>
            <a:pathLst>
              <a:path w="566928" h="566928" extrusionOk="0">
                <a:moveTo>
                  <a:pt x="0" y="283464"/>
                </a:moveTo>
                <a:cubicBezTo>
                  <a:pt x="0" y="126873"/>
                  <a:pt x="126873" y="0"/>
                  <a:pt x="283464" y="0"/>
                </a:cubicBezTo>
                <a:cubicBezTo>
                  <a:pt x="440055" y="0"/>
                  <a:pt x="566928" y="126873"/>
                  <a:pt x="566928" y="283464"/>
                </a:cubicBezTo>
                <a:cubicBezTo>
                  <a:pt x="566928" y="440055"/>
                  <a:pt x="440055" y="566928"/>
                  <a:pt x="283464" y="566928"/>
                </a:cubicBezTo>
                <a:cubicBezTo>
                  <a:pt x="126873" y="566928"/>
                  <a:pt x="0" y="440055"/>
                  <a:pt x="0" y="283464"/>
                </a:cubicBezTo>
                <a:close/>
              </a:path>
            </a:pathLst>
          </a:custGeom>
          <a:solidFill>
            <a:srgbClr val="4950B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6" name="Google Shape;186;p16" descr="preencoded.png"/>
          <p:cNvSpPr/>
          <p:nvPr/>
        </p:nvSpPr>
        <p:spPr>
          <a:xfrm>
            <a:off x="764232" y="8203109"/>
            <a:ext cx="191244" cy="191244"/>
          </a:xfrm>
          <a:custGeom>
            <a:avLst/>
            <a:gdLst/>
            <a:ahLst/>
            <a:cxnLst/>
            <a:rect l="l" t="t" r="r" b="b"/>
            <a:pathLst>
              <a:path w="191244" h="191244" extrusionOk="0">
                <a:moveTo>
                  <a:pt x="0" y="0"/>
                </a:moveTo>
                <a:lnTo>
                  <a:pt x="191244" y="0"/>
                </a:lnTo>
                <a:lnTo>
                  <a:pt x="191244" y="191243"/>
                </a:lnTo>
                <a:lnTo>
                  <a:pt x="0" y="191243"/>
                </a:lnTo>
                <a:lnTo>
                  <a:pt x="0" y="0"/>
                </a:lnTo>
                <a:close/>
              </a:path>
            </a:pathLst>
          </a:custGeom>
          <a:blipFill rotWithShape="1">
            <a:blip r:embed="rId9">
              <a:alphaModFix/>
            </a:blip>
            <a:stretch>
              <a:fillRect l="-7140" r="-714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7" name="Google Shape;187;p16"/>
          <p:cNvSpPr txBox="1"/>
          <p:nvPr/>
        </p:nvSpPr>
        <p:spPr>
          <a:xfrm>
            <a:off x="3796060" y="5958866"/>
            <a:ext cx="7254932" cy="1473609"/>
          </a:xfrm>
          <a:prstGeom prst="rect">
            <a:avLst/>
          </a:prstGeom>
          <a:noFill/>
          <a:ln>
            <a:noFill/>
          </a:ln>
        </p:spPr>
        <p:txBody>
          <a:bodyPr spcFirstLastPara="1" wrap="square" lIns="0" tIns="0" rIns="0" bIns="0" anchor="t" anchorCtr="0">
            <a:spAutoFit/>
          </a:bodyPr>
          <a:lstStyle/>
          <a:p>
            <a:pPr marL="0" marR="0" lvl="0" indent="0" algn="l" rtl="0">
              <a:lnSpc>
                <a:spcPct val="84350"/>
              </a:lnSpc>
              <a:spcBef>
                <a:spcPts val="0"/>
              </a:spcBef>
              <a:spcAft>
                <a:spcPts val="0"/>
              </a:spcAft>
              <a:buNone/>
            </a:pPr>
            <a:r>
              <a:rPr lang="en-US" sz="2000" b="1" dirty="0">
                <a:solidFill>
                  <a:srgbClr val="272525"/>
                </a:solidFill>
                <a:latin typeface="Inter"/>
                <a:ea typeface="Inter"/>
                <a:cs typeface="Inter"/>
                <a:sym typeface="Inter"/>
              </a:rPr>
              <a:t>Capacity Planning</a:t>
            </a:r>
            <a:endParaRPr dirty="0"/>
          </a:p>
          <a:p>
            <a:pPr marL="0" marR="0" lvl="0" indent="0" algn="l" rtl="0">
              <a:lnSpc>
                <a:spcPct val="84350"/>
              </a:lnSpc>
              <a:spcBef>
                <a:spcPts val="0"/>
              </a:spcBef>
              <a:spcAft>
                <a:spcPts val="0"/>
              </a:spcAft>
              <a:buNone/>
            </a:pPr>
            <a:endParaRPr sz="2000" b="1" dirty="0">
              <a:solidFill>
                <a:srgbClr val="272525"/>
              </a:solidFill>
              <a:latin typeface="Inter"/>
              <a:ea typeface="Inter"/>
              <a:cs typeface="Inter"/>
              <a:sym typeface="Inter"/>
            </a:endParaRPr>
          </a:p>
          <a:p>
            <a:pPr marL="0" marR="0" lvl="0" indent="0" algn="l" rtl="0">
              <a:lnSpc>
                <a:spcPct val="84350"/>
              </a:lnSpc>
              <a:spcBef>
                <a:spcPts val="0"/>
              </a:spcBef>
              <a:spcAft>
                <a:spcPts val="0"/>
              </a:spcAft>
              <a:buNone/>
            </a:pPr>
            <a:r>
              <a:rPr lang="en-US" sz="2000" b="1" dirty="0">
                <a:solidFill>
                  <a:srgbClr val="272525"/>
                </a:solidFill>
                <a:latin typeface="Inter"/>
                <a:ea typeface="Inter"/>
                <a:cs typeface="Inter"/>
                <a:sym typeface="Inter"/>
              </a:rPr>
              <a:t>Challenge:</a:t>
            </a:r>
            <a:r>
              <a:rPr lang="en-US" sz="2000" dirty="0">
                <a:solidFill>
                  <a:srgbClr val="272525"/>
                </a:solidFill>
                <a:latin typeface="Inter"/>
                <a:ea typeface="Inter"/>
                <a:cs typeface="Inter"/>
                <a:sym typeface="Inter"/>
              </a:rPr>
              <a:t> Dynamic line rating &amp; optimization</a:t>
            </a:r>
            <a:endParaRPr dirty="0"/>
          </a:p>
          <a:p>
            <a:pPr marL="0" marR="0" lvl="0" indent="0" algn="l" rtl="0">
              <a:lnSpc>
                <a:spcPct val="84350"/>
              </a:lnSpc>
              <a:spcBef>
                <a:spcPts val="0"/>
              </a:spcBef>
              <a:spcAft>
                <a:spcPts val="0"/>
              </a:spcAft>
              <a:buNone/>
            </a:pPr>
            <a:endParaRPr sz="2000" b="1" dirty="0">
              <a:solidFill>
                <a:srgbClr val="272525"/>
              </a:solidFill>
              <a:latin typeface="Inter"/>
              <a:ea typeface="Inter"/>
              <a:cs typeface="Inter"/>
              <a:sym typeface="Inter"/>
            </a:endParaRPr>
          </a:p>
          <a:p>
            <a:pPr marL="0" marR="0" lvl="0" indent="0" algn="l" rtl="0">
              <a:lnSpc>
                <a:spcPct val="84350"/>
              </a:lnSpc>
              <a:spcBef>
                <a:spcPts val="0"/>
              </a:spcBef>
              <a:spcAft>
                <a:spcPts val="0"/>
              </a:spcAft>
              <a:buNone/>
            </a:pPr>
            <a:r>
              <a:rPr lang="en-US" sz="2000" b="1" dirty="0">
                <a:solidFill>
                  <a:srgbClr val="272525"/>
                </a:solidFill>
                <a:latin typeface="Inter"/>
                <a:ea typeface="Inter"/>
                <a:cs typeface="Inter"/>
                <a:sym typeface="Inter"/>
              </a:rPr>
              <a:t>Potential AI Solution:</a:t>
            </a:r>
            <a:r>
              <a:rPr lang="en-US" sz="2000" dirty="0">
                <a:solidFill>
                  <a:srgbClr val="272525"/>
                </a:solidFill>
                <a:latin typeface="Inter"/>
                <a:ea typeface="Inter"/>
                <a:cs typeface="Inter"/>
                <a:sym typeface="Inter"/>
              </a:rPr>
              <a:t> predictive ML &amp; Real-time Analytics</a:t>
            </a:r>
            <a:endParaRPr dirty="0"/>
          </a:p>
          <a:p>
            <a:pPr marL="0" marR="0" lvl="0" indent="0" algn="l" rtl="0">
              <a:lnSpc>
                <a:spcPct val="84350"/>
              </a:lnSpc>
              <a:spcBef>
                <a:spcPts val="0"/>
              </a:spcBef>
              <a:spcAft>
                <a:spcPts val="0"/>
              </a:spcAft>
              <a:buNone/>
            </a:pPr>
            <a:endParaRPr lang="en-US" dirty="0"/>
          </a:p>
        </p:txBody>
      </p:sp>
      <p:sp>
        <p:nvSpPr>
          <p:cNvPr id="188" name="Google Shape;188;p16"/>
          <p:cNvSpPr txBox="1"/>
          <p:nvPr/>
        </p:nvSpPr>
        <p:spPr>
          <a:xfrm>
            <a:off x="3775426" y="8039149"/>
            <a:ext cx="5826964" cy="1732141"/>
          </a:xfrm>
          <a:prstGeom prst="rect">
            <a:avLst/>
          </a:prstGeom>
          <a:noFill/>
          <a:ln>
            <a:noFill/>
          </a:ln>
        </p:spPr>
        <p:txBody>
          <a:bodyPr spcFirstLastPara="1" wrap="square" lIns="0" tIns="0" rIns="0" bIns="0" anchor="t" anchorCtr="0">
            <a:spAutoFit/>
          </a:bodyPr>
          <a:lstStyle/>
          <a:p>
            <a:pPr marL="0" marR="0" lvl="0" indent="0" algn="l" rtl="0">
              <a:lnSpc>
                <a:spcPct val="84350"/>
              </a:lnSpc>
              <a:spcBef>
                <a:spcPts val="0"/>
              </a:spcBef>
              <a:spcAft>
                <a:spcPts val="0"/>
              </a:spcAft>
              <a:buNone/>
            </a:pPr>
            <a:r>
              <a:rPr lang="en-US" sz="2000" b="1" dirty="0">
                <a:solidFill>
                  <a:srgbClr val="272525"/>
                </a:solidFill>
                <a:latin typeface="Inter"/>
                <a:ea typeface="Inter"/>
                <a:cs typeface="Inter"/>
                <a:sym typeface="Inter"/>
              </a:rPr>
              <a:t>Decision Support</a:t>
            </a:r>
            <a:endParaRPr dirty="0"/>
          </a:p>
          <a:p>
            <a:pPr marL="0" marR="0" lvl="0" indent="0" algn="l" rtl="0">
              <a:lnSpc>
                <a:spcPct val="84350"/>
              </a:lnSpc>
              <a:spcBef>
                <a:spcPts val="0"/>
              </a:spcBef>
              <a:spcAft>
                <a:spcPts val="0"/>
              </a:spcAft>
              <a:buNone/>
            </a:pPr>
            <a:endParaRPr sz="2000" b="1" dirty="0">
              <a:solidFill>
                <a:srgbClr val="272525"/>
              </a:solidFill>
              <a:latin typeface="Inter"/>
              <a:ea typeface="Inter"/>
              <a:cs typeface="Inter"/>
              <a:sym typeface="Inter"/>
            </a:endParaRPr>
          </a:p>
          <a:p>
            <a:pPr marL="0" marR="0" lvl="0" indent="0" algn="l" rtl="0">
              <a:lnSpc>
                <a:spcPct val="84350"/>
              </a:lnSpc>
              <a:spcBef>
                <a:spcPts val="0"/>
              </a:spcBef>
              <a:spcAft>
                <a:spcPts val="0"/>
              </a:spcAft>
              <a:buNone/>
            </a:pPr>
            <a:r>
              <a:rPr lang="en-US" sz="2000" b="1" dirty="0">
                <a:solidFill>
                  <a:srgbClr val="272525"/>
                </a:solidFill>
                <a:latin typeface="Inter"/>
                <a:ea typeface="Inter"/>
                <a:cs typeface="Inter"/>
                <a:sym typeface="Inter"/>
              </a:rPr>
              <a:t>Challenge:</a:t>
            </a:r>
            <a:r>
              <a:rPr lang="en-US" sz="2000" dirty="0">
                <a:solidFill>
                  <a:srgbClr val="272525"/>
                </a:solidFill>
                <a:latin typeface="Inter"/>
                <a:ea typeface="Inter"/>
                <a:cs typeface="Inter"/>
                <a:sym typeface="Inter"/>
              </a:rPr>
              <a:t> Multi-stakeholder coordination</a:t>
            </a:r>
            <a:endParaRPr dirty="0"/>
          </a:p>
          <a:p>
            <a:pPr marL="0" marR="0" lvl="0" indent="0" algn="l" rtl="0">
              <a:lnSpc>
                <a:spcPct val="84350"/>
              </a:lnSpc>
              <a:spcBef>
                <a:spcPts val="0"/>
              </a:spcBef>
              <a:spcAft>
                <a:spcPts val="0"/>
              </a:spcAft>
              <a:buNone/>
            </a:pPr>
            <a:endParaRPr sz="2000" b="1" dirty="0">
              <a:solidFill>
                <a:srgbClr val="272525"/>
              </a:solidFill>
              <a:latin typeface="Inter"/>
              <a:ea typeface="Inter"/>
              <a:cs typeface="Inter"/>
              <a:sym typeface="Inter"/>
            </a:endParaRPr>
          </a:p>
          <a:p>
            <a:pPr marL="0" marR="0" lvl="0" indent="0" algn="l" rtl="0">
              <a:lnSpc>
                <a:spcPct val="84350"/>
              </a:lnSpc>
              <a:spcBef>
                <a:spcPts val="0"/>
              </a:spcBef>
              <a:spcAft>
                <a:spcPts val="0"/>
              </a:spcAft>
              <a:buNone/>
            </a:pPr>
            <a:r>
              <a:rPr lang="en-US" sz="2000" b="1" dirty="0">
                <a:solidFill>
                  <a:srgbClr val="272525"/>
                </a:solidFill>
                <a:latin typeface="Inter"/>
                <a:ea typeface="Inter"/>
                <a:cs typeface="Inter"/>
                <a:sym typeface="Inter"/>
              </a:rPr>
              <a:t>Potential AI Solution:</a:t>
            </a:r>
            <a:r>
              <a:rPr lang="en-US" sz="2000" dirty="0">
                <a:solidFill>
                  <a:srgbClr val="272525"/>
                </a:solidFill>
                <a:latin typeface="Inter"/>
                <a:ea typeface="Inter"/>
                <a:cs typeface="Inter"/>
                <a:sym typeface="Inter"/>
              </a:rPr>
              <a:t> Multi-Agent Systems</a:t>
            </a:r>
            <a:endParaRPr dirty="0"/>
          </a:p>
          <a:p>
            <a:pPr marL="0" marR="0" lvl="0" indent="0" algn="l" rtl="0">
              <a:lnSpc>
                <a:spcPct val="84350"/>
              </a:lnSpc>
              <a:spcBef>
                <a:spcPts val="0"/>
              </a:spcBef>
              <a:spcAft>
                <a:spcPts val="0"/>
              </a:spcAft>
              <a:buNone/>
            </a:pPr>
            <a:endParaRPr lang="en-US" sz="2000" b="1" dirty="0">
              <a:solidFill>
                <a:srgbClr val="272525"/>
              </a:solidFill>
              <a:latin typeface="Inter"/>
              <a:ea typeface="Inter"/>
              <a:cs typeface="Inter"/>
              <a:sym typeface="Inter"/>
            </a:endParaRPr>
          </a:p>
          <a:p>
            <a:pPr marL="0" marR="0" lvl="0" indent="0" algn="l" rtl="0">
              <a:lnSpc>
                <a:spcPct val="84350"/>
              </a:lnSpc>
              <a:spcBef>
                <a:spcPts val="0"/>
              </a:spcBef>
              <a:spcAft>
                <a:spcPts val="0"/>
              </a:spcAft>
              <a:buNone/>
            </a:pPr>
            <a:endParaRPr lang="en-US" dirty="0"/>
          </a:p>
        </p:txBody>
      </p:sp>
      <p:sp>
        <p:nvSpPr>
          <p:cNvPr id="2" name="TextBox 1">
            <a:extLst>
              <a:ext uri="{FF2B5EF4-FFF2-40B4-BE49-F238E27FC236}">
                <a16:creationId xmlns:a16="http://schemas.microsoft.com/office/drawing/2014/main" id="{F071779B-866A-A9A7-D84B-424B45B8FE35}"/>
              </a:ext>
            </a:extLst>
          </p:cNvPr>
          <p:cNvSpPr txBox="1"/>
          <p:nvPr/>
        </p:nvSpPr>
        <p:spPr>
          <a:xfrm>
            <a:off x="1918684" y="1144059"/>
            <a:ext cx="906403" cy="2123658"/>
          </a:xfrm>
          <a:prstGeom prst="rect">
            <a:avLst/>
          </a:prstGeom>
          <a:noFill/>
        </p:spPr>
        <p:txBody>
          <a:bodyPr wrap="square" rtlCol="0">
            <a:spAutoFit/>
          </a:bodyPr>
          <a:lstStyle/>
          <a:p>
            <a:r>
              <a:rPr lang="en-IN" dirty="0"/>
              <a:t>Phase</a:t>
            </a:r>
            <a:r>
              <a:rPr lang="en-IN" sz="6600" dirty="0"/>
              <a:t> 1</a:t>
            </a:r>
            <a:endParaRPr lang="en-IN" dirty="0"/>
          </a:p>
        </p:txBody>
      </p:sp>
      <p:sp>
        <p:nvSpPr>
          <p:cNvPr id="3" name="TextBox 2">
            <a:extLst>
              <a:ext uri="{FF2B5EF4-FFF2-40B4-BE49-F238E27FC236}">
                <a16:creationId xmlns:a16="http://schemas.microsoft.com/office/drawing/2014/main" id="{CE7084BE-0F1B-A81E-975B-AF95CC6C844C}"/>
              </a:ext>
            </a:extLst>
          </p:cNvPr>
          <p:cNvSpPr txBox="1"/>
          <p:nvPr/>
        </p:nvSpPr>
        <p:spPr>
          <a:xfrm>
            <a:off x="1918684" y="3256297"/>
            <a:ext cx="906403" cy="2123658"/>
          </a:xfrm>
          <a:prstGeom prst="rect">
            <a:avLst/>
          </a:prstGeom>
          <a:noFill/>
        </p:spPr>
        <p:txBody>
          <a:bodyPr wrap="square" rtlCol="0">
            <a:spAutoFit/>
          </a:bodyPr>
          <a:lstStyle/>
          <a:p>
            <a:r>
              <a:rPr lang="en-IN" dirty="0"/>
              <a:t>Phase</a:t>
            </a:r>
            <a:r>
              <a:rPr lang="en-IN" sz="6600" dirty="0"/>
              <a:t> 2</a:t>
            </a:r>
            <a:endParaRPr lang="en-IN" dirty="0"/>
          </a:p>
        </p:txBody>
      </p:sp>
      <p:sp>
        <p:nvSpPr>
          <p:cNvPr id="4" name="TextBox 3">
            <a:extLst>
              <a:ext uri="{FF2B5EF4-FFF2-40B4-BE49-F238E27FC236}">
                <a16:creationId xmlns:a16="http://schemas.microsoft.com/office/drawing/2014/main" id="{852FB46D-CE8D-E31A-71D3-E926D2362FD1}"/>
              </a:ext>
            </a:extLst>
          </p:cNvPr>
          <p:cNvSpPr txBox="1"/>
          <p:nvPr/>
        </p:nvSpPr>
        <p:spPr>
          <a:xfrm>
            <a:off x="1916113" y="5485341"/>
            <a:ext cx="906403" cy="2123658"/>
          </a:xfrm>
          <a:prstGeom prst="rect">
            <a:avLst/>
          </a:prstGeom>
          <a:noFill/>
        </p:spPr>
        <p:txBody>
          <a:bodyPr wrap="square" rtlCol="0">
            <a:spAutoFit/>
          </a:bodyPr>
          <a:lstStyle/>
          <a:p>
            <a:r>
              <a:rPr lang="en-IN" dirty="0"/>
              <a:t>Phase</a:t>
            </a:r>
            <a:r>
              <a:rPr lang="en-IN" sz="6600" dirty="0"/>
              <a:t> 3</a:t>
            </a:r>
            <a:endParaRPr lang="en-IN" dirty="0"/>
          </a:p>
        </p:txBody>
      </p:sp>
      <p:sp>
        <p:nvSpPr>
          <p:cNvPr id="5" name="TextBox 4">
            <a:extLst>
              <a:ext uri="{FF2B5EF4-FFF2-40B4-BE49-F238E27FC236}">
                <a16:creationId xmlns:a16="http://schemas.microsoft.com/office/drawing/2014/main" id="{FC384E8D-81AB-BE2B-68FF-EFC9BB69F27F}"/>
              </a:ext>
            </a:extLst>
          </p:cNvPr>
          <p:cNvSpPr txBox="1"/>
          <p:nvPr/>
        </p:nvSpPr>
        <p:spPr>
          <a:xfrm>
            <a:off x="1875553" y="7586158"/>
            <a:ext cx="906403" cy="2123658"/>
          </a:xfrm>
          <a:prstGeom prst="rect">
            <a:avLst/>
          </a:prstGeom>
          <a:noFill/>
        </p:spPr>
        <p:txBody>
          <a:bodyPr wrap="square" rtlCol="0">
            <a:spAutoFit/>
          </a:bodyPr>
          <a:lstStyle/>
          <a:p>
            <a:r>
              <a:rPr lang="en-IN" dirty="0"/>
              <a:t>Phase</a:t>
            </a:r>
            <a:r>
              <a:rPr lang="en-IN" sz="6600" dirty="0"/>
              <a:t> 4</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Capstone Scope</a:t>
            </a:r>
            <a:endParaRPr dirty="0">
              <a:latin typeface="Verdana" panose="020B0604030504040204" pitchFamily="34" charset="0"/>
              <a:ea typeface="Verdana" panose="020B0604030504040204" pitchFamily="34" charset="0"/>
            </a:endParaRPr>
          </a:p>
        </p:txBody>
      </p:sp>
      <p:sp>
        <p:nvSpPr>
          <p:cNvPr id="4" name="Google Shape;98;p14">
            <a:extLst>
              <a:ext uri="{FF2B5EF4-FFF2-40B4-BE49-F238E27FC236}">
                <a16:creationId xmlns:a16="http://schemas.microsoft.com/office/drawing/2014/main" id="{02BD301F-2903-572E-104B-ADDC72C0DA49}"/>
              </a:ext>
            </a:extLst>
          </p:cNvPr>
          <p:cNvSpPr txBox="1"/>
          <p:nvPr/>
        </p:nvSpPr>
        <p:spPr>
          <a:xfrm>
            <a:off x="667048" y="1621066"/>
            <a:ext cx="13298664" cy="2277547"/>
          </a:xfrm>
          <a:prstGeom prst="rect">
            <a:avLst/>
          </a:prstGeom>
          <a:noFill/>
          <a:ln>
            <a:noFill/>
          </a:ln>
        </p:spPr>
        <p:txBody>
          <a:bodyPr spcFirstLastPara="1" wrap="square" lIns="0" tIns="0" rIns="0" bIns="0" anchor="t" anchorCtr="0">
            <a:spAutoFit/>
          </a:bodyPr>
          <a:lstStyle/>
          <a:p>
            <a:pPr marL="457200" indent="-457200" algn="l">
              <a:buFont typeface="Arial" panose="020B0604020202020204" pitchFamily="34" charset="0"/>
              <a:buChar char="•"/>
            </a:pPr>
            <a:r>
              <a:rPr lang="en-IN" sz="4000" dirty="0">
                <a:solidFill>
                  <a:srgbClr val="272525"/>
                </a:solidFill>
                <a:latin typeface="Verdana" panose="020B0604030504040204" pitchFamily="34" charset="0"/>
                <a:ea typeface="Verdana" panose="020B0604030504040204" pitchFamily="34" charset="0"/>
                <a:cs typeface="Inter"/>
                <a:sym typeface="Inter"/>
              </a:rPr>
              <a:t>Minimal implementation of </a:t>
            </a:r>
            <a:r>
              <a:rPr lang="en-IN" sz="4000" b="1" dirty="0">
                <a:solidFill>
                  <a:srgbClr val="272525"/>
                </a:solidFill>
                <a:latin typeface="Verdana" panose="020B0604030504040204" pitchFamily="34" charset="0"/>
                <a:ea typeface="Verdana" panose="020B0604030504040204" pitchFamily="34" charset="0"/>
                <a:cs typeface="Inter"/>
                <a:sym typeface="Inter"/>
              </a:rPr>
              <a:t>Phase – 1</a:t>
            </a:r>
            <a:r>
              <a:rPr lang="en-IN" sz="4000" dirty="0">
                <a:solidFill>
                  <a:srgbClr val="272525"/>
                </a:solidFill>
                <a:latin typeface="Verdana" panose="020B0604030504040204" pitchFamily="34" charset="0"/>
                <a:ea typeface="Verdana" panose="020B0604030504040204" pitchFamily="34" charset="0"/>
                <a:cs typeface="Inter"/>
                <a:sym typeface="Inter"/>
              </a:rPr>
              <a:t> is considered as scope of the capstone project by considering 08</a:t>
            </a:r>
            <a:r>
              <a:rPr lang="en-IN" sz="4000" baseline="30000" dirty="0">
                <a:solidFill>
                  <a:srgbClr val="272525"/>
                </a:solidFill>
                <a:latin typeface="Verdana" panose="020B0604030504040204" pitchFamily="34" charset="0"/>
                <a:ea typeface="Verdana" panose="020B0604030504040204" pitchFamily="34" charset="0"/>
                <a:cs typeface="Inter"/>
                <a:sym typeface="Inter"/>
              </a:rPr>
              <a:t>th</a:t>
            </a:r>
            <a:r>
              <a:rPr lang="en-IN" sz="4000" dirty="0">
                <a:solidFill>
                  <a:srgbClr val="272525"/>
                </a:solidFill>
                <a:latin typeface="Verdana" panose="020B0604030504040204" pitchFamily="34" charset="0"/>
                <a:ea typeface="Verdana" panose="020B0604030504040204" pitchFamily="34" charset="0"/>
                <a:cs typeface="Inter"/>
                <a:sym typeface="Inter"/>
              </a:rPr>
              <a:t> Nov 2025 timeline.  </a:t>
            </a:r>
            <a:endParaRPr lang="en-IN" sz="40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p:txBody>
      </p:sp>
    </p:spTree>
    <p:extLst>
      <p:ext uri="{BB962C8B-B14F-4D97-AF65-F5344CB8AC3E}">
        <p14:creationId xmlns:p14="http://schemas.microsoft.com/office/powerpoint/2010/main" val="2792319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7"/>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6F4F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 name="Google Shape;194;p17"/>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5" name="Google Shape;195;p17"/>
          <p:cNvSpPr txBox="1"/>
          <p:nvPr/>
        </p:nvSpPr>
        <p:spPr>
          <a:xfrm>
            <a:off x="567630" y="426988"/>
            <a:ext cx="9227641" cy="525959"/>
          </a:xfrm>
          <a:prstGeom prst="rect">
            <a:avLst/>
          </a:prstGeom>
          <a:noFill/>
          <a:ln>
            <a:noFill/>
          </a:ln>
        </p:spPr>
        <p:txBody>
          <a:bodyPr spcFirstLastPara="1" wrap="square" lIns="0" tIns="0" rIns="0" bIns="0" anchor="t" anchorCtr="0">
            <a:spAutoFit/>
          </a:bodyPr>
          <a:lstStyle/>
          <a:p>
            <a:pPr marL="0" marR="0" lvl="0" indent="0" algn="l" rtl="0">
              <a:lnSpc>
                <a:spcPct val="123533"/>
              </a:lnSpc>
              <a:spcBef>
                <a:spcPts val="0"/>
              </a:spcBef>
              <a:spcAft>
                <a:spcPts val="0"/>
              </a:spcAft>
              <a:buNone/>
            </a:pPr>
            <a:r>
              <a:rPr lang="en-US" sz="3187" b="1" dirty="0">
                <a:solidFill>
                  <a:srgbClr val="000000"/>
                </a:solidFill>
                <a:latin typeface="Inter"/>
                <a:ea typeface="Inter"/>
                <a:cs typeface="Inter"/>
                <a:sym typeface="Inter"/>
              </a:rPr>
              <a:t>Challenge 1: Application Document Processing</a:t>
            </a:r>
            <a:endParaRPr dirty="0"/>
          </a:p>
        </p:txBody>
      </p:sp>
      <p:sp>
        <p:nvSpPr>
          <p:cNvPr id="196" name="Google Shape;196;p17" descr="preencoded.png"/>
          <p:cNvSpPr/>
          <p:nvPr/>
        </p:nvSpPr>
        <p:spPr>
          <a:xfrm>
            <a:off x="567630" y="1378595"/>
            <a:ext cx="6413944" cy="4784312"/>
          </a:xfrm>
          <a:custGeom>
            <a:avLst/>
            <a:gdLst/>
            <a:ahLst/>
            <a:cxnLst/>
            <a:rect l="l" t="t" r="r" b="b"/>
            <a:pathLst>
              <a:path w="8551926" h="6379083" extrusionOk="0">
                <a:moveTo>
                  <a:pt x="0" y="0"/>
                </a:moveTo>
                <a:lnTo>
                  <a:pt x="8551926" y="0"/>
                </a:lnTo>
                <a:lnTo>
                  <a:pt x="8551926" y="6379083"/>
                </a:lnTo>
                <a:lnTo>
                  <a:pt x="0" y="6379083"/>
                </a:lnTo>
                <a:lnTo>
                  <a:pt x="0" y="0"/>
                </a:lnTo>
                <a:close/>
              </a:path>
            </a:pathLst>
          </a:custGeom>
          <a:blipFill rotWithShape="1">
            <a:blip r:embed="rId3">
              <a:alphaModFix/>
            </a:blip>
            <a:stretch>
              <a:fillRect t="-17029" b="-1702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7" name="Google Shape;197;p17"/>
          <p:cNvSpPr txBox="1"/>
          <p:nvPr/>
        </p:nvSpPr>
        <p:spPr>
          <a:xfrm>
            <a:off x="7549204" y="1378595"/>
            <a:ext cx="9548515" cy="4442306"/>
          </a:xfrm>
          <a:prstGeom prst="rect">
            <a:avLst/>
          </a:prstGeom>
          <a:noFill/>
          <a:ln>
            <a:noFill/>
          </a:ln>
        </p:spPr>
        <p:txBody>
          <a:bodyPr spcFirstLastPara="1" wrap="square" lIns="0" tIns="0" rIns="0" bIns="0" anchor="t" anchorCtr="0">
            <a:spAutoFit/>
          </a:bodyPr>
          <a:lstStyle/>
          <a:p>
            <a:pPr marL="0" marR="0" lvl="0" indent="0" algn="l" rtl="0">
              <a:lnSpc>
                <a:spcPct val="118750"/>
              </a:lnSpc>
              <a:spcBef>
                <a:spcPts val="0"/>
              </a:spcBef>
              <a:spcAft>
                <a:spcPts val="0"/>
              </a:spcAft>
              <a:buNone/>
            </a:pPr>
            <a:endParaRPr sz="2000" b="1" dirty="0">
              <a:solidFill>
                <a:srgbClr val="000000"/>
              </a:solidFill>
              <a:latin typeface="Inter"/>
              <a:ea typeface="Inter"/>
              <a:cs typeface="Inter"/>
              <a:sym typeface="Inter"/>
            </a:endParaRPr>
          </a:p>
          <a:p>
            <a:pPr marL="0" marR="0" lvl="0" indent="0" algn="l" rtl="0">
              <a:lnSpc>
                <a:spcPct val="118750"/>
              </a:lnSpc>
              <a:spcBef>
                <a:spcPts val="0"/>
              </a:spcBef>
              <a:spcAft>
                <a:spcPts val="0"/>
              </a:spcAft>
              <a:buNone/>
            </a:pPr>
            <a:r>
              <a:rPr lang="en-US" sz="2000" b="1" dirty="0">
                <a:solidFill>
                  <a:srgbClr val="000000"/>
                </a:solidFill>
                <a:latin typeface="Inter"/>
                <a:ea typeface="Inter"/>
                <a:cs typeface="Inter"/>
                <a:sym typeface="Inter"/>
              </a:rPr>
              <a:t>The Problem</a:t>
            </a:r>
            <a:endParaRPr dirty="0"/>
          </a:p>
          <a:p>
            <a:pPr marL="0" marR="0" lvl="0" indent="0" algn="l" rtl="0">
              <a:lnSpc>
                <a:spcPct val="98958"/>
              </a:lnSpc>
              <a:spcBef>
                <a:spcPts val="0"/>
              </a:spcBef>
              <a:spcAft>
                <a:spcPts val="0"/>
              </a:spcAft>
              <a:buNone/>
            </a:pPr>
            <a:endParaRPr sz="2400" dirty="0">
              <a:solidFill>
                <a:srgbClr val="272525"/>
              </a:solidFill>
              <a:latin typeface="Inter"/>
              <a:ea typeface="Inter"/>
              <a:cs typeface="Inter"/>
              <a:sym typeface="Inter"/>
            </a:endParaRPr>
          </a:p>
          <a:p>
            <a:pPr marL="0" marR="0" lvl="0" indent="0" algn="l" rtl="0">
              <a:lnSpc>
                <a:spcPct val="98958"/>
              </a:lnSpc>
              <a:spcBef>
                <a:spcPts val="0"/>
              </a:spcBef>
              <a:spcAft>
                <a:spcPts val="0"/>
              </a:spcAft>
              <a:buNone/>
            </a:pPr>
            <a:r>
              <a:rPr lang="en-US" sz="2400" dirty="0">
                <a:solidFill>
                  <a:srgbClr val="272525"/>
                </a:solidFill>
                <a:latin typeface="Inter"/>
                <a:ea typeface="Inter"/>
                <a:cs typeface="Inter"/>
                <a:sym typeface="Inter"/>
              </a:rPr>
              <a:t>Manual review of thousands of pages including technical specifications, grid studies, environmental reports, and compliance documentation creates severe processing delays.</a:t>
            </a:r>
            <a:endParaRPr dirty="0"/>
          </a:p>
          <a:p>
            <a:pPr marL="0" marR="0" lvl="0" indent="0" algn="l" rtl="0">
              <a:lnSpc>
                <a:spcPct val="98958"/>
              </a:lnSpc>
              <a:spcBef>
                <a:spcPts val="0"/>
              </a:spcBef>
              <a:spcAft>
                <a:spcPts val="0"/>
              </a:spcAft>
              <a:buNone/>
            </a:pPr>
            <a:endParaRPr sz="2400" dirty="0">
              <a:solidFill>
                <a:srgbClr val="272525"/>
              </a:solidFill>
              <a:latin typeface="Inter"/>
              <a:ea typeface="Inter"/>
              <a:cs typeface="Inter"/>
              <a:sym typeface="Inter"/>
            </a:endParaRPr>
          </a:p>
          <a:p>
            <a:pPr marL="0" marR="0" lvl="0" indent="0" algn="l" rtl="0">
              <a:lnSpc>
                <a:spcPct val="98958"/>
              </a:lnSpc>
              <a:spcBef>
                <a:spcPts val="0"/>
              </a:spcBef>
              <a:spcAft>
                <a:spcPts val="0"/>
              </a:spcAft>
              <a:buNone/>
            </a:pPr>
            <a:endParaRPr sz="2400" dirty="0">
              <a:solidFill>
                <a:srgbClr val="272525"/>
              </a:solidFill>
              <a:latin typeface="Inter"/>
              <a:ea typeface="Inter"/>
              <a:cs typeface="Inter"/>
              <a:sym typeface="Inter"/>
            </a:endParaRPr>
          </a:p>
          <a:p>
            <a:pPr marL="0" marR="0" lvl="0" indent="0" algn="l" rtl="0">
              <a:lnSpc>
                <a:spcPct val="98958"/>
              </a:lnSpc>
              <a:spcBef>
                <a:spcPts val="0"/>
              </a:spcBef>
              <a:spcAft>
                <a:spcPts val="0"/>
              </a:spcAft>
              <a:buNone/>
            </a:pPr>
            <a:endParaRPr sz="2400" dirty="0">
              <a:solidFill>
                <a:srgbClr val="272525"/>
              </a:solidFill>
              <a:latin typeface="Inter"/>
              <a:ea typeface="Inter"/>
              <a:cs typeface="Inter"/>
              <a:sym typeface="Inter"/>
            </a:endParaRPr>
          </a:p>
          <a:p>
            <a:pPr marL="0" marR="0" lvl="0" indent="0" algn="l" rtl="0">
              <a:lnSpc>
                <a:spcPct val="98958"/>
              </a:lnSpc>
              <a:spcBef>
                <a:spcPts val="0"/>
              </a:spcBef>
              <a:spcAft>
                <a:spcPts val="0"/>
              </a:spcAft>
              <a:buNone/>
            </a:pPr>
            <a:r>
              <a:rPr lang="en-US" sz="2400" b="1" dirty="0">
                <a:solidFill>
                  <a:srgbClr val="272525"/>
                </a:solidFill>
                <a:latin typeface="Inter"/>
                <a:ea typeface="Inter"/>
                <a:cs typeface="Inter"/>
                <a:sym typeface="Inter"/>
              </a:rPr>
              <a:t>Current State</a:t>
            </a:r>
            <a:endParaRPr dirty="0"/>
          </a:p>
          <a:p>
            <a:pPr marL="0" marR="0" lvl="0" indent="0" algn="l" rtl="0">
              <a:lnSpc>
                <a:spcPct val="98958"/>
              </a:lnSpc>
              <a:spcBef>
                <a:spcPts val="0"/>
              </a:spcBef>
              <a:spcAft>
                <a:spcPts val="0"/>
              </a:spcAft>
              <a:buNone/>
            </a:pPr>
            <a:endParaRPr sz="2400" dirty="0">
              <a:solidFill>
                <a:srgbClr val="272525"/>
              </a:solidFill>
              <a:latin typeface="Inter"/>
              <a:ea typeface="Inter"/>
              <a:cs typeface="Inter"/>
              <a:sym typeface="Inter"/>
            </a:endParaRPr>
          </a:p>
          <a:p>
            <a:pPr marL="0" marR="0" lvl="0" indent="0" algn="l" rtl="0">
              <a:lnSpc>
                <a:spcPct val="83333"/>
              </a:lnSpc>
              <a:spcBef>
                <a:spcPts val="0"/>
              </a:spcBef>
              <a:spcAft>
                <a:spcPts val="0"/>
              </a:spcAft>
              <a:buNone/>
            </a:pPr>
            <a:r>
              <a:rPr lang="en-US" sz="2400" dirty="0">
                <a:solidFill>
                  <a:srgbClr val="272525"/>
                </a:solidFill>
                <a:latin typeface="Inter"/>
                <a:ea typeface="Inter"/>
                <a:cs typeface="Inter"/>
                <a:sym typeface="Inter"/>
              </a:rPr>
              <a:t>Applications take weeks to months per review with high error rates, inconsistent standards across reviewers, and frequent rework cycles.</a:t>
            </a:r>
            <a:endParaRPr dirty="0"/>
          </a:p>
          <a:p>
            <a:pPr marL="0" marR="0" lvl="0" indent="0" algn="l" rtl="0">
              <a:lnSpc>
                <a:spcPct val="126734"/>
              </a:lnSpc>
              <a:spcBef>
                <a:spcPts val="0"/>
              </a:spcBef>
              <a:spcAft>
                <a:spcPts val="0"/>
              </a:spcAft>
              <a:buNone/>
            </a:pPr>
            <a:endParaRPr sz="1874" b="1" dirty="0">
              <a:solidFill>
                <a:srgbClr val="000000"/>
              </a:solidFill>
              <a:latin typeface="Inter"/>
              <a:ea typeface="Inter"/>
              <a:cs typeface="Inter"/>
              <a:sym typeface="Inter"/>
            </a:endParaRPr>
          </a:p>
        </p:txBody>
      </p:sp>
      <p:grpSp>
        <p:nvGrpSpPr>
          <p:cNvPr id="198" name="Google Shape;198;p17"/>
          <p:cNvGrpSpPr/>
          <p:nvPr/>
        </p:nvGrpSpPr>
        <p:grpSpPr>
          <a:xfrm>
            <a:off x="454744" y="6678875"/>
            <a:ext cx="17162337" cy="1896904"/>
            <a:chOff x="0" y="0"/>
            <a:chExt cx="22883115" cy="2529205"/>
          </a:xfrm>
        </p:grpSpPr>
        <p:sp>
          <p:nvSpPr>
            <p:cNvPr id="199" name="Google Shape;199;p17"/>
            <p:cNvSpPr/>
            <p:nvPr/>
          </p:nvSpPr>
          <p:spPr>
            <a:xfrm>
              <a:off x="6350" y="6350"/>
              <a:ext cx="22870415" cy="2516505"/>
            </a:xfrm>
            <a:custGeom>
              <a:avLst/>
              <a:gdLst/>
              <a:ahLst/>
              <a:cxnLst/>
              <a:rect l="l" t="t" r="r" b="b"/>
              <a:pathLst>
                <a:path w="22870415" h="2516505" extrusionOk="0">
                  <a:moveTo>
                    <a:pt x="0" y="90805"/>
                  </a:moveTo>
                  <a:cubicBezTo>
                    <a:pt x="0" y="40640"/>
                    <a:pt x="40894" y="0"/>
                    <a:pt x="91313" y="0"/>
                  </a:cubicBezTo>
                  <a:lnTo>
                    <a:pt x="22779101" y="0"/>
                  </a:lnTo>
                  <a:cubicBezTo>
                    <a:pt x="22829520" y="0"/>
                    <a:pt x="22870415" y="40640"/>
                    <a:pt x="22870415" y="90805"/>
                  </a:cubicBezTo>
                  <a:lnTo>
                    <a:pt x="22870415" y="2425700"/>
                  </a:lnTo>
                  <a:cubicBezTo>
                    <a:pt x="22870415" y="2475865"/>
                    <a:pt x="22829520" y="2516505"/>
                    <a:pt x="22779101" y="2516505"/>
                  </a:cubicBezTo>
                  <a:lnTo>
                    <a:pt x="91313" y="2516505"/>
                  </a:lnTo>
                  <a:cubicBezTo>
                    <a:pt x="40894" y="2516505"/>
                    <a:pt x="0" y="2475865"/>
                    <a:pt x="0" y="2425700"/>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0" name="Google Shape;200;p17"/>
            <p:cNvSpPr/>
            <p:nvPr/>
          </p:nvSpPr>
          <p:spPr>
            <a:xfrm>
              <a:off x="0" y="0"/>
              <a:ext cx="22883115" cy="2529205"/>
            </a:xfrm>
            <a:custGeom>
              <a:avLst/>
              <a:gdLst/>
              <a:ahLst/>
              <a:cxnLst/>
              <a:rect l="l" t="t" r="r" b="b"/>
              <a:pathLst>
                <a:path w="22883115" h="2529205" extrusionOk="0">
                  <a:moveTo>
                    <a:pt x="0" y="97155"/>
                  </a:moveTo>
                  <a:cubicBezTo>
                    <a:pt x="0" y="43434"/>
                    <a:pt x="43688" y="0"/>
                    <a:pt x="97663" y="0"/>
                  </a:cubicBezTo>
                  <a:lnTo>
                    <a:pt x="22785451" y="0"/>
                  </a:lnTo>
                  <a:lnTo>
                    <a:pt x="22785451" y="6350"/>
                  </a:lnTo>
                  <a:lnTo>
                    <a:pt x="22785451" y="0"/>
                  </a:lnTo>
                  <a:cubicBezTo>
                    <a:pt x="22839299" y="0"/>
                    <a:pt x="22883115" y="43434"/>
                    <a:pt x="22883115" y="97155"/>
                  </a:cubicBezTo>
                  <a:lnTo>
                    <a:pt x="22876765" y="97155"/>
                  </a:lnTo>
                  <a:lnTo>
                    <a:pt x="22883115" y="97155"/>
                  </a:lnTo>
                  <a:lnTo>
                    <a:pt x="22883115" y="2432050"/>
                  </a:lnTo>
                  <a:lnTo>
                    <a:pt x="22876765" y="2432050"/>
                  </a:lnTo>
                  <a:lnTo>
                    <a:pt x="22883115" y="2432050"/>
                  </a:lnTo>
                  <a:cubicBezTo>
                    <a:pt x="22883115" y="2485771"/>
                    <a:pt x="22839426" y="2529205"/>
                    <a:pt x="22785451" y="2529205"/>
                  </a:cubicBezTo>
                  <a:lnTo>
                    <a:pt x="22785451" y="2522855"/>
                  </a:lnTo>
                  <a:lnTo>
                    <a:pt x="22785451" y="2529205"/>
                  </a:lnTo>
                  <a:lnTo>
                    <a:pt x="97663" y="2529205"/>
                  </a:lnTo>
                  <a:lnTo>
                    <a:pt x="97663" y="2522855"/>
                  </a:lnTo>
                  <a:lnTo>
                    <a:pt x="97663" y="2529205"/>
                  </a:lnTo>
                  <a:cubicBezTo>
                    <a:pt x="43815" y="2529205"/>
                    <a:pt x="0" y="2485771"/>
                    <a:pt x="0" y="2432050"/>
                  </a:cubicBezTo>
                  <a:lnTo>
                    <a:pt x="0" y="97155"/>
                  </a:lnTo>
                  <a:lnTo>
                    <a:pt x="6350" y="97155"/>
                  </a:lnTo>
                  <a:lnTo>
                    <a:pt x="0" y="97155"/>
                  </a:lnTo>
                  <a:moveTo>
                    <a:pt x="12700" y="97155"/>
                  </a:moveTo>
                  <a:lnTo>
                    <a:pt x="12700" y="2432050"/>
                  </a:lnTo>
                  <a:lnTo>
                    <a:pt x="6350" y="2432050"/>
                  </a:lnTo>
                  <a:lnTo>
                    <a:pt x="12700" y="2432050"/>
                  </a:lnTo>
                  <a:cubicBezTo>
                    <a:pt x="12700" y="2478659"/>
                    <a:pt x="50673" y="2516505"/>
                    <a:pt x="97663" y="2516505"/>
                  </a:cubicBezTo>
                  <a:lnTo>
                    <a:pt x="22785451" y="2516505"/>
                  </a:lnTo>
                  <a:cubicBezTo>
                    <a:pt x="22832315" y="2516505"/>
                    <a:pt x="22870415" y="2478659"/>
                    <a:pt x="22870415" y="2432050"/>
                  </a:cubicBezTo>
                  <a:lnTo>
                    <a:pt x="22870415" y="97155"/>
                  </a:lnTo>
                  <a:cubicBezTo>
                    <a:pt x="22870415" y="50546"/>
                    <a:pt x="22832440" y="12700"/>
                    <a:pt x="22785451" y="12700"/>
                  </a:cubicBezTo>
                  <a:lnTo>
                    <a:pt x="97663" y="12700"/>
                  </a:lnTo>
                  <a:lnTo>
                    <a:pt x="97663" y="6350"/>
                  </a:lnTo>
                  <a:lnTo>
                    <a:pt x="97663" y="12700"/>
                  </a:lnTo>
                  <a:cubicBezTo>
                    <a:pt x="50673" y="12700"/>
                    <a:pt x="12700" y="50546"/>
                    <a:pt x="12700" y="97155"/>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01" name="Google Shape;201;p17"/>
          <p:cNvSpPr/>
          <p:nvPr/>
        </p:nvSpPr>
        <p:spPr>
          <a:xfrm>
            <a:off x="469031" y="6693162"/>
            <a:ext cx="8566785" cy="934212"/>
          </a:xfrm>
          <a:custGeom>
            <a:avLst/>
            <a:gdLst/>
            <a:ahLst/>
            <a:cxnLst/>
            <a:rect l="l" t="t" r="r" b="b"/>
            <a:pathLst>
              <a:path w="11422380" h="1245616" extrusionOk="0">
                <a:moveTo>
                  <a:pt x="0" y="90805"/>
                </a:moveTo>
                <a:cubicBezTo>
                  <a:pt x="0" y="40640"/>
                  <a:pt x="40640" y="0"/>
                  <a:pt x="90805" y="0"/>
                </a:cubicBezTo>
                <a:lnTo>
                  <a:pt x="11331575" y="0"/>
                </a:lnTo>
                <a:cubicBezTo>
                  <a:pt x="11381739" y="0"/>
                  <a:pt x="11422380" y="40640"/>
                  <a:pt x="11422380" y="90805"/>
                </a:cubicBezTo>
                <a:lnTo>
                  <a:pt x="11422380" y="1154811"/>
                </a:lnTo>
                <a:cubicBezTo>
                  <a:pt x="11422380" y="1204976"/>
                  <a:pt x="11381739" y="1245616"/>
                  <a:pt x="11331575" y="1245616"/>
                </a:cubicBezTo>
                <a:lnTo>
                  <a:pt x="90805" y="1245616"/>
                </a:lnTo>
                <a:cubicBezTo>
                  <a:pt x="40640" y="1245616"/>
                  <a:pt x="0" y="1204976"/>
                  <a:pt x="0" y="1154811"/>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2" name="Google Shape;202;p17"/>
          <p:cNvSpPr txBox="1"/>
          <p:nvPr/>
        </p:nvSpPr>
        <p:spPr>
          <a:xfrm>
            <a:off x="631105" y="6845711"/>
            <a:ext cx="2027635" cy="262830"/>
          </a:xfrm>
          <a:prstGeom prst="rect">
            <a:avLst/>
          </a:prstGeom>
          <a:noFill/>
          <a:ln>
            <a:noFill/>
          </a:ln>
        </p:spPr>
        <p:txBody>
          <a:bodyPr spcFirstLastPara="1" wrap="square" lIns="0" tIns="0" rIns="0" bIns="0" anchor="t" anchorCtr="0">
            <a:spAutoFit/>
          </a:bodyPr>
          <a:lstStyle/>
          <a:p>
            <a:pPr marL="0" marR="0" lvl="0" indent="0" algn="l" rtl="0">
              <a:lnSpc>
                <a:spcPct val="124007"/>
              </a:lnSpc>
              <a:spcBef>
                <a:spcPts val="0"/>
              </a:spcBef>
              <a:spcAft>
                <a:spcPts val="0"/>
              </a:spcAft>
              <a:buNone/>
            </a:pPr>
            <a:r>
              <a:rPr lang="en-US" sz="1562" b="1" dirty="0">
                <a:solidFill>
                  <a:srgbClr val="272525"/>
                </a:solidFill>
                <a:latin typeface="Inter"/>
                <a:ea typeface="Inter"/>
                <a:cs typeface="Inter"/>
                <a:sym typeface="Inter"/>
              </a:rPr>
              <a:t>Foundation LLMs</a:t>
            </a:r>
            <a:endParaRPr dirty="0"/>
          </a:p>
        </p:txBody>
      </p:sp>
      <p:sp>
        <p:nvSpPr>
          <p:cNvPr id="203" name="Google Shape;203;p17"/>
          <p:cNvSpPr txBox="1"/>
          <p:nvPr/>
        </p:nvSpPr>
        <p:spPr>
          <a:xfrm>
            <a:off x="631105" y="7058882"/>
            <a:ext cx="7999500" cy="585000"/>
          </a:xfrm>
          <a:prstGeom prst="rect">
            <a:avLst/>
          </a:prstGeom>
          <a:noFill/>
          <a:ln>
            <a:noFill/>
          </a:ln>
        </p:spPr>
        <p:txBody>
          <a:bodyPr spcFirstLastPara="1" wrap="square" lIns="0" tIns="0" rIns="0" bIns="0" anchor="t" anchorCtr="0">
            <a:spAutoFit/>
          </a:bodyPr>
          <a:lstStyle/>
          <a:p>
            <a:pPr marL="0" marR="0" lvl="0" indent="0" algn="l" rtl="0">
              <a:lnSpc>
                <a:spcPct val="111111"/>
              </a:lnSpc>
              <a:spcBef>
                <a:spcPts val="0"/>
              </a:spcBef>
              <a:spcAft>
                <a:spcPts val="0"/>
              </a:spcAft>
              <a:buNone/>
            </a:pPr>
            <a:r>
              <a:rPr lang="en-US" sz="1800" dirty="0">
                <a:solidFill>
                  <a:srgbClr val="272525"/>
                </a:solidFill>
                <a:latin typeface="Inter"/>
                <a:ea typeface="Inter"/>
                <a:cs typeface="Inter"/>
                <a:sym typeface="Inter"/>
              </a:rPr>
              <a:t>GPT-4 and Claude for deep document understanding and context extraction</a:t>
            </a:r>
            <a:endParaRPr dirty="0"/>
          </a:p>
        </p:txBody>
      </p:sp>
      <p:sp>
        <p:nvSpPr>
          <p:cNvPr id="204" name="Google Shape;204;p17"/>
          <p:cNvSpPr/>
          <p:nvPr/>
        </p:nvSpPr>
        <p:spPr>
          <a:xfrm>
            <a:off x="9035876" y="6693162"/>
            <a:ext cx="8566880" cy="934212"/>
          </a:xfrm>
          <a:custGeom>
            <a:avLst/>
            <a:gdLst/>
            <a:ahLst/>
            <a:cxnLst/>
            <a:rect l="l" t="t" r="r" b="b"/>
            <a:pathLst>
              <a:path w="11422507" h="1245616" extrusionOk="0">
                <a:moveTo>
                  <a:pt x="0" y="0"/>
                </a:moveTo>
                <a:lnTo>
                  <a:pt x="11422507" y="0"/>
                </a:lnTo>
                <a:lnTo>
                  <a:pt x="11422507" y="1245616"/>
                </a:lnTo>
                <a:lnTo>
                  <a:pt x="0" y="1245616"/>
                </a:ln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5" name="Google Shape;205;p17"/>
          <p:cNvSpPr/>
          <p:nvPr/>
        </p:nvSpPr>
        <p:spPr>
          <a:xfrm>
            <a:off x="9035876" y="6693162"/>
            <a:ext cx="19050" cy="934212"/>
          </a:xfrm>
          <a:custGeom>
            <a:avLst/>
            <a:gdLst/>
            <a:ahLst/>
            <a:cxnLst/>
            <a:rect l="l" t="t" r="r" b="b"/>
            <a:pathLst>
              <a:path w="25400" h="1245616" extrusionOk="0">
                <a:moveTo>
                  <a:pt x="0" y="12700"/>
                </a:moveTo>
                <a:cubicBezTo>
                  <a:pt x="0" y="5715"/>
                  <a:pt x="5715" y="0"/>
                  <a:pt x="12700" y="0"/>
                </a:cubicBezTo>
                <a:cubicBezTo>
                  <a:pt x="19685" y="0"/>
                  <a:pt x="25400" y="5715"/>
                  <a:pt x="25400" y="12700"/>
                </a:cubicBezTo>
                <a:lnTo>
                  <a:pt x="25400" y="1232916"/>
                </a:lnTo>
                <a:cubicBezTo>
                  <a:pt x="25400" y="1239901"/>
                  <a:pt x="19685" y="1245616"/>
                  <a:pt x="12700" y="1245616"/>
                </a:cubicBezTo>
                <a:cubicBezTo>
                  <a:pt x="5715" y="1245616"/>
                  <a:pt x="0" y="1239901"/>
                  <a:pt x="0" y="1232916"/>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17"/>
          <p:cNvSpPr txBox="1"/>
          <p:nvPr/>
        </p:nvSpPr>
        <p:spPr>
          <a:xfrm>
            <a:off x="9441284" y="6845711"/>
            <a:ext cx="2027635" cy="262830"/>
          </a:xfrm>
          <a:prstGeom prst="rect">
            <a:avLst/>
          </a:prstGeom>
          <a:noFill/>
          <a:ln>
            <a:noFill/>
          </a:ln>
        </p:spPr>
        <p:txBody>
          <a:bodyPr spcFirstLastPara="1" wrap="square" lIns="0" tIns="0" rIns="0" bIns="0" anchor="t" anchorCtr="0">
            <a:spAutoFit/>
          </a:bodyPr>
          <a:lstStyle/>
          <a:p>
            <a:pPr marL="0" marR="0" lvl="0" indent="0" algn="l" rtl="0">
              <a:lnSpc>
                <a:spcPct val="124007"/>
              </a:lnSpc>
              <a:spcBef>
                <a:spcPts val="0"/>
              </a:spcBef>
              <a:spcAft>
                <a:spcPts val="0"/>
              </a:spcAft>
              <a:buNone/>
            </a:pPr>
            <a:r>
              <a:rPr lang="en-US" sz="1562" b="1" dirty="0">
                <a:solidFill>
                  <a:srgbClr val="272525"/>
                </a:solidFill>
                <a:latin typeface="Inter"/>
                <a:ea typeface="Inter"/>
                <a:cs typeface="Inter"/>
                <a:sym typeface="Inter"/>
              </a:rPr>
              <a:t>RAG System</a:t>
            </a:r>
            <a:endParaRPr dirty="0"/>
          </a:p>
        </p:txBody>
      </p:sp>
      <p:sp>
        <p:nvSpPr>
          <p:cNvPr id="207" name="Google Shape;207;p17"/>
          <p:cNvSpPr txBox="1"/>
          <p:nvPr/>
        </p:nvSpPr>
        <p:spPr>
          <a:xfrm>
            <a:off x="9441284" y="7158101"/>
            <a:ext cx="7999362" cy="24064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sz="1600">
                <a:solidFill>
                  <a:srgbClr val="272525"/>
                </a:solidFill>
                <a:latin typeface="Inter"/>
                <a:ea typeface="Inter"/>
                <a:cs typeface="Inter"/>
                <a:sym typeface="Inter"/>
              </a:rPr>
              <a:t>Regulatory knowledge base with historical precedents and compliance rules</a:t>
            </a:r>
            <a:endParaRPr/>
          </a:p>
        </p:txBody>
      </p:sp>
      <p:grpSp>
        <p:nvGrpSpPr>
          <p:cNvPr id="208" name="Google Shape;208;p17"/>
          <p:cNvGrpSpPr/>
          <p:nvPr/>
        </p:nvGrpSpPr>
        <p:grpSpPr>
          <a:xfrm>
            <a:off x="8823647" y="6947956"/>
            <a:ext cx="424435" cy="424435"/>
            <a:chOff x="0" y="0"/>
            <a:chExt cx="565912" cy="565912"/>
          </a:xfrm>
        </p:grpSpPr>
        <p:sp>
          <p:nvSpPr>
            <p:cNvPr id="209" name="Google Shape;209;p17"/>
            <p:cNvSpPr/>
            <p:nvPr/>
          </p:nvSpPr>
          <p:spPr>
            <a:xfrm>
              <a:off x="12700" y="12700"/>
              <a:ext cx="540512" cy="540512"/>
            </a:xfrm>
            <a:custGeom>
              <a:avLst/>
              <a:gdLst/>
              <a:ahLst/>
              <a:cxnLst/>
              <a:rect l="l" t="t" r="r" b="b"/>
              <a:pathLst>
                <a:path w="540512" h="540512" extrusionOk="0">
                  <a:moveTo>
                    <a:pt x="0" y="90805"/>
                  </a:moveTo>
                  <a:cubicBezTo>
                    <a:pt x="0" y="40640"/>
                    <a:pt x="40640" y="0"/>
                    <a:pt x="90805" y="0"/>
                  </a:cubicBezTo>
                  <a:lnTo>
                    <a:pt x="449707" y="0"/>
                  </a:lnTo>
                  <a:cubicBezTo>
                    <a:pt x="499872" y="0"/>
                    <a:pt x="540512" y="40640"/>
                    <a:pt x="540512" y="90805"/>
                  </a:cubicBezTo>
                  <a:lnTo>
                    <a:pt x="540512" y="449707"/>
                  </a:lnTo>
                  <a:cubicBezTo>
                    <a:pt x="540512" y="499872"/>
                    <a:pt x="499872" y="540512"/>
                    <a:pt x="449707" y="540512"/>
                  </a:cubicBezTo>
                  <a:lnTo>
                    <a:pt x="90805" y="540512"/>
                  </a:lnTo>
                  <a:cubicBezTo>
                    <a:pt x="40640" y="540512"/>
                    <a:pt x="0" y="499872"/>
                    <a:pt x="0" y="449707"/>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0" name="Google Shape;210;p17"/>
            <p:cNvSpPr/>
            <p:nvPr/>
          </p:nvSpPr>
          <p:spPr>
            <a:xfrm>
              <a:off x="0" y="0"/>
              <a:ext cx="565912" cy="565912"/>
            </a:xfrm>
            <a:custGeom>
              <a:avLst/>
              <a:gdLst/>
              <a:ahLst/>
              <a:cxnLst/>
              <a:rect l="l" t="t" r="r" b="b"/>
              <a:pathLst>
                <a:path w="565912" h="565912" extrusionOk="0">
                  <a:moveTo>
                    <a:pt x="0" y="103505"/>
                  </a:moveTo>
                  <a:cubicBezTo>
                    <a:pt x="0" y="46355"/>
                    <a:pt x="46355" y="0"/>
                    <a:pt x="103505" y="0"/>
                  </a:cubicBezTo>
                  <a:lnTo>
                    <a:pt x="462407" y="0"/>
                  </a:lnTo>
                  <a:lnTo>
                    <a:pt x="462407" y="12700"/>
                  </a:lnTo>
                  <a:lnTo>
                    <a:pt x="462407" y="0"/>
                  </a:lnTo>
                  <a:lnTo>
                    <a:pt x="462407" y="12700"/>
                  </a:lnTo>
                  <a:lnTo>
                    <a:pt x="462407" y="0"/>
                  </a:lnTo>
                  <a:cubicBezTo>
                    <a:pt x="519557" y="0"/>
                    <a:pt x="565912" y="46355"/>
                    <a:pt x="565912" y="103505"/>
                  </a:cubicBezTo>
                  <a:lnTo>
                    <a:pt x="553212" y="103505"/>
                  </a:lnTo>
                  <a:lnTo>
                    <a:pt x="565912" y="103505"/>
                  </a:lnTo>
                  <a:lnTo>
                    <a:pt x="565912" y="462407"/>
                  </a:lnTo>
                  <a:lnTo>
                    <a:pt x="553212" y="462407"/>
                  </a:lnTo>
                  <a:lnTo>
                    <a:pt x="565912" y="462407"/>
                  </a:lnTo>
                  <a:cubicBezTo>
                    <a:pt x="565912" y="519557"/>
                    <a:pt x="519557" y="565912"/>
                    <a:pt x="462407" y="565912"/>
                  </a:cubicBezTo>
                  <a:lnTo>
                    <a:pt x="462407" y="553212"/>
                  </a:lnTo>
                  <a:lnTo>
                    <a:pt x="462407" y="565912"/>
                  </a:lnTo>
                  <a:lnTo>
                    <a:pt x="103505" y="565912"/>
                  </a:lnTo>
                  <a:lnTo>
                    <a:pt x="103505" y="553212"/>
                  </a:lnTo>
                  <a:lnTo>
                    <a:pt x="103505" y="565912"/>
                  </a:lnTo>
                  <a:cubicBezTo>
                    <a:pt x="46355" y="565912"/>
                    <a:pt x="0" y="519557"/>
                    <a:pt x="0" y="462407"/>
                  </a:cubicBezTo>
                  <a:lnTo>
                    <a:pt x="0" y="103505"/>
                  </a:lnTo>
                  <a:lnTo>
                    <a:pt x="12700" y="103505"/>
                  </a:lnTo>
                  <a:lnTo>
                    <a:pt x="0" y="103505"/>
                  </a:lnTo>
                  <a:moveTo>
                    <a:pt x="25400" y="103505"/>
                  </a:moveTo>
                  <a:lnTo>
                    <a:pt x="25400" y="462407"/>
                  </a:lnTo>
                  <a:lnTo>
                    <a:pt x="12700" y="462407"/>
                  </a:lnTo>
                  <a:lnTo>
                    <a:pt x="25400" y="462407"/>
                  </a:lnTo>
                  <a:cubicBezTo>
                    <a:pt x="25400" y="505587"/>
                    <a:pt x="60325" y="540512"/>
                    <a:pt x="103505" y="540512"/>
                  </a:cubicBezTo>
                  <a:lnTo>
                    <a:pt x="462407" y="540512"/>
                  </a:lnTo>
                  <a:cubicBezTo>
                    <a:pt x="505587" y="540512"/>
                    <a:pt x="540512" y="505587"/>
                    <a:pt x="540512" y="462407"/>
                  </a:cubicBezTo>
                  <a:lnTo>
                    <a:pt x="540512" y="103505"/>
                  </a:lnTo>
                  <a:cubicBezTo>
                    <a:pt x="540512" y="60325"/>
                    <a:pt x="505587" y="25400"/>
                    <a:pt x="462407" y="25400"/>
                  </a:cubicBezTo>
                  <a:lnTo>
                    <a:pt x="103505" y="25400"/>
                  </a:lnTo>
                  <a:lnTo>
                    <a:pt x="103505" y="12700"/>
                  </a:lnTo>
                  <a:lnTo>
                    <a:pt x="103505" y="25400"/>
                  </a:lnTo>
                  <a:cubicBezTo>
                    <a:pt x="60325" y="25400"/>
                    <a:pt x="25400" y="60325"/>
                    <a:pt x="25400" y="103505"/>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11" name="Google Shape;211;p17" descr="preencoded.png"/>
          <p:cNvSpPr/>
          <p:nvPr/>
        </p:nvSpPr>
        <p:spPr>
          <a:xfrm>
            <a:off x="8934524" y="7058684"/>
            <a:ext cx="202704" cy="202704"/>
          </a:xfrm>
          <a:custGeom>
            <a:avLst/>
            <a:gdLst/>
            <a:ahLst/>
            <a:cxnLst/>
            <a:rect l="l" t="t" r="r" b="b"/>
            <a:pathLst>
              <a:path w="202704" h="202704" extrusionOk="0">
                <a:moveTo>
                  <a:pt x="0" y="0"/>
                </a:moveTo>
                <a:lnTo>
                  <a:pt x="202703" y="0"/>
                </a:lnTo>
                <a:lnTo>
                  <a:pt x="202703" y="202704"/>
                </a:lnTo>
                <a:lnTo>
                  <a:pt x="0" y="20270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2" name="Google Shape;212;p17"/>
          <p:cNvSpPr/>
          <p:nvPr/>
        </p:nvSpPr>
        <p:spPr>
          <a:xfrm>
            <a:off x="469031" y="7627356"/>
            <a:ext cx="8566880" cy="934212"/>
          </a:xfrm>
          <a:custGeom>
            <a:avLst/>
            <a:gdLst/>
            <a:ahLst/>
            <a:cxnLst/>
            <a:rect l="l" t="t" r="r" b="b"/>
            <a:pathLst>
              <a:path w="11422507" h="1245616" extrusionOk="0">
                <a:moveTo>
                  <a:pt x="0" y="0"/>
                </a:moveTo>
                <a:lnTo>
                  <a:pt x="11422507" y="0"/>
                </a:lnTo>
                <a:lnTo>
                  <a:pt x="11422507" y="1245616"/>
                </a:lnTo>
                <a:lnTo>
                  <a:pt x="0" y="1245616"/>
                </a:ln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3" name="Google Shape;213;p17"/>
          <p:cNvSpPr/>
          <p:nvPr/>
        </p:nvSpPr>
        <p:spPr>
          <a:xfrm>
            <a:off x="469031" y="7627356"/>
            <a:ext cx="8566880" cy="19050"/>
          </a:xfrm>
          <a:custGeom>
            <a:avLst/>
            <a:gdLst/>
            <a:ahLst/>
            <a:cxnLst/>
            <a:rect l="l" t="t" r="r" b="b"/>
            <a:pathLst>
              <a:path w="11422507" h="25400" extrusionOk="0">
                <a:moveTo>
                  <a:pt x="0" y="12700"/>
                </a:moveTo>
                <a:cubicBezTo>
                  <a:pt x="0" y="5715"/>
                  <a:pt x="5715" y="0"/>
                  <a:pt x="12700" y="0"/>
                </a:cubicBezTo>
                <a:lnTo>
                  <a:pt x="11409807" y="0"/>
                </a:lnTo>
                <a:cubicBezTo>
                  <a:pt x="11416792" y="0"/>
                  <a:pt x="11422507" y="5715"/>
                  <a:pt x="11422507" y="12700"/>
                </a:cubicBezTo>
                <a:cubicBezTo>
                  <a:pt x="11422507" y="19685"/>
                  <a:pt x="11416792" y="25400"/>
                  <a:pt x="11409807" y="25400"/>
                </a:cubicBezTo>
                <a:lnTo>
                  <a:pt x="12700" y="25400"/>
                </a:lnTo>
                <a:cubicBezTo>
                  <a:pt x="5715" y="25400"/>
                  <a:pt x="0" y="19685"/>
                  <a:pt x="0" y="12700"/>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17"/>
          <p:cNvSpPr txBox="1"/>
          <p:nvPr/>
        </p:nvSpPr>
        <p:spPr>
          <a:xfrm>
            <a:off x="631105" y="7779905"/>
            <a:ext cx="2136130" cy="262830"/>
          </a:xfrm>
          <a:prstGeom prst="rect">
            <a:avLst/>
          </a:prstGeom>
          <a:noFill/>
          <a:ln>
            <a:noFill/>
          </a:ln>
        </p:spPr>
        <p:txBody>
          <a:bodyPr spcFirstLastPara="1" wrap="square" lIns="0" tIns="0" rIns="0" bIns="0" anchor="t" anchorCtr="0">
            <a:spAutoFit/>
          </a:bodyPr>
          <a:lstStyle/>
          <a:p>
            <a:pPr marL="0" marR="0" lvl="0" indent="0" algn="l" rtl="0">
              <a:lnSpc>
                <a:spcPct val="124007"/>
              </a:lnSpc>
              <a:spcBef>
                <a:spcPts val="0"/>
              </a:spcBef>
              <a:spcAft>
                <a:spcPts val="0"/>
              </a:spcAft>
              <a:buNone/>
            </a:pPr>
            <a:r>
              <a:rPr lang="en-US" sz="1562" b="1" dirty="0">
                <a:solidFill>
                  <a:srgbClr val="272525"/>
                </a:solidFill>
                <a:latin typeface="Inter"/>
                <a:ea typeface="Inter"/>
                <a:cs typeface="Inter"/>
                <a:sym typeface="Inter"/>
              </a:rPr>
              <a:t>Automated Validation</a:t>
            </a:r>
            <a:endParaRPr dirty="0"/>
          </a:p>
        </p:txBody>
      </p:sp>
      <p:sp>
        <p:nvSpPr>
          <p:cNvPr id="215" name="Google Shape;215;p17"/>
          <p:cNvSpPr txBox="1"/>
          <p:nvPr/>
        </p:nvSpPr>
        <p:spPr>
          <a:xfrm>
            <a:off x="631105" y="8092295"/>
            <a:ext cx="7999362" cy="24064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sz="1600" dirty="0">
                <a:solidFill>
                  <a:srgbClr val="272525"/>
                </a:solidFill>
                <a:latin typeface="Inter"/>
                <a:ea typeface="Inter"/>
                <a:cs typeface="Inter"/>
                <a:sym typeface="Inter"/>
              </a:rPr>
              <a:t>Real-time verification against regulatory requirements and technical standards</a:t>
            </a:r>
            <a:endParaRPr dirty="0"/>
          </a:p>
        </p:txBody>
      </p:sp>
      <p:sp>
        <p:nvSpPr>
          <p:cNvPr id="216" name="Google Shape;216;p17"/>
          <p:cNvSpPr/>
          <p:nvPr/>
        </p:nvSpPr>
        <p:spPr>
          <a:xfrm>
            <a:off x="9035876" y="7627356"/>
            <a:ext cx="8566880" cy="934212"/>
          </a:xfrm>
          <a:custGeom>
            <a:avLst/>
            <a:gdLst/>
            <a:ahLst/>
            <a:cxnLst/>
            <a:rect l="l" t="t" r="r" b="b"/>
            <a:pathLst>
              <a:path w="11422507" h="1245616" extrusionOk="0">
                <a:moveTo>
                  <a:pt x="0" y="0"/>
                </a:moveTo>
                <a:lnTo>
                  <a:pt x="11422507" y="0"/>
                </a:lnTo>
                <a:lnTo>
                  <a:pt x="11422507" y="1245616"/>
                </a:lnTo>
                <a:lnTo>
                  <a:pt x="0" y="1245616"/>
                </a:ln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7" name="Google Shape;217;p17"/>
          <p:cNvSpPr/>
          <p:nvPr/>
        </p:nvSpPr>
        <p:spPr>
          <a:xfrm>
            <a:off x="9035876" y="7627356"/>
            <a:ext cx="19050" cy="934212"/>
          </a:xfrm>
          <a:custGeom>
            <a:avLst/>
            <a:gdLst/>
            <a:ahLst/>
            <a:cxnLst/>
            <a:rect l="l" t="t" r="r" b="b"/>
            <a:pathLst>
              <a:path w="25400" h="1245616" extrusionOk="0">
                <a:moveTo>
                  <a:pt x="0" y="12700"/>
                </a:moveTo>
                <a:cubicBezTo>
                  <a:pt x="0" y="5715"/>
                  <a:pt x="5715" y="0"/>
                  <a:pt x="12700" y="0"/>
                </a:cubicBezTo>
                <a:cubicBezTo>
                  <a:pt x="19685" y="0"/>
                  <a:pt x="25400" y="5715"/>
                  <a:pt x="25400" y="12700"/>
                </a:cubicBezTo>
                <a:lnTo>
                  <a:pt x="25400" y="1232916"/>
                </a:lnTo>
                <a:cubicBezTo>
                  <a:pt x="25400" y="1239901"/>
                  <a:pt x="19685" y="1245616"/>
                  <a:pt x="12700" y="1245616"/>
                </a:cubicBezTo>
                <a:cubicBezTo>
                  <a:pt x="5715" y="1245616"/>
                  <a:pt x="0" y="1239901"/>
                  <a:pt x="0" y="1232916"/>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8" name="Google Shape;218;p17"/>
          <p:cNvSpPr/>
          <p:nvPr/>
        </p:nvSpPr>
        <p:spPr>
          <a:xfrm>
            <a:off x="9035876" y="7627356"/>
            <a:ext cx="8566880" cy="19050"/>
          </a:xfrm>
          <a:custGeom>
            <a:avLst/>
            <a:gdLst/>
            <a:ahLst/>
            <a:cxnLst/>
            <a:rect l="l" t="t" r="r" b="b"/>
            <a:pathLst>
              <a:path w="11422507" h="25400" extrusionOk="0">
                <a:moveTo>
                  <a:pt x="0" y="12700"/>
                </a:moveTo>
                <a:cubicBezTo>
                  <a:pt x="0" y="5715"/>
                  <a:pt x="5715" y="0"/>
                  <a:pt x="12700" y="0"/>
                </a:cubicBezTo>
                <a:lnTo>
                  <a:pt x="11409807" y="0"/>
                </a:lnTo>
                <a:cubicBezTo>
                  <a:pt x="11416792" y="0"/>
                  <a:pt x="11422507" y="5715"/>
                  <a:pt x="11422507" y="12700"/>
                </a:cubicBezTo>
                <a:cubicBezTo>
                  <a:pt x="11422507" y="19685"/>
                  <a:pt x="11416792" y="25400"/>
                  <a:pt x="11409807" y="25400"/>
                </a:cubicBezTo>
                <a:lnTo>
                  <a:pt x="12700" y="25400"/>
                </a:lnTo>
                <a:cubicBezTo>
                  <a:pt x="5715" y="25400"/>
                  <a:pt x="0" y="19685"/>
                  <a:pt x="0" y="12700"/>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9" name="Google Shape;219;p17"/>
          <p:cNvSpPr txBox="1"/>
          <p:nvPr/>
        </p:nvSpPr>
        <p:spPr>
          <a:xfrm>
            <a:off x="9441284" y="7779905"/>
            <a:ext cx="2027635" cy="262830"/>
          </a:xfrm>
          <a:prstGeom prst="rect">
            <a:avLst/>
          </a:prstGeom>
          <a:noFill/>
          <a:ln>
            <a:noFill/>
          </a:ln>
        </p:spPr>
        <p:txBody>
          <a:bodyPr spcFirstLastPara="1" wrap="square" lIns="0" tIns="0" rIns="0" bIns="0" anchor="t" anchorCtr="0">
            <a:spAutoFit/>
          </a:bodyPr>
          <a:lstStyle/>
          <a:p>
            <a:pPr marL="0" marR="0" lvl="0" indent="0" algn="l" rtl="0">
              <a:lnSpc>
                <a:spcPct val="124007"/>
              </a:lnSpc>
              <a:spcBef>
                <a:spcPts val="0"/>
              </a:spcBef>
              <a:spcAft>
                <a:spcPts val="0"/>
              </a:spcAft>
              <a:buNone/>
            </a:pPr>
            <a:r>
              <a:rPr lang="en-US" sz="1562" b="1" dirty="0">
                <a:solidFill>
                  <a:srgbClr val="272525"/>
                </a:solidFill>
                <a:latin typeface="Inter"/>
                <a:ea typeface="Inter"/>
                <a:cs typeface="Inter"/>
                <a:sym typeface="Inter"/>
              </a:rPr>
              <a:t>Smart Extraction</a:t>
            </a:r>
            <a:endParaRPr dirty="0"/>
          </a:p>
        </p:txBody>
      </p:sp>
      <p:sp>
        <p:nvSpPr>
          <p:cNvPr id="220" name="Google Shape;220;p17"/>
          <p:cNvSpPr txBox="1"/>
          <p:nvPr/>
        </p:nvSpPr>
        <p:spPr>
          <a:xfrm>
            <a:off x="9441284" y="8092295"/>
            <a:ext cx="7999362" cy="24064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sz="1600" dirty="0">
                <a:solidFill>
                  <a:srgbClr val="272525"/>
                </a:solidFill>
                <a:latin typeface="Inter"/>
                <a:ea typeface="Inter"/>
                <a:cs typeface="Inter"/>
                <a:sym typeface="Inter"/>
              </a:rPr>
              <a:t>Intelligent parsing of technical specifications and key data points</a:t>
            </a:r>
            <a:endParaRPr dirty="0"/>
          </a:p>
        </p:txBody>
      </p:sp>
      <p:grpSp>
        <p:nvGrpSpPr>
          <p:cNvPr id="221" name="Google Shape;221;p17"/>
          <p:cNvGrpSpPr/>
          <p:nvPr/>
        </p:nvGrpSpPr>
        <p:grpSpPr>
          <a:xfrm>
            <a:off x="8823647" y="7882150"/>
            <a:ext cx="424435" cy="424435"/>
            <a:chOff x="0" y="0"/>
            <a:chExt cx="565912" cy="565912"/>
          </a:xfrm>
        </p:grpSpPr>
        <p:sp>
          <p:nvSpPr>
            <p:cNvPr id="222" name="Google Shape;222;p17"/>
            <p:cNvSpPr/>
            <p:nvPr/>
          </p:nvSpPr>
          <p:spPr>
            <a:xfrm>
              <a:off x="12700" y="12700"/>
              <a:ext cx="540512" cy="540512"/>
            </a:xfrm>
            <a:custGeom>
              <a:avLst/>
              <a:gdLst/>
              <a:ahLst/>
              <a:cxnLst/>
              <a:rect l="l" t="t" r="r" b="b"/>
              <a:pathLst>
                <a:path w="540512" h="540512" extrusionOk="0">
                  <a:moveTo>
                    <a:pt x="0" y="90805"/>
                  </a:moveTo>
                  <a:cubicBezTo>
                    <a:pt x="0" y="40640"/>
                    <a:pt x="40640" y="0"/>
                    <a:pt x="90805" y="0"/>
                  </a:cubicBezTo>
                  <a:lnTo>
                    <a:pt x="449707" y="0"/>
                  </a:lnTo>
                  <a:cubicBezTo>
                    <a:pt x="499872" y="0"/>
                    <a:pt x="540512" y="40640"/>
                    <a:pt x="540512" y="90805"/>
                  </a:cubicBezTo>
                  <a:lnTo>
                    <a:pt x="540512" y="449707"/>
                  </a:lnTo>
                  <a:cubicBezTo>
                    <a:pt x="540512" y="499872"/>
                    <a:pt x="499872" y="540512"/>
                    <a:pt x="449707" y="540512"/>
                  </a:cubicBezTo>
                  <a:lnTo>
                    <a:pt x="90805" y="540512"/>
                  </a:lnTo>
                  <a:cubicBezTo>
                    <a:pt x="40640" y="540512"/>
                    <a:pt x="0" y="499872"/>
                    <a:pt x="0" y="449707"/>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3" name="Google Shape;223;p17"/>
            <p:cNvSpPr/>
            <p:nvPr/>
          </p:nvSpPr>
          <p:spPr>
            <a:xfrm>
              <a:off x="0" y="0"/>
              <a:ext cx="565912" cy="565912"/>
            </a:xfrm>
            <a:custGeom>
              <a:avLst/>
              <a:gdLst/>
              <a:ahLst/>
              <a:cxnLst/>
              <a:rect l="l" t="t" r="r" b="b"/>
              <a:pathLst>
                <a:path w="565912" h="565912" extrusionOk="0">
                  <a:moveTo>
                    <a:pt x="0" y="103505"/>
                  </a:moveTo>
                  <a:cubicBezTo>
                    <a:pt x="0" y="46355"/>
                    <a:pt x="46355" y="0"/>
                    <a:pt x="103505" y="0"/>
                  </a:cubicBezTo>
                  <a:lnTo>
                    <a:pt x="462407" y="0"/>
                  </a:lnTo>
                  <a:lnTo>
                    <a:pt x="462407" y="12700"/>
                  </a:lnTo>
                  <a:lnTo>
                    <a:pt x="462407" y="0"/>
                  </a:lnTo>
                  <a:lnTo>
                    <a:pt x="462407" y="12700"/>
                  </a:lnTo>
                  <a:lnTo>
                    <a:pt x="462407" y="0"/>
                  </a:lnTo>
                  <a:cubicBezTo>
                    <a:pt x="519557" y="0"/>
                    <a:pt x="565912" y="46355"/>
                    <a:pt x="565912" y="103505"/>
                  </a:cubicBezTo>
                  <a:lnTo>
                    <a:pt x="553212" y="103505"/>
                  </a:lnTo>
                  <a:lnTo>
                    <a:pt x="565912" y="103505"/>
                  </a:lnTo>
                  <a:lnTo>
                    <a:pt x="565912" y="462407"/>
                  </a:lnTo>
                  <a:lnTo>
                    <a:pt x="553212" y="462407"/>
                  </a:lnTo>
                  <a:lnTo>
                    <a:pt x="565912" y="462407"/>
                  </a:lnTo>
                  <a:cubicBezTo>
                    <a:pt x="565912" y="519557"/>
                    <a:pt x="519557" y="565912"/>
                    <a:pt x="462407" y="565912"/>
                  </a:cubicBezTo>
                  <a:lnTo>
                    <a:pt x="462407" y="553212"/>
                  </a:lnTo>
                  <a:lnTo>
                    <a:pt x="462407" y="565912"/>
                  </a:lnTo>
                  <a:lnTo>
                    <a:pt x="103505" y="565912"/>
                  </a:lnTo>
                  <a:lnTo>
                    <a:pt x="103505" y="553212"/>
                  </a:lnTo>
                  <a:lnTo>
                    <a:pt x="103505" y="565912"/>
                  </a:lnTo>
                  <a:cubicBezTo>
                    <a:pt x="46355" y="565912"/>
                    <a:pt x="0" y="519557"/>
                    <a:pt x="0" y="462407"/>
                  </a:cubicBezTo>
                  <a:lnTo>
                    <a:pt x="0" y="103505"/>
                  </a:lnTo>
                  <a:lnTo>
                    <a:pt x="12700" y="103505"/>
                  </a:lnTo>
                  <a:lnTo>
                    <a:pt x="0" y="103505"/>
                  </a:lnTo>
                  <a:moveTo>
                    <a:pt x="25400" y="103505"/>
                  </a:moveTo>
                  <a:lnTo>
                    <a:pt x="25400" y="462407"/>
                  </a:lnTo>
                  <a:lnTo>
                    <a:pt x="12700" y="462407"/>
                  </a:lnTo>
                  <a:lnTo>
                    <a:pt x="25400" y="462407"/>
                  </a:lnTo>
                  <a:cubicBezTo>
                    <a:pt x="25400" y="505587"/>
                    <a:pt x="60325" y="540512"/>
                    <a:pt x="103505" y="540512"/>
                  </a:cubicBezTo>
                  <a:lnTo>
                    <a:pt x="462407" y="540512"/>
                  </a:lnTo>
                  <a:cubicBezTo>
                    <a:pt x="505587" y="540512"/>
                    <a:pt x="540512" y="505587"/>
                    <a:pt x="540512" y="462407"/>
                  </a:cubicBezTo>
                  <a:lnTo>
                    <a:pt x="540512" y="103505"/>
                  </a:lnTo>
                  <a:cubicBezTo>
                    <a:pt x="540512" y="60325"/>
                    <a:pt x="505587" y="25400"/>
                    <a:pt x="462407" y="25400"/>
                  </a:cubicBezTo>
                  <a:lnTo>
                    <a:pt x="103505" y="25400"/>
                  </a:lnTo>
                  <a:lnTo>
                    <a:pt x="103505" y="12700"/>
                  </a:lnTo>
                  <a:lnTo>
                    <a:pt x="103505" y="25400"/>
                  </a:lnTo>
                  <a:cubicBezTo>
                    <a:pt x="60325" y="25400"/>
                    <a:pt x="25400" y="60325"/>
                    <a:pt x="25400" y="103505"/>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24" name="Google Shape;224;p17" descr="preencoded.png"/>
          <p:cNvSpPr/>
          <p:nvPr/>
        </p:nvSpPr>
        <p:spPr>
          <a:xfrm>
            <a:off x="8934524" y="7992879"/>
            <a:ext cx="202704" cy="202704"/>
          </a:xfrm>
          <a:custGeom>
            <a:avLst/>
            <a:gdLst/>
            <a:ahLst/>
            <a:cxnLst/>
            <a:rect l="l" t="t" r="r" b="b"/>
            <a:pathLst>
              <a:path w="202704" h="202704" extrusionOk="0">
                <a:moveTo>
                  <a:pt x="0" y="0"/>
                </a:moveTo>
                <a:lnTo>
                  <a:pt x="202703" y="0"/>
                </a:lnTo>
                <a:lnTo>
                  <a:pt x="202703" y="202703"/>
                </a:lnTo>
                <a:lnTo>
                  <a:pt x="0" y="202703"/>
                </a:lnTo>
                <a:lnTo>
                  <a:pt x="0" y="0"/>
                </a:lnTo>
                <a:close/>
              </a:path>
            </a:pathLst>
          </a:custGeom>
          <a:blipFill rotWithShape="1">
            <a:blip r:embed="rId5">
              <a:alphaModFix/>
            </a:blip>
            <a:stretch>
              <a:fillRect t="-2271" b="-227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5" name="Google Shape;225;p17"/>
          <p:cNvSpPr/>
          <p:nvPr/>
        </p:nvSpPr>
        <p:spPr>
          <a:xfrm>
            <a:off x="459506" y="8753539"/>
            <a:ext cx="17152716" cy="688943"/>
          </a:xfrm>
          <a:custGeom>
            <a:avLst/>
            <a:gdLst/>
            <a:ahLst/>
            <a:cxnLst/>
            <a:rect l="l" t="t" r="r" b="b"/>
            <a:pathLst>
              <a:path w="22870288" h="918591" extrusionOk="0">
                <a:moveTo>
                  <a:pt x="0" y="90805"/>
                </a:moveTo>
                <a:cubicBezTo>
                  <a:pt x="0" y="40640"/>
                  <a:pt x="40640" y="0"/>
                  <a:pt x="90805" y="0"/>
                </a:cubicBezTo>
                <a:lnTo>
                  <a:pt x="22779482" y="0"/>
                </a:lnTo>
                <a:cubicBezTo>
                  <a:pt x="22829647" y="0"/>
                  <a:pt x="22870288" y="40640"/>
                  <a:pt x="22870288" y="90805"/>
                </a:cubicBezTo>
                <a:lnTo>
                  <a:pt x="22870288" y="827786"/>
                </a:lnTo>
                <a:cubicBezTo>
                  <a:pt x="22870288" y="877951"/>
                  <a:pt x="22829647" y="918591"/>
                  <a:pt x="22779482" y="918591"/>
                </a:cubicBezTo>
                <a:lnTo>
                  <a:pt x="90805" y="918591"/>
                </a:lnTo>
                <a:cubicBezTo>
                  <a:pt x="40640" y="918591"/>
                  <a:pt x="0" y="877951"/>
                  <a:pt x="0" y="827786"/>
                </a:cubicBezTo>
                <a:close/>
              </a:path>
            </a:pathLst>
          </a:custGeom>
          <a:solidFill>
            <a:srgbClr val="C7C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6" name="Google Shape;226;p17" descr="preencoded.png"/>
          <p:cNvSpPr/>
          <p:nvPr/>
        </p:nvSpPr>
        <p:spPr>
          <a:xfrm>
            <a:off x="621580" y="8995236"/>
            <a:ext cx="202692" cy="162116"/>
          </a:xfrm>
          <a:custGeom>
            <a:avLst/>
            <a:gdLst/>
            <a:ahLst/>
            <a:cxnLst/>
            <a:rect l="l" t="t" r="r" b="b"/>
            <a:pathLst>
              <a:path w="270256" h="216154" extrusionOk="0">
                <a:moveTo>
                  <a:pt x="0" y="0"/>
                </a:moveTo>
                <a:lnTo>
                  <a:pt x="270256" y="0"/>
                </a:lnTo>
                <a:lnTo>
                  <a:pt x="270256" y="216154"/>
                </a:lnTo>
                <a:lnTo>
                  <a:pt x="0" y="216154"/>
                </a:lnTo>
                <a:lnTo>
                  <a:pt x="0" y="0"/>
                </a:lnTo>
                <a:close/>
              </a:path>
            </a:pathLst>
          </a:custGeom>
          <a:blipFill rotWithShape="1">
            <a:blip r:embed="rId6">
              <a:alphaModFix/>
            </a:blip>
            <a:stretch>
              <a:fillRect t="-621" r="-4" b="-59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7" name="Google Shape;227;p17"/>
          <p:cNvSpPr txBox="1"/>
          <p:nvPr/>
        </p:nvSpPr>
        <p:spPr>
          <a:xfrm>
            <a:off x="986359" y="8908469"/>
            <a:ext cx="16463814" cy="521233"/>
          </a:xfrm>
          <a:prstGeom prst="rect">
            <a:avLst/>
          </a:prstGeom>
          <a:noFill/>
          <a:ln>
            <a:noFill/>
          </a:ln>
        </p:spPr>
        <p:txBody>
          <a:bodyPr spcFirstLastPara="1" wrap="square" lIns="0" tIns="0" rIns="0" bIns="0" anchor="t" anchorCtr="0">
            <a:spAutoFit/>
          </a:bodyPr>
          <a:lstStyle/>
          <a:p>
            <a:pPr marL="0" marR="0" lvl="0" indent="0" algn="l" rtl="0">
              <a:lnSpc>
                <a:spcPct val="83333"/>
              </a:lnSpc>
              <a:spcBef>
                <a:spcPts val="0"/>
              </a:spcBef>
              <a:spcAft>
                <a:spcPts val="0"/>
              </a:spcAft>
              <a:buNone/>
            </a:pPr>
            <a:r>
              <a:rPr lang="en-US" sz="2400" b="1" dirty="0">
                <a:solidFill>
                  <a:srgbClr val="000000"/>
                </a:solidFill>
                <a:latin typeface="Inter"/>
                <a:ea typeface="Inter"/>
                <a:cs typeface="Inter"/>
                <a:sym typeface="Inter"/>
              </a:rPr>
              <a:t>Expected Impact:</a:t>
            </a:r>
            <a:r>
              <a:rPr lang="en-US" sz="2400" dirty="0">
                <a:solidFill>
                  <a:srgbClr val="000000"/>
                </a:solidFill>
                <a:latin typeface="Inter"/>
                <a:ea typeface="Inter"/>
                <a:cs typeface="Inter"/>
                <a:sym typeface="Inter"/>
              </a:rPr>
              <a:t> 70-80% reduction in review time with 90%+ accuracy rates, achievable within 6-12 months of implementation.</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8"/>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6F4F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18"/>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4" name="Google Shape;234;p18"/>
          <p:cNvSpPr txBox="1"/>
          <p:nvPr/>
        </p:nvSpPr>
        <p:spPr>
          <a:xfrm>
            <a:off x="808732" y="609451"/>
            <a:ext cx="13004899" cy="750689"/>
          </a:xfrm>
          <a:prstGeom prst="rect">
            <a:avLst/>
          </a:prstGeom>
          <a:noFill/>
          <a:ln>
            <a:noFill/>
          </a:ln>
        </p:spPr>
        <p:txBody>
          <a:bodyPr spcFirstLastPara="1" wrap="square" lIns="0" tIns="0" rIns="0" bIns="0" anchor="t" anchorCtr="0">
            <a:spAutoFit/>
          </a:bodyPr>
          <a:lstStyle/>
          <a:p>
            <a:pPr marL="0" marR="0" lvl="0" indent="0" algn="l" rtl="0">
              <a:lnSpc>
                <a:spcPct val="125027"/>
              </a:lnSpc>
              <a:spcBef>
                <a:spcPts val="0"/>
              </a:spcBef>
              <a:spcAft>
                <a:spcPts val="0"/>
              </a:spcAft>
              <a:buNone/>
            </a:pPr>
            <a:r>
              <a:rPr lang="en-US" sz="4499" b="1" dirty="0">
                <a:solidFill>
                  <a:srgbClr val="000000"/>
                </a:solidFill>
                <a:latin typeface="Inter"/>
                <a:ea typeface="Inter"/>
                <a:cs typeface="Inter"/>
                <a:sym typeface="Inter"/>
              </a:rPr>
              <a:t>AI Approach: Intelligent Document Processing</a:t>
            </a:r>
            <a:endParaRPr dirty="0"/>
          </a:p>
        </p:txBody>
      </p:sp>
      <p:sp>
        <p:nvSpPr>
          <p:cNvPr id="235" name="Google Shape;235;p18"/>
          <p:cNvSpPr txBox="1"/>
          <p:nvPr/>
        </p:nvSpPr>
        <p:spPr>
          <a:xfrm>
            <a:off x="808732" y="1443037"/>
            <a:ext cx="7060406" cy="442764"/>
          </a:xfrm>
          <a:prstGeom prst="rect">
            <a:avLst/>
          </a:prstGeom>
          <a:noFill/>
          <a:ln>
            <a:noFill/>
          </a:ln>
        </p:spPr>
        <p:txBody>
          <a:bodyPr spcFirstLastPara="1" wrap="square" lIns="0" tIns="0" rIns="0" bIns="0" anchor="t" anchorCtr="0">
            <a:spAutoFit/>
          </a:bodyPr>
          <a:lstStyle/>
          <a:p>
            <a:pPr marL="0" marR="0" lvl="0" indent="0" algn="l" rtl="0">
              <a:lnSpc>
                <a:spcPct val="125567"/>
              </a:lnSpc>
              <a:spcBef>
                <a:spcPts val="0"/>
              </a:spcBef>
              <a:spcAft>
                <a:spcPts val="0"/>
              </a:spcAft>
              <a:buNone/>
            </a:pPr>
            <a:r>
              <a:rPr lang="en-US" sz="2687" b="1" dirty="0">
                <a:solidFill>
                  <a:srgbClr val="000000"/>
                </a:solidFill>
                <a:latin typeface="Inter"/>
                <a:ea typeface="Inter"/>
                <a:cs typeface="Inter"/>
                <a:sym typeface="Inter"/>
              </a:rPr>
              <a:t>RAG-Powered Application Review System</a:t>
            </a:r>
            <a:endParaRPr dirty="0"/>
          </a:p>
        </p:txBody>
      </p:sp>
      <p:sp>
        <p:nvSpPr>
          <p:cNvPr id="236" name="Google Shape;236;p18" descr="preencoded.png"/>
          <p:cNvSpPr/>
          <p:nvPr/>
        </p:nvSpPr>
        <p:spPr>
          <a:xfrm>
            <a:off x="808732" y="2232422"/>
            <a:ext cx="8335232" cy="924401"/>
          </a:xfrm>
          <a:custGeom>
            <a:avLst/>
            <a:gdLst/>
            <a:ahLst/>
            <a:cxnLst/>
            <a:rect l="l" t="t" r="r" b="b"/>
            <a:pathLst>
              <a:path w="11113643" h="1232535" extrusionOk="0">
                <a:moveTo>
                  <a:pt x="0" y="0"/>
                </a:moveTo>
                <a:lnTo>
                  <a:pt x="11113643" y="0"/>
                </a:lnTo>
                <a:lnTo>
                  <a:pt x="11113643" y="1232535"/>
                </a:lnTo>
                <a:lnTo>
                  <a:pt x="0" y="1232535"/>
                </a:lnTo>
                <a:lnTo>
                  <a:pt x="0" y="0"/>
                </a:lnTo>
                <a:close/>
              </a:path>
            </a:pathLst>
          </a:custGeom>
          <a:blipFill rotWithShape="1">
            <a:blip r:embed="rId3">
              <a:alphaModFix/>
            </a:blip>
            <a:stretch>
              <a:fillRect l="-17" r="-17" b="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7" name="Google Shape;237;p18"/>
          <p:cNvSpPr txBox="1"/>
          <p:nvPr/>
        </p:nvSpPr>
        <p:spPr>
          <a:xfrm>
            <a:off x="1039714" y="3368725"/>
            <a:ext cx="2888754" cy="380107"/>
          </a:xfrm>
          <a:prstGeom prst="rect">
            <a:avLst/>
          </a:prstGeom>
          <a:noFill/>
          <a:ln>
            <a:noFill/>
          </a:ln>
        </p:spPr>
        <p:txBody>
          <a:bodyPr spcFirstLastPara="1" wrap="square" lIns="0" tIns="0" rIns="0" bIns="0" anchor="t" anchorCtr="0">
            <a:spAutoFit/>
          </a:bodyPr>
          <a:lstStyle/>
          <a:p>
            <a:pPr marL="0" marR="0" lvl="0" indent="0" algn="l" rtl="0">
              <a:lnSpc>
                <a:spcPct val="125033"/>
              </a:lnSpc>
              <a:spcBef>
                <a:spcPts val="0"/>
              </a:spcBef>
              <a:spcAft>
                <a:spcPts val="0"/>
              </a:spcAft>
              <a:buNone/>
            </a:pPr>
            <a:r>
              <a:rPr lang="en-US" sz="2249" b="1" dirty="0">
                <a:solidFill>
                  <a:srgbClr val="272525"/>
                </a:solidFill>
                <a:latin typeface="Inter"/>
                <a:ea typeface="Inter"/>
                <a:cs typeface="Inter"/>
                <a:sym typeface="Inter"/>
              </a:rPr>
              <a:t>Document Ingestion</a:t>
            </a:r>
            <a:endParaRPr dirty="0"/>
          </a:p>
        </p:txBody>
      </p:sp>
      <p:sp>
        <p:nvSpPr>
          <p:cNvPr id="238" name="Google Shape;238;p18"/>
          <p:cNvSpPr txBox="1"/>
          <p:nvPr/>
        </p:nvSpPr>
        <p:spPr>
          <a:xfrm>
            <a:off x="1039714" y="3820716"/>
            <a:ext cx="7873305" cy="806054"/>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dirty="0">
                <a:solidFill>
                  <a:srgbClr val="272525"/>
                </a:solidFill>
                <a:latin typeface="Inter"/>
                <a:ea typeface="Inter"/>
                <a:cs typeface="Inter"/>
                <a:sym typeface="Inter"/>
              </a:rPr>
              <a:t>PDF and Word parsing, OCR for scanned documents, automated metadata extraction</a:t>
            </a:r>
            <a:endParaRPr dirty="0"/>
          </a:p>
        </p:txBody>
      </p:sp>
      <p:sp>
        <p:nvSpPr>
          <p:cNvPr id="239" name="Google Shape;239;p18"/>
          <p:cNvSpPr txBox="1"/>
          <p:nvPr/>
        </p:nvSpPr>
        <p:spPr>
          <a:xfrm>
            <a:off x="1039714" y="4698652"/>
            <a:ext cx="7873305" cy="436364"/>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i="1" dirty="0">
                <a:solidFill>
                  <a:srgbClr val="272525"/>
                </a:solidFill>
                <a:latin typeface="Inter"/>
                <a:ea typeface="Inter"/>
                <a:cs typeface="Inter"/>
                <a:sym typeface="Inter"/>
              </a:rPr>
              <a:t>Tech: </a:t>
            </a:r>
            <a:r>
              <a:rPr lang="en-US" sz="1812" i="1" dirty="0" err="1">
                <a:solidFill>
                  <a:srgbClr val="272525"/>
                </a:solidFill>
                <a:latin typeface="Inter"/>
                <a:ea typeface="Inter"/>
                <a:cs typeface="Inter"/>
                <a:sym typeface="Inter"/>
              </a:rPr>
              <a:t>LangChain</a:t>
            </a:r>
            <a:r>
              <a:rPr lang="en-US" sz="1812" i="1" dirty="0">
                <a:solidFill>
                  <a:srgbClr val="272525"/>
                </a:solidFill>
                <a:latin typeface="Inter"/>
                <a:ea typeface="Inter"/>
                <a:cs typeface="Inter"/>
                <a:sym typeface="Inter"/>
              </a:rPr>
              <a:t>, </a:t>
            </a:r>
            <a:r>
              <a:rPr lang="en-US" sz="1812" i="1" dirty="0" err="1">
                <a:solidFill>
                  <a:srgbClr val="272525"/>
                </a:solidFill>
                <a:latin typeface="Inter"/>
                <a:ea typeface="Inter"/>
                <a:cs typeface="Inter"/>
                <a:sym typeface="Inter"/>
              </a:rPr>
              <a:t>PyPDF</a:t>
            </a:r>
            <a:endParaRPr dirty="0"/>
          </a:p>
        </p:txBody>
      </p:sp>
      <p:sp>
        <p:nvSpPr>
          <p:cNvPr id="240" name="Google Shape;240;p18" descr="preencoded.png"/>
          <p:cNvSpPr/>
          <p:nvPr/>
        </p:nvSpPr>
        <p:spPr>
          <a:xfrm>
            <a:off x="9144000" y="2232422"/>
            <a:ext cx="8335232" cy="924401"/>
          </a:xfrm>
          <a:custGeom>
            <a:avLst/>
            <a:gdLst/>
            <a:ahLst/>
            <a:cxnLst/>
            <a:rect l="l" t="t" r="r" b="b"/>
            <a:pathLst>
              <a:path w="11113643" h="1232535" extrusionOk="0">
                <a:moveTo>
                  <a:pt x="0" y="0"/>
                </a:moveTo>
                <a:lnTo>
                  <a:pt x="11113643" y="0"/>
                </a:lnTo>
                <a:lnTo>
                  <a:pt x="11113643" y="1232535"/>
                </a:lnTo>
                <a:lnTo>
                  <a:pt x="0" y="1232535"/>
                </a:lnTo>
                <a:lnTo>
                  <a:pt x="0" y="0"/>
                </a:lnTo>
                <a:close/>
              </a:path>
            </a:pathLst>
          </a:custGeom>
          <a:blipFill rotWithShape="1">
            <a:blip r:embed="rId4">
              <a:alphaModFix/>
            </a:blip>
            <a:stretch>
              <a:fillRect l="-17" r="-17" b="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1" name="Google Shape;241;p18"/>
          <p:cNvSpPr txBox="1"/>
          <p:nvPr/>
        </p:nvSpPr>
        <p:spPr>
          <a:xfrm>
            <a:off x="9374981" y="3368725"/>
            <a:ext cx="3031629" cy="380107"/>
          </a:xfrm>
          <a:prstGeom prst="rect">
            <a:avLst/>
          </a:prstGeom>
          <a:noFill/>
          <a:ln>
            <a:noFill/>
          </a:ln>
        </p:spPr>
        <p:txBody>
          <a:bodyPr spcFirstLastPara="1" wrap="square" lIns="0" tIns="0" rIns="0" bIns="0" anchor="t" anchorCtr="0">
            <a:spAutoFit/>
          </a:bodyPr>
          <a:lstStyle/>
          <a:p>
            <a:pPr marL="0" marR="0" lvl="0" indent="0" algn="l" rtl="0">
              <a:lnSpc>
                <a:spcPct val="125033"/>
              </a:lnSpc>
              <a:spcBef>
                <a:spcPts val="0"/>
              </a:spcBef>
              <a:spcAft>
                <a:spcPts val="0"/>
              </a:spcAft>
              <a:buNone/>
            </a:pPr>
            <a:r>
              <a:rPr lang="en-US" sz="2249" b="1" dirty="0">
                <a:solidFill>
                  <a:srgbClr val="272525"/>
                </a:solidFill>
                <a:latin typeface="Inter"/>
                <a:ea typeface="Inter"/>
                <a:cs typeface="Inter"/>
                <a:sym typeface="Inter"/>
              </a:rPr>
              <a:t>RAG Knowledge Base</a:t>
            </a:r>
            <a:endParaRPr dirty="0"/>
          </a:p>
        </p:txBody>
      </p:sp>
      <p:sp>
        <p:nvSpPr>
          <p:cNvPr id="242" name="Google Shape;242;p18"/>
          <p:cNvSpPr txBox="1"/>
          <p:nvPr/>
        </p:nvSpPr>
        <p:spPr>
          <a:xfrm>
            <a:off x="9374981" y="3820716"/>
            <a:ext cx="7873305" cy="806054"/>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dirty="0">
                <a:solidFill>
                  <a:srgbClr val="272525"/>
                </a:solidFill>
                <a:latin typeface="Inter"/>
                <a:ea typeface="Inter"/>
                <a:cs typeface="Inter"/>
                <a:sym typeface="Inter"/>
              </a:rPr>
              <a:t>Regulatory standards (FERC, NERC), historical applications, grid codes and requirements</a:t>
            </a:r>
            <a:endParaRPr dirty="0"/>
          </a:p>
        </p:txBody>
      </p:sp>
      <p:sp>
        <p:nvSpPr>
          <p:cNvPr id="243" name="Google Shape;243;p18"/>
          <p:cNvSpPr txBox="1"/>
          <p:nvPr/>
        </p:nvSpPr>
        <p:spPr>
          <a:xfrm>
            <a:off x="9374981" y="4698652"/>
            <a:ext cx="7873305" cy="443391"/>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i="1" dirty="0">
                <a:solidFill>
                  <a:srgbClr val="272525"/>
                </a:solidFill>
                <a:latin typeface="Inter"/>
                <a:ea typeface="Inter"/>
                <a:cs typeface="Inter"/>
                <a:sym typeface="Inter"/>
              </a:rPr>
              <a:t>Tech: Vector DB (Chroma)</a:t>
            </a:r>
            <a:endParaRPr dirty="0"/>
          </a:p>
        </p:txBody>
      </p:sp>
      <p:sp>
        <p:nvSpPr>
          <p:cNvPr id="244" name="Google Shape;244;p18" descr="preencoded.png"/>
          <p:cNvSpPr/>
          <p:nvPr/>
        </p:nvSpPr>
        <p:spPr>
          <a:xfrm>
            <a:off x="808732" y="5365998"/>
            <a:ext cx="8335232" cy="924401"/>
          </a:xfrm>
          <a:custGeom>
            <a:avLst/>
            <a:gdLst/>
            <a:ahLst/>
            <a:cxnLst/>
            <a:rect l="l" t="t" r="r" b="b"/>
            <a:pathLst>
              <a:path w="11113643" h="1232535" extrusionOk="0">
                <a:moveTo>
                  <a:pt x="0" y="0"/>
                </a:moveTo>
                <a:lnTo>
                  <a:pt x="11113643" y="0"/>
                </a:lnTo>
                <a:lnTo>
                  <a:pt x="11113643" y="1232535"/>
                </a:lnTo>
                <a:lnTo>
                  <a:pt x="0" y="1232535"/>
                </a:lnTo>
                <a:lnTo>
                  <a:pt x="0" y="0"/>
                </a:lnTo>
                <a:close/>
              </a:path>
            </a:pathLst>
          </a:custGeom>
          <a:blipFill rotWithShape="1">
            <a:blip r:embed="rId5">
              <a:alphaModFix/>
            </a:blip>
            <a:stretch>
              <a:fillRect l="-17" r="-17" b="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18"/>
          <p:cNvSpPr txBox="1"/>
          <p:nvPr/>
        </p:nvSpPr>
        <p:spPr>
          <a:xfrm>
            <a:off x="1039714" y="6502301"/>
            <a:ext cx="2888754" cy="380108"/>
          </a:xfrm>
          <a:prstGeom prst="rect">
            <a:avLst/>
          </a:prstGeom>
          <a:noFill/>
          <a:ln>
            <a:noFill/>
          </a:ln>
        </p:spPr>
        <p:txBody>
          <a:bodyPr spcFirstLastPara="1" wrap="square" lIns="0" tIns="0" rIns="0" bIns="0" anchor="t" anchorCtr="0">
            <a:spAutoFit/>
          </a:bodyPr>
          <a:lstStyle/>
          <a:p>
            <a:pPr marL="0" marR="0" lvl="0" indent="0" algn="l" rtl="0">
              <a:lnSpc>
                <a:spcPct val="125033"/>
              </a:lnSpc>
              <a:spcBef>
                <a:spcPts val="0"/>
              </a:spcBef>
              <a:spcAft>
                <a:spcPts val="0"/>
              </a:spcAft>
              <a:buNone/>
            </a:pPr>
            <a:r>
              <a:rPr lang="en-US" sz="2249" b="1">
                <a:solidFill>
                  <a:srgbClr val="272525"/>
                </a:solidFill>
                <a:latin typeface="Inter"/>
                <a:ea typeface="Inter"/>
                <a:cs typeface="Inter"/>
                <a:sym typeface="Inter"/>
              </a:rPr>
              <a:t>LLM Analysis</a:t>
            </a:r>
            <a:endParaRPr/>
          </a:p>
        </p:txBody>
      </p:sp>
      <p:sp>
        <p:nvSpPr>
          <p:cNvPr id="246" name="Google Shape;246;p18"/>
          <p:cNvSpPr txBox="1"/>
          <p:nvPr/>
        </p:nvSpPr>
        <p:spPr>
          <a:xfrm>
            <a:off x="1039714" y="6954291"/>
            <a:ext cx="7873305" cy="806054"/>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dirty="0">
                <a:solidFill>
                  <a:srgbClr val="272525"/>
                </a:solidFill>
                <a:latin typeface="Inter"/>
                <a:ea typeface="Inter"/>
                <a:cs typeface="Inter"/>
                <a:sym typeface="Inter"/>
              </a:rPr>
              <a:t>Completeness verification, compliance validation, technical specification extraction, flag missing information</a:t>
            </a:r>
            <a:endParaRPr dirty="0"/>
          </a:p>
        </p:txBody>
      </p:sp>
      <p:sp>
        <p:nvSpPr>
          <p:cNvPr id="247" name="Google Shape;247;p18"/>
          <p:cNvSpPr txBox="1"/>
          <p:nvPr/>
        </p:nvSpPr>
        <p:spPr>
          <a:xfrm>
            <a:off x="1039714" y="7832229"/>
            <a:ext cx="7873305" cy="443391"/>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i="1" dirty="0">
                <a:solidFill>
                  <a:srgbClr val="272525"/>
                </a:solidFill>
                <a:latin typeface="Inter"/>
                <a:ea typeface="Inter"/>
                <a:cs typeface="Inter"/>
                <a:sym typeface="Inter"/>
              </a:rPr>
              <a:t>Tech: Open AI</a:t>
            </a:r>
            <a:endParaRPr dirty="0"/>
          </a:p>
        </p:txBody>
      </p:sp>
      <p:sp>
        <p:nvSpPr>
          <p:cNvPr id="248" name="Google Shape;248;p18" descr="preencoded.png"/>
          <p:cNvSpPr/>
          <p:nvPr/>
        </p:nvSpPr>
        <p:spPr>
          <a:xfrm>
            <a:off x="9144000" y="5365998"/>
            <a:ext cx="8335232" cy="924401"/>
          </a:xfrm>
          <a:custGeom>
            <a:avLst/>
            <a:gdLst/>
            <a:ahLst/>
            <a:cxnLst/>
            <a:rect l="l" t="t" r="r" b="b"/>
            <a:pathLst>
              <a:path w="11113643" h="1232535" extrusionOk="0">
                <a:moveTo>
                  <a:pt x="0" y="0"/>
                </a:moveTo>
                <a:lnTo>
                  <a:pt x="11113643" y="0"/>
                </a:lnTo>
                <a:lnTo>
                  <a:pt x="11113643" y="1232535"/>
                </a:lnTo>
                <a:lnTo>
                  <a:pt x="0" y="1232535"/>
                </a:lnTo>
                <a:lnTo>
                  <a:pt x="0" y="0"/>
                </a:lnTo>
                <a:close/>
              </a:path>
            </a:pathLst>
          </a:custGeom>
          <a:blipFill rotWithShape="1">
            <a:blip r:embed="rId6">
              <a:alphaModFix/>
            </a:blip>
            <a:stretch>
              <a:fillRect l="-17" r="-17" b="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9" name="Google Shape;249;p18"/>
          <p:cNvSpPr txBox="1"/>
          <p:nvPr/>
        </p:nvSpPr>
        <p:spPr>
          <a:xfrm>
            <a:off x="9374981" y="6502301"/>
            <a:ext cx="2888754" cy="380108"/>
          </a:xfrm>
          <a:prstGeom prst="rect">
            <a:avLst/>
          </a:prstGeom>
          <a:noFill/>
          <a:ln>
            <a:noFill/>
          </a:ln>
        </p:spPr>
        <p:txBody>
          <a:bodyPr spcFirstLastPara="1" wrap="square" lIns="0" tIns="0" rIns="0" bIns="0" anchor="t" anchorCtr="0">
            <a:spAutoFit/>
          </a:bodyPr>
          <a:lstStyle/>
          <a:p>
            <a:pPr marL="0" marR="0" lvl="0" indent="0" algn="l" rtl="0">
              <a:lnSpc>
                <a:spcPct val="125033"/>
              </a:lnSpc>
              <a:spcBef>
                <a:spcPts val="0"/>
              </a:spcBef>
              <a:spcAft>
                <a:spcPts val="0"/>
              </a:spcAft>
              <a:buNone/>
            </a:pPr>
            <a:r>
              <a:rPr lang="en-US" sz="2249" b="1" dirty="0">
                <a:solidFill>
                  <a:srgbClr val="272525"/>
                </a:solidFill>
                <a:latin typeface="Inter"/>
                <a:ea typeface="Inter"/>
                <a:cs typeface="Inter"/>
                <a:sym typeface="Inter"/>
              </a:rPr>
              <a:t>Automated Report</a:t>
            </a:r>
            <a:endParaRPr dirty="0"/>
          </a:p>
        </p:txBody>
      </p:sp>
      <p:sp>
        <p:nvSpPr>
          <p:cNvPr id="250" name="Google Shape;250;p18"/>
          <p:cNvSpPr txBox="1"/>
          <p:nvPr/>
        </p:nvSpPr>
        <p:spPr>
          <a:xfrm>
            <a:off x="9374981" y="6954291"/>
            <a:ext cx="7873305" cy="806054"/>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dirty="0">
                <a:solidFill>
                  <a:srgbClr val="272525"/>
                </a:solidFill>
                <a:latin typeface="Inter"/>
                <a:ea typeface="Inter"/>
                <a:cs typeface="Inter"/>
                <a:sym typeface="Inter"/>
              </a:rPr>
              <a:t>Validation summary, required corrections, risk assessment, approval recommendation</a:t>
            </a:r>
            <a:endParaRPr dirty="0"/>
          </a:p>
        </p:txBody>
      </p:sp>
      <p:sp>
        <p:nvSpPr>
          <p:cNvPr id="251" name="Google Shape;251;p18"/>
          <p:cNvSpPr txBox="1"/>
          <p:nvPr/>
        </p:nvSpPr>
        <p:spPr>
          <a:xfrm>
            <a:off x="9374981" y="7832229"/>
            <a:ext cx="7873305" cy="436364"/>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i="1" dirty="0">
                <a:solidFill>
                  <a:srgbClr val="272525"/>
                </a:solidFill>
                <a:latin typeface="Inter"/>
                <a:ea typeface="Inter"/>
                <a:cs typeface="Inter"/>
                <a:sym typeface="Inter"/>
              </a:rPr>
              <a:t>Tech: Structured Outputs</a:t>
            </a:r>
            <a:endParaRPr dirty="0"/>
          </a:p>
        </p:txBody>
      </p:sp>
      <p:sp>
        <p:nvSpPr>
          <p:cNvPr id="252" name="Google Shape;252;p18"/>
          <p:cNvSpPr txBox="1"/>
          <p:nvPr/>
        </p:nvSpPr>
        <p:spPr>
          <a:xfrm>
            <a:off x="1155352" y="8952608"/>
            <a:ext cx="16323915" cy="436364"/>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dirty="0">
                <a:solidFill>
                  <a:srgbClr val="272525"/>
                </a:solidFill>
                <a:latin typeface="Inter"/>
                <a:ea typeface="Inter"/>
                <a:cs typeface="Inter"/>
                <a:sym typeface="Inter"/>
              </a:rPr>
              <a:t>Key Benefit: Applications processed in hours instead of weeks, with consistent quality and comprehensive audit trails</a:t>
            </a:r>
            <a:endParaRPr dirty="0"/>
          </a:p>
        </p:txBody>
      </p:sp>
      <p:sp>
        <p:nvSpPr>
          <p:cNvPr id="253" name="Google Shape;253;p18"/>
          <p:cNvSpPr/>
          <p:nvPr/>
        </p:nvSpPr>
        <p:spPr>
          <a:xfrm>
            <a:off x="808732" y="8759429"/>
            <a:ext cx="28575" cy="889444"/>
          </a:xfrm>
          <a:custGeom>
            <a:avLst/>
            <a:gdLst/>
            <a:ahLst/>
            <a:cxnLst/>
            <a:rect l="l" t="t" r="r" b="b"/>
            <a:pathLst>
              <a:path w="38100" h="1185926" extrusionOk="0">
                <a:moveTo>
                  <a:pt x="0" y="0"/>
                </a:moveTo>
                <a:lnTo>
                  <a:pt x="38100" y="0"/>
                </a:lnTo>
                <a:lnTo>
                  <a:pt x="38100" y="1185926"/>
                </a:lnTo>
                <a:lnTo>
                  <a:pt x="0" y="1185926"/>
                </a:lnTo>
                <a:close/>
              </a:path>
            </a:pathLst>
          </a:custGeom>
          <a:solidFill>
            <a:srgbClr val="4950B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Iteration-1: Architecture - Data/Control flow</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415755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Iteration-1: Design elements</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344033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Iteration-1: Evals &amp; Operational Metrics</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367374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Iteration-2: Architecture - Data/Control flow</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397163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Iteration-2: Design elements</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712275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Iteration-2: Evals &amp; Operational Metrics</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65102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Iteration-3: Architecture - Data/Control flow</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090340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Iteration-3: Design elements</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39555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Iteration-3: Evals &amp; Operational Metrics</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7263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Conclusion</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649023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Q &amp; A; Acknowledgement</a:t>
            </a:r>
            <a:endParaRPr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1E60E8DB-11D0-5FED-FA8F-C8FB08E55CC8}"/>
              </a:ext>
            </a:extLst>
          </p:cNvPr>
          <p:cNvSpPr txBox="1"/>
          <p:nvPr/>
        </p:nvSpPr>
        <p:spPr>
          <a:xfrm>
            <a:off x="1951630" y="2784143"/>
            <a:ext cx="12583236" cy="3785652"/>
          </a:xfrm>
          <a:prstGeom prst="rect">
            <a:avLst/>
          </a:prstGeom>
          <a:noFill/>
        </p:spPr>
        <p:txBody>
          <a:bodyPr wrap="square" rtlCol="0">
            <a:spAutoFit/>
          </a:bodyPr>
          <a:lstStyle/>
          <a:p>
            <a:r>
              <a:rPr lang="en-US" sz="4000" b="0" i="0" dirty="0">
                <a:solidFill>
                  <a:srgbClr val="0A0A0A"/>
                </a:solidFill>
                <a:effectLst/>
                <a:latin typeface="Google Sans"/>
              </a:rPr>
              <a:t>Capstone Project Team #16 -  would like to sincerely thank all the participants, Instructors, learning partners and the supporting team during this course. Their help was invaluable to its completion. Thank you</a:t>
            </a:r>
          </a:p>
          <a:p>
            <a:endParaRPr lang="en-US" sz="4000" dirty="0">
              <a:solidFill>
                <a:srgbClr val="0A0A0A"/>
              </a:solidFill>
              <a:latin typeface="Google Sans"/>
            </a:endParaRPr>
          </a:p>
          <a:p>
            <a:pPr algn="l"/>
            <a:r>
              <a:rPr lang="en-IN" sz="4000" b="0" i="0" dirty="0">
                <a:solidFill>
                  <a:srgbClr val="1F2328"/>
                </a:solidFill>
                <a:effectLst/>
                <a:latin typeface="-apple-system"/>
              </a:rPr>
              <a:t>- </a:t>
            </a:r>
            <a:r>
              <a:rPr lang="en-IN" sz="4000" b="0" i="0" dirty="0" err="1">
                <a:solidFill>
                  <a:srgbClr val="1F2328"/>
                </a:solidFill>
                <a:effectLst/>
                <a:latin typeface="-apple-system"/>
              </a:rPr>
              <a:t>Alejo</a:t>
            </a:r>
            <a:r>
              <a:rPr lang="en-IN" sz="4000" b="0" i="0" dirty="0">
                <a:solidFill>
                  <a:srgbClr val="1F2328"/>
                </a:solidFill>
                <a:effectLst/>
                <a:latin typeface="-apple-system"/>
              </a:rPr>
              <a:t>, </a:t>
            </a:r>
            <a:r>
              <a:rPr lang="en-IN" sz="4000" b="0" i="0" dirty="0" err="1">
                <a:solidFill>
                  <a:srgbClr val="1F2328"/>
                </a:solidFill>
                <a:effectLst/>
                <a:latin typeface="-apple-system"/>
              </a:rPr>
              <a:t>Junia</a:t>
            </a:r>
            <a:r>
              <a:rPr lang="en-IN" sz="4000" dirty="0">
                <a:solidFill>
                  <a:srgbClr val="1F2328"/>
                </a:solidFill>
                <a:latin typeface="-apple-system"/>
              </a:rPr>
              <a:t> &amp; RK</a:t>
            </a:r>
            <a:endParaRPr lang="en-IN" sz="4000" b="0" i="0" dirty="0">
              <a:solidFill>
                <a:srgbClr val="1F2328"/>
              </a:solidFill>
              <a:effectLst/>
              <a:latin typeface="-apple-system"/>
            </a:endParaRPr>
          </a:p>
        </p:txBody>
      </p:sp>
    </p:spTree>
    <p:extLst>
      <p:ext uri="{BB962C8B-B14F-4D97-AF65-F5344CB8AC3E}">
        <p14:creationId xmlns:p14="http://schemas.microsoft.com/office/powerpoint/2010/main" val="1878372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Acknowledgement</a:t>
            </a:r>
            <a:endParaRPr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870144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4">
            <a:extLst>
              <a:ext uri="{FF2B5EF4-FFF2-40B4-BE49-F238E27FC236}">
                <a16:creationId xmlns:a16="http://schemas.microsoft.com/office/drawing/2014/main" id="{BD958F0D-4C44-24AE-EFC8-5B0C87AB52E0}"/>
              </a:ext>
            </a:extLst>
          </p:cNvPr>
          <p:cNvSpPr txBox="1"/>
          <p:nvPr/>
        </p:nvSpPr>
        <p:spPr>
          <a:xfrm>
            <a:off x="667048" y="1621066"/>
            <a:ext cx="13298664" cy="1415772"/>
          </a:xfrm>
          <a:prstGeom prst="rect">
            <a:avLst/>
          </a:prstGeom>
          <a:noFill/>
          <a:ln>
            <a:noFill/>
          </a:ln>
        </p:spPr>
        <p:txBody>
          <a:bodyPr spcFirstLastPara="1" wrap="square" lIns="0" tIns="0" rIns="0" bIns="0" anchor="t" anchorCtr="0">
            <a:spAutoFit/>
          </a:bodyPr>
          <a:lstStyle/>
          <a:p>
            <a:pPr algn="l"/>
            <a:endParaRPr lang="en-IN" sz="2800" dirty="0">
              <a:solidFill>
                <a:srgbClr val="272525"/>
              </a:solidFill>
              <a:latin typeface="Verdana" panose="020B0604030504040204" pitchFamily="34" charset="0"/>
              <a:ea typeface="Verdana" panose="020B0604030504040204" pitchFamily="34" charset="0"/>
              <a:sym typeface="Inter"/>
            </a:endParaRPr>
          </a:p>
          <a:p>
            <a:pPr algn="l"/>
            <a:endParaRPr lang="en-IN" sz="2800" i="0" dirty="0">
              <a:solidFill>
                <a:srgbClr val="272525"/>
              </a:solidFill>
              <a:effectLst/>
              <a:latin typeface="Verdana" panose="020B0604030504040204" pitchFamily="34" charset="0"/>
              <a:ea typeface="Verdana" panose="020B0604030504040204" pitchFamily="34" charset="0"/>
              <a:sym typeface="Inter"/>
            </a:endParaRPr>
          </a:p>
          <a:p>
            <a:pPr algn="l"/>
            <a:endParaRPr lang="en-IN" sz="3600" b="0" i="0" dirty="0">
              <a:solidFill>
                <a:srgbClr val="1F2328"/>
              </a:solidFill>
              <a:effectLst/>
              <a:latin typeface="-apple-system"/>
            </a:endParaRPr>
          </a:p>
        </p:txBody>
      </p:sp>
      <p:sp>
        <p:nvSpPr>
          <p:cNvPr id="3" name="Google Shape;96;p14">
            <a:extLst>
              <a:ext uri="{FF2B5EF4-FFF2-40B4-BE49-F238E27FC236}">
                <a16:creationId xmlns:a16="http://schemas.microsoft.com/office/drawing/2014/main" id="{AD1B92BA-ED9C-F0E6-B4D5-6526C796FB2E}"/>
              </a:ext>
            </a:extLst>
          </p:cNvPr>
          <p:cNvSpPr txBox="1"/>
          <p:nvPr/>
        </p:nvSpPr>
        <p:spPr>
          <a:xfrm>
            <a:off x="881360" y="479077"/>
            <a:ext cx="15700670" cy="1038746"/>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IN" sz="5400" i="0" dirty="0">
                <a:solidFill>
                  <a:srgbClr val="272525"/>
                </a:solidFill>
                <a:effectLst/>
                <a:latin typeface="Verdana" panose="020B0604030504040204" pitchFamily="34" charset="0"/>
                <a:ea typeface="Verdana" panose="020B0604030504040204" pitchFamily="34" charset="0"/>
                <a:sym typeface="Inter"/>
              </a:rPr>
              <a:t>Additional Information slides / </a:t>
            </a:r>
            <a:r>
              <a:rPr lang="en-IN" sz="5400" i="0" dirty="0" err="1">
                <a:solidFill>
                  <a:srgbClr val="272525"/>
                </a:solidFill>
                <a:effectLst/>
                <a:latin typeface="Verdana" panose="020B0604030504040204" pitchFamily="34" charset="0"/>
                <a:ea typeface="Verdana" panose="020B0604030504040204" pitchFamily="34" charset="0"/>
                <a:sym typeface="Inter"/>
              </a:rPr>
              <a:t>Bakcup</a:t>
            </a:r>
            <a:endParaRPr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8789B1AB-882D-246D-8FE8-3133222030ED}"/>
              </a:ext>
            </a:extLst>
          </p:cNvPr>
          <p:cNvSpPr txBox="1"/>
          <p:nvPr/>
        </p:nvSpPr>
        <p:spPr>
          <a:xfrm>
            <a:off x="1672930" y="3398293"/>
            <a:ext cx="13298664" cy="4154984"/>
          </a:xfrm>
          <a:prstGeom prst="rect">
            <a:avLst/>
          </a:prstGeom>
          <a:noFill/>
        </p:spPr>
        <p:txBody>
          <a:bodyPr wrap="square" rtlCol="0">
            <a:spAutoFit/>
          </a:bodyPr>
          <a:lstStyle/>
          <a:p>
            <a:pPr algn="ctr"/>
            <a:r>
              <a:rPr lang="en-IN" sz="8800" dirty="0"/>
              <a:t>Additional Information </a:t>
            </a:r>
          </a:p>
          <a:p>
            <a:pPr algn="ctr"/>
            <a:r>
              <a:rPr lang="en-IN" sz="8800" dirty="0"/>
              <a:t>/ </a:t>
            </a:r>
          </a:p>
          <a:p>
            <a:pPr algn="ctr"/>
            <a:r>
              <a:rPr lang="en-IN" sz="8800" dirty="0"/>
              <a:t>Backup  slides </a:t>
            </a:r>
            <a:endParaRPr lang="en-IN" sz="2000" dirty="0"/>
          </a:p>
        </p:txBody>
      </p:sp>
    </p:spTree>
    <p:extLst>
      <p:ext uri="{BB962C8B-B14F-4D97-AF65-F5344CB8AC3E}">
        <p14:creationId xmlns:p14="http://schemas.microsoft.com/office/powerpoint/2010/main" val="9815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9"/>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6F4F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9" name="Google Shape;259;p19"/>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19" descr="preencoded.png"/>
          <p:cNvSpPr/>
          <p:nvPr/>
        </p:nvSpPr>
        <p:spPr>
          <a:xfrm>
            <a:off x="0" y="0"/>
            <a:ext cx="6858000" cy="10287000"/>
          </a:xfrm>
          <a:custGeom>
            <a:avLst/>
            <a:gdLst/>
            <a:ahLst/>
            <a:cxnLst/>
            <a:rect l="l" t="t" r="r" b="b"/>
            <a:pathLst>
              <a:path w="9144000" h="13716000" extrusionOk="0">
                <a:moveTo>
                  <a:pt x="0" y="0"/>
                </a:moveTo>
                <a:lnTo>
                  <a:pt x="9144000" y="0"/>
                </a:lnTo>
                <a:lnTo>
                  <a:pt x="9144000" y="13716000"/>
                </a:lnTo>
                <a:lnTo>
                  <a:pt x="0" y="1371600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1" name="Google Shape;261;p19"/>
          <p:cNvSpPr txBox="1"/>
          <p:nvPr/>
        </p:nvSpPr>
        <p:spPr>
          <a:xfrm>
            <a:off x="7533234" y="521642"/>
            <a:ext cx="7703046" cy="612427"/>
          </a:xfrm>
          <a:prstGeom prst="rect">
            <a:avLst/>
          </a:prstGeom>
          <a:noFill/>
          <a:ln>
            <a:noFill/>
          </a:ln>
        </p:spPr>
        <p:txBody>
          <a:bodyPr spcFirstLastPara="1" wrap="square" lIns="0" tIns="0" rIns="0" bIns="0" anchor="t" anchorCtr="0">
            <a:spAutoFit/>
          </a:bodyPr>
          <a:lstStyle/>
          <a:p>
            <a:pPr marL="0" marR="0" lvl="0" indent="0" algn="l" rtl="0">
              <a:lnSpc>
                <a:spcPct val="125020"/>
              </a:lnSpc>
              <a:spcBef>
                <a:spcPts val="0"/>
              </a:spcBef>
              <a:spcAft>
                <a:spcPts val="0"/>
              </a:spcAft>
              <a:buNone/>
            </a:pPr>
            <a:r>
              <a:rPr lang="en-US" sz="3749" b="1" dirty="0">
                <a:solidFill>
                  <a:srgbClr val="000000"/>
                </a:solidFill>
                <a:latin typeface="Inter"/>
                <a:ea typeface="Inter"/>
                <a:cs typeface="Inter"/>
                <a:sym typeface="Inter"/>
              </a:rPr>
              <a:t>Challenge 2: Grid Impact Studies</a:t>
            </a:r>
            <a:endParaRPr dirty="0"/>
          </a:p>
        </p:txBody>
      </p:sp>
      <p:sp>
        <p:nvSpPr>
          <p:cNvPr id="262" name="Google Shape;262;p19"/>
          <p:cNvSpPr txBox="1"/>
          <p:nvPr/>
        </p:nvSpPr>
        <p:spPr>
          <a:xfrm>
            <a:off x="7533234" y="1597224"/>
            <a:ext cx="2894260" cy="380851"/>
          </a:xfrm>
          <a:prstGeom prst="rect">
            <a:avLst/>
          </a:prstGeom>
          <a:noFill/>
          <a:ln>
            <a:noFill/>
          </a:ln>
        </p:spPr>
        <p:txBody>
          <a:bodyPr spcFirstLastPara="1" wrap="square" lIns="0" tIns="0" rIns="0" bIns="0" anchor="t" anchorCtr="0">
            <a:spAutoFit/>
          </a:bodyPr>
          <a:lstStyle/>
          <a:p>
            <a:pPr marL="0" marR="0" lvl="0" indent="0" algn="l" rtl="0">
              <a:lnSpc>
                <a:spcPct val="125033"/>
              </a:lnSpc>
              <a:spcBef>
                <a:spcPts val="0"/>
              </a:spcBef>
              <a:spcAft>
                <a:spcPts val="0"/>
              </a:spcAft>
              <a:buNone/>
            </a:pPr>
            <a:r>
              <a:rPr lang="en-US" sz="2249" b="1" dirty="0">
                <a:solidFill>
                  <a:srgbClr val="000000"/>
                </a:solidFill>
                <a:latin typeface="Inter"/>
                <a:ea typeface="Inter"/>
                <a:cs typeface="Inter"/>
                <a:sym typeface="Inter"/>
              </a:rPr>
              <a:t>The Problem</a:t>
            </a:r>
            <a:endParaRPr dirty="0"/>
          </a:p>
        </p:txBody>
      </p:sp>
      <p:sp>
        <p:nvSpPr>
          <p:cNvPr id="263" name="Google Shape;263;p19"/>
          <p:cNvSpPr txBox="1"/>
          <p:nvPr/>
        </p:nvSpPr>
        <p:spPr>
          <a:xfrm>
            <a:off x="7533234" y="2113806"/>
            <a:ext cx="4804470" cy="1292424"/>
          </a:xfrm>
          <a:prstGeom prst="rect">
            <a:avLst/>
          </a:prstGeom>
          <a:noFill/>
          <a:ln>
            <a:noFill/>
          </a:ln>
        </p:spPr>
        <p:txBody>
          <a:bodyPr spcFirstLastPara="1" wrap="square" lIns="0" tIns="0" rIns="0" bIns="0" anchor="t" anchorCtr="0">
            <a:spAutoFit/>
          </a:bodyPr>
          <a:lstStyle/>
          <a:p>
            <a:pPr marL="0" marR="0" lvl="0" indent="0" algn="l" rtl="0">
              <a:lnSpc>
                <a:spcPct val="158333"/>
              </a:lnSpc>
              <a:spcBef>
                <a:spcPts val="0"/>
              </a:spcBef>
              <a:spcAft>
                <a:spcPts val="0"/>
              </a:spcAft>
              <a:buNone/>
            </a:pPr>
            <a:r>
              <a:rPr lang="en-US" sz="1500" dirty="0">
                <a:solidFill>
                  <a:srgbClr val="272525"/>
                </a:solidFill>
                <a:latin typeface="Inter"/>
                <a:ea typeface="Inter"/>
                <a:cs typeface="Inter"/>
                <a:sym typeface="Inter"/>
              </a:rPr>
              <a:t>Complex simulations required to assess voltage stability, fault analysis, power flow dynamics, and overall system reliability before approving new connections.</a:t>
            </a:r>
            <a:endParaRPr dirty="0"/>
          </a:p>
        </p:txBody>
      </p:sp>
      <p:sp>
        <p:nvSpPr>
          <p:cNvPr id="264" name="Google Shape;264;p19"/>
          <p:cNvSpPr txBox="1"/>
          <p:nvPr/>
        </p:nvSpPr>
        <p:spPr>
          <a:xfrm>
            <a:off x="7533234" y="3580060"/>
            <a:ext cx="2894260" cy="380851"/>
          </a:xfrm>
          <a:prstGeom prst="rect">
            <a:avLst/>
          </a:prstGeom>
          <a:noFill/>
          <a:ln>
            <a:noFill/>
          </a:ln>
        </p:spPr>
        <p:txBody>
          <a:bodyPr spcFirstLastPara="1" wrap="square" lIns="0" tIns="0" rIns="0" bIns="0" anchor="t" anchorCtr="0">
            <a:spAutoFit/>
          </a:bodyPr>
          <a:lstStyle/>
          <a:p>
            <a:pPr marL="0" marR="0" lvl="0" indent="0" algn="l" rtl="0">
              <a:lnSpc>
                <a:spcPct val="125033"/>
              </a:lnSpc>
              <a:spcBef>
                <a:spcPts val="0"/>
              </a:spcBef>
              <a:spcAft>
                <a:spcPts val="0"/>
              </a:spcAft>
              <a:buNone/>
            </a:pPr>
            <a:r>
              <a:rPr lang="en-US" sz="2249" b="1" dirty="0">
                <a:solidFill>
                  <a:srgbClr val="000000"/>
                </a:solidFill>
                <a:latin typeface="Inter"/>
                <a:ea typeface="Inter"/>
                <a:cs typeface="Inter"/>
                <a:sym typeface="Inter"/>
              </a:rPr>
              <a:t>Current State</a:t>
            </a:r>
            <a:endParaRPr dirty="0"/>
          </a:p>
        </p:txBody>
      </p:sp>
      <p:sp>
        <p:nvSpPr>
          <p:cNvPr id="265" name="Google Shape;265;p19"/>
          <p:cNvSpPr txBox="1"/>
          <p:nvPr/>
        </p:nvSpPr>
        <p:spPr>
          <a:xfrm>
            <a:off x="7533234" y="4096643"/>
            <a:ext cx="4804470" cy="983605"/>
          </a:xfrm>
          <a:prstGeom prst="rect">
            <a:avLst/>
          </a:prstGeom>
          <a:noFill/>
          <a:ln>
            <a:noFill/>
          </a:ln>
        </p:spPr>
        <p:txBody>
          <a:bodyPr spcFirstLastPara="1" wrap="square" lIns="0" tIns="0" rIns="0" bIns="0" anchor="t" anchorCtr="0">
            <a:spAutoFit/>
          </a:bodyPr>
          <a:lstStyle/>
          <a:p>
            <a:pPr marL="0" marR="0" lvl="0" indent="0" algn="l" rtl="0">
              <a:lnSpc>
                <a:spcPct val="158333"/>
              </a:lnSpc>
              <a:spcBef>
                <a:spcPts val="0"/>
              </a:spcBef>
              <a:spcAft>
                <a:spcPts val="0"/>
              </a:spcAft>
              <a:buNone/>
            </a:pPr>
            <a:r>
              <a:rPr lang="en-US" sz="1500" dirty="0">
                <a:solidFill>
                  <a:srgbClr val="272525"/>
                </a:solidFill>
                <a:latin typeface="Inter"/>
                <a:ea typeface="Inter"/>
                <a:cs typeface="Inter"/>
                <a:sym typeface="Inter"/>
              </a:rPr>
              <a:t>Studies take months per project, require </a:t>
            </a:r>
            <a:r>
              <a:rPr lang="en-US" sz="1500" dirty="0" err="1">
                <a:solidFill>
                  <a:srgbClr val="272525"/>
                </a:solidFill>
                <a:latin typeface="Inter"/>
                <a:ea typeface="Inter"/>
                <a:cs typeface="Inter"/>
                <a:sym typeface="Inter"/>
              </a:rPr>
              <a:t>specialised</a:t>
            </a:r>
            <a:r>
              <a:rPr lang="en-US" sz="1500" dirty="0">
                <a:solidFill>
                  <a:srgbClr val="272525"/>
                </a:solidFill>
                <a:latin typeface="Inter"/>
                <a:ea typeface="Inter"/>
                <a:cs typeface="Inter"/>
                <a:sym typeface="Inter"/>
              </a:rPr>
              <a:t> engineers with deep expertise, and involve manual scenario modelling that's difficult to scale.</a:t>
            </a:r>
            <a:endParaRPr dirty="0"/>
          </a:p>
        </p:txBody>
      </p:sp>
      <p:grpSp>
        <p:nvGrpSpPr>
          <p:cNvPr id="266" name="Google Shape;266;p19"/>
          <p:cNvGrpSpPr/>
          <p:nvPr/>
        </p:nvGrpSpPr>
        <p:grpSpPr>
          <a:xfrm>
            <a:off x="12803535" y="1626096"/>
            <a:ext cx="4833080" cy="1892332"/>
            <a:chOff x="0" y="0"/>
            <a:chExt cx="6444107" cy="2523109"/>
          </a:xfrm>
        </p:grpSpPr>
        <p:sp>
          <p:nvSpPr>
            <p:cNvPr id="267" name="Google Shape;267;p19"/>
            <p:cNvSpPr/>
            <p:nvPr/>
          </p:nvSpPr>
          <p:spPr>
            <a:xfrm>
              <a:off x="19050" y="19050"/>
              <a:ext cx="6406007" cy="2485009"/>
            </a:xfrm>
            <a:custGeom>
              <a:avLst/>
              <a:gdLst/>
              <a:ahLst/>
              <a:cxnLst/>
              <a:rect l="l" t="t" r="r" b="b"/>
              <a:pathLst>
                <a:path w="6406007" h="2485009" extrusionOk="0">
                  <a:moveTo>
                    <a:pt x="0" y="108077"/>
                  </a:moveTo>
                  <a:cubicBezTo>
                    <a:pt x="0" y="48387"/>
                    <a:pt x="48768" y="0"/>
                    <a:pt x="109093" y="0"/>
                  </a:cubicBezTo>
                  <a:lnTo>
                    <a:pt x="6296914" y="0"/>
                  </a:lnTo>
                  <a:cubicBezTo>
                    <a:pt x="6357112" y="0"/>
                    <a:pt x="6406007" y="48387"/>
                    <a:pt x="6406007" y="108077"/>
                  </a:cubicBezTo>
                  <a:lnTo>
                    <a:pt x="6406007" y="2376932"/>
                  </a:lnTo>
                  <a:cubicBezTo>
                    <a:pt x="6406007" y="2436622"/>
                    <a:pt x="6357239" y="2485009"/>
                    <a:pt x="6296914" y="2485009"/>
                  </a:cubicBezTo>
                  <a:lnTo>
                    <a:pt x="109093" y="2485009"/>
                  </a:lnTo>
                  <a:cubicBezTo>
                    <a:pt x="48895" y="2485009"/>
                    <a:pt x="0" y="2436622"/>
                    <a:pt x="0" y="2376932"/>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8" name="Google Shape;268;p19"/>
            <p:cNvSpPr/>
            <p:nvPr/>
          </p:nvSpPr>
          <p:spPr>
            <a:xfrm>
              <a:off x="0" y="0"/>
              <a:ext cx="6444107" cy="2523109"/>
            </a:xfrm>
            <a:custGeom>
              <a:avLst/>
              <a:gdLst/>
              <a:ahLst/>
              <a:cxnLst/>
              <a:rect l="l" t="t" r="r" b="b"/>
              <a:pathLst>
                <a:path w="6444107" h="2523109" extrusionOk="0">
                  <a:moveTo>
                    <a:pt x="0" y="127127"/>
                  </a:moveTo>
                  <a:cubicBezTo>
                    <a:pt x="0" y="56769"/>
                    <a:pt x="57531" y="0"/>
                    <a:pt x="128143" y="0"/>
                  </a:cubicBezTo>
                  <a:lnTo>
                    <a:pt x="6315964" y="0"/>
                  </a:lnTo>
                  <a:lnTo>
                    <a:pt x="6315964" y="19050"/>
                  </a:lnTo>
                  <a:lnTo>
                    <a:pt x="6315964" y="0"/>
                  </a:lnTo>
                  <a:cubicBezTo>
                    <a:pt x="6386576" y="0"/>
                    <a:pt x="6444107" y="56769"/>
                    <a:pt x="6444107" y="127127"/>
                  </a:cubicBezTo>
                  <a:lnTo>
                    <a:pt x="6425057" y="127127"/>
                  </a:lnTo>
                  <a:lnTo>
                    <a:pt x="6444107" y="127127"/>
                  </a:lnTo>
                  <a:lnTo>
                    <a:pt x="6444107" y="2395982"/>
                  </a:lnTo>
                  <a:lnTo>
                    <a:pt x="6425057" y="2395982"/>
                  </a:lnTo>
                  <a:lnTo>
                    <a:pt x="6444107" y="2395982"/>
                  </a:lnTo>
                  <a:cubicBezTo>
                    <a:pt x="6444107" y="2466340"/>
                    <a:pt x="6386576" y="2523109"/>
                    <a:pt x="6315964" y="2523109"/>
                  </a:cubicBezTo>
                  <a:lnTo>
                    <a:pt x="6315964" y="2504059"/>
                  </a:lnTo>
                  <a:lnTo>
                    <a:pt x="6315964" y="2523109"/>
                  </a:lnTo>
                  <a:lnTo>
                    <a:pt x="128143" y="2523109"/>
                  </a:lnTo>
                  <a:lnTo>
                    <a:pt x="128143" y="2504059"/>
                  </a:lnTo>
                  <a:lnTo>
                    <a:pt x="128143" y="2523109"/>
                  </a:lnTo>
                  <a:cubicBezTo>
                    <a:pt x="57531" y="2523109"/>
                    <a:pt x="0" y="2466340"/>
                    <a:pt x="0" y="2395982"/>
                  </a:cubicBezTo>
                  <a:lnTo>
                    <a:pt x="0" y="127127"/>
                  </a:lnTo>
                  <a:lnTo>
                    <a:pt x="19050" y="127127"/>
                  </a:lnTo>
                  <a:lnTo>
                    <a:pt x="0" y="127127"/>
                  </a:lnTo>
                  <a:moveTo>
                    <a:pt x="38100" y="127127"/>
                  </a:moveTo>
                  <a:lnTo>
                    <a:pt x="38100" y="2395982"/>
                  </a:lnTo>
                  <a:lnTo>
                    <a:pt x="19050" y="2395982"/>
                  </a:lnTo>
                  <a:lnTo>
                    <a:pt x="38100" y="2395982"/>
                  </a:lnTo>
                  <a:cubicBezTo>
                    <a:pt x="38100" y="2445004"/>
                    <a:pt x="78232" y="2485009"/>
                    <a:pt x="128143" y="2485009"/>
                  </a:cubicBezTo>
                  <a:lnTo>
                    <a:pt x="6315964" y="2485009"/>
                  </a:lnTo>
                  <a:cubicBezTo>
                    <a:pt x="6365875" y="2485009"/>
                    <a:pt x="6406007" y="2445004"/>
                    <a:pt x="6406007" y="2395982"/>
                  </a:cubicBezTo>
                  <a:lnTo>
                    <a:pt x="6406007" y="127127"/>
                  </a:lnTo>
                  <a:cubicBezTo>
                    <a:pt x="6406007" y="78105"/>
                    <a:pt x="6365875" y="38100"/>
                    <a:pt x="6315964" y="38100"/>
                  </a:cubicBezTo>
                  <a:lnTo>
                    <a:pt x="128143" y="38100"/>
                  </a:lnTo>
                  <a:lnTo>
                    <a:pt x="128143" y="19050"/>
                  </a:lnTo>
                  <a:lnTo>
                    <a:pt x="128143" y="38100"/>
                  </a:lnTo>
                  <a:cubicBezTo>
                    <a:pt x="78232" y="38100"/>
                    <a:pt x="38100" y="78105"/>
                    <a:pt x="38100" y="127127"/>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69" name="Google Shape;269;p19"/>
          <p:cNvSpPr txBox="1"/>
          <p:nvPr/>
        </p:nvSpPr>
        <p:spPr>
          <a:xfrm>
            <a:off x="13039279" y="1852315"/>
            <a:ext cx="2411909" cy="311051"/>
          </a:xfrm>
          <a:prstGeom prst="rect">
            <a:avLst/>
          </a:prstGeom>
          <a:noFill/>
          <a:ln>
            <a:noFill/>
          </a:ln>
        </p:spPr>
        <p:txBody>
          <a:bodyPr spcFirstLastPara="1" wrap="square" lIns="0" tIns="0" rIns="0" bIns="0" anchor="t" anchorCtr="0">
            <a:spAutoFit/>
          </a:bodyPr>
          <a:lstStyle/>
          <a:p>
            <a:pPr marL="0" marR="0" lvl="0" indent="0" algn="l" rtl="0">
              <a:lnSpc>
                <a:spcPct val="123372"/>
              </a:lnSpc>
              <a:spcBef>
                <a:spcPts val="0"/>
              </a:spcBef>
              <a:spcAft>
                <a:spcPts val="0"/>
              </a:spcAft>
              <a:buNone/>
            </a:pPr>
            <a:r>
              <a:rPr lang="en-US" sz="1874" b="1">
                <a:solidFill>
                  <a:srgbClr val="272525"/>
                </a:solidFill>
                <a:latin typeface="Inter"/>
                <a:ea typeface="Inter"/>
                <a:cs typeface="Inter"/>
                <a:sym typeface="Inter"/>
              </a:rPr>
              <a:t>Multi-Agent System</a:t>
            </a:r>
            <a:endParaRPr/>
          </a:p>
        </p:txBody>
      </p:sp>
      <p:sp>
        <p:nvSpPr>
          <p:cNvPr id="270" name="Google Shape;270;p19"/>
          <p:cNvSpPr txBox="1"/>
          <p:nvPr/>
        </p:nvSpPr>
        <p:spPr>
          <a:xfrm>
            <a:off x="13039279" y="2299096"/>
            <a:ext cx="4361558" cy="983605"/>
          </a:xfrm>
          <a:prstGeom prst="rect">
            <a:avLst/>
          </a:prstGeom>
          <a:noFill/>
          <a:ln>
            <a:noFill/>
          </a:ln>
        </p:spPr>
        <p:txBody>
          <a:bodyPr spcFirstLastPara="1" wrap="square" lIns="0" tIns="0" rIns="0" bIns="0" anchor="t" anchorCtr="0">
            <a:spAutoFit/>
          </a:bodyPr>
          <a:lstStyle/>
          <a:p>
            <a:pPr marL="0" marR="0" lvl="0" indent="0" algn="l" rtl="0">
              <a:lnSpc>
                <a:spcPct val="158333"/>
              </a:lnSpc>
              <a:spcBef>
                <a:spcPts val="0"/>
              </a:spcBef>
              <a:spcAft>
                <a:spcPts val="0"/>
              </a:spcAft>
              <a:buNone/>
            </a:pPr>
            <a:r>
              <a:rPr lang="en-US" sz="1500" dirty="0" err="1">
                <a:solidFill>
                  <a:srgbClr val="272525"/>
                </a:solidFill>
                <a:latin typeface="Inter"/>
                <a:ea typeface="Inter"/>
                <a:cs typeface="Inter"/>
                <a:sym typeface="Inter"/>
              </a:rPr>
              <a:t>Specialised</a:t>
            </a:r>
            <a:r>
              <a:rPr lang="en-US" sz="1500" dirty="0">
                <a:solidFill>
                  <a:srgbClr val="272525"/>
                </a:solidFill>
                <a:latin typeface="Inter"/>
                <a:ea typeface="Inter"/>
                <a:cs typeface="Inter"/>
                <a:sym typeface="Inter"/>
              </a:rPr>
              <a:t> agents for each study type—voltage analysis, fault assessment, and power flow modelling</a:t>
            </a:r>
            <a:endParaRPr dirty="0"/>
          </a:p>
        </p:txBody>
      </p:sp>
      <p:grpSp>
        <p:nvGrpSpPr>
          <p:cNvPr id="271" name="Google Shape;271;p19"/>
          <p:cNvGrpSpPr/>
          <p:nvPr/>
        </p:nvGrpSpPr>
        <p:grpSpPr>
          <a:xfrm>
            <a:off x="12803535" y="3682752"/>
            <a:ext cx="4832985" cy="1583531"/>
            <a:chOff x="0" y="0"/>
            <a:chExt cx="6443980" cy="2111375"/>
          </a:xfrm>
        </p:grpSpPr>
        <p:sp>
          <p:nvSpPr>
            <p:cNvPr id="272" name="Google Shape;272;p19"/>
            <p:cNvSpPr/>
            <p:nvPr/>
          </p:nvSpPr>
          <p:spPr>
            <a:xfrm>
              <a:off x="19050" y="19050"/>
              <a:ext cx="6405880" cy="2073275"/>
            </a:xfrm>
            <a:custGeom>
              <a:avLst/>
              <a:gdLst/>
              <a:ahLst/>
              <a:cxnLst/>
              <a:rect l="l" t="t" r="r" b="b"/>
              <a:pathLst>
                <a:path w="6405880" h="2073275" extrusionOk="0">
                  <a:moveTo>
                    <a:pt x="0" y="108077"/>
                  </a:moveTo>
                  <a:cubicBezTo>
                    <a:pt x="0" y="48387"/>
                    <a:pt x="49022" y="0"/>
                    <a:pt x="109347" y="0"/>
                  </a:cubicBezTo>
                  <a:lnTo>
                    <a:pt x="6296533" y="0"/>
                  </a:lnTo>
                  <a:cubicBezTo>
                    <a:pt x="6356985" y="0"/>
                    <a:pt x="6405880" y="48387"/>
                    <a:pt x="6405880" y="108077"/>
                  </a:cubicBezTo>
                  <a:lnTo>
                    <a:pt x="6405880" y="1965198"/>
                  </a:lnTo>
                  <a:cubicBezTo>
                    <a:pt x="6405880" y="2024888"/>
                    <a:pt x="6356858" y="2073275"/>
                    <a:pt x="6296533" y="2073275"/>
                  </a:cubicBezTo>
                  <a:lnTo>
                    <a:pt x="109347" y="2073275"/>
                  </a:lnTo>
                  <a:cubicBezTo>
                    <a:pt x="48895" y="2073275"/>
                    <a:pt x="0" y="2024888"/>
                    <a:pt x="0" y="196519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3" name="Google Shape;273;p19"/>
            <p:cNvSpPr/>
            <p:nvPr/>
          </p:nvSpPr>
          <p:spPr>
            <a:xfrm>
              <a:off x="0" y="0"/>
              <a:ext cx="6443980" cy="2111375"/>
            </a:xfrm>
            <a:custGeom>
              <a:avLst/>
              <a:gdLst/>
              <a:ahLst/>
              <a:cxnLst/>
              <a:rect l="l" t="t" r="r" b="b"/>
              <a:pathLst>
                <a:path w="6443980" h="2111375" extrusionOk="0">
                  <a:moveTo>
                    <a:pt x="0" y="127127"/>
                  </a:moveTo>
                  <a:cubicBezTo>
                    <a:pt x="0" y="56642"/>
                    <a:pt x="57785" y="0"/>
                    <a:pt x="128397" y="0"/>
                  </a:cubicBezTo>
                  <a:lnTo>
                    <a:pt x="6315583" y="0"/>
                  </a:lnTo>
                  <a:lnTo>
                    <a:pt x="6315583" y="19050"/>
                  </a:lnTo>
                  <a:lnTo>
                    <a:pt x="6315583" y="0"/>
                  </a:lnTo>
                  <a:cubicBezTo>
                    <a:pt x="6386322" y="0"/>
                    <a:pt x="6443980" y="56642"/>
                    <a:pt x="6443980" y="127127"/>
                  </a:cubicBezTo>
                  <a:lnTo>
                    <a:pt x="6424930" y="127127"/>
                  </a:lnTo>
                  <a:lnTo>
                    <a:pt x="6443980" y="127127"/>
                  </a:lnTo>
                  <a:lnTo>
                    <a:pt x="6443980" y="1984248"/>
                  </a:lnTo>
                  <a:lnTo>
                    <a:pt x="6424930" y="1984248"/>
                  </a:lnTo>
                  <a:lnTo>
                    <a:pt x="6443980" y="1984248"/>
                  </a:lnTo>
                  <a:cubicBezTo>
                    <a:pt x="6443980" y="2054606"/>
                    <a:pt x="6386195" y="2111375"/>
                    <a:pt x="6315583" y="2111375"/>
                  </a:cubicBezTo>
                  <a:lnTo>
                    <a:pt x="6315583" y="2092325"/>
                  </a:lnTo>
                  <a:lnTo>
                    <a:pt x="6315583" y="2111375"/>
                  </a:lnTo>
                  <a:lnTo>
                    <a:pt x="128397" y="2111375"/>
                  </a:lnTo>
                  <a:lnTo>
                    <a:pt x="128397" y="2092325"/>
                  </a:lnTo>
                  <a:lnTo>
                    <a:pt x="128397" y="2111375"/>
                  </a:lnTo>
                  <a:cubicBezTo>
                    <a:pt x="57785" y="2111375"/>
                    <a:pt x="0" y="2054733"/>
                    <a:pt x="0" y="1984248"/>
                  </a:cubicBezTo>
                  <a:lnTo>
                    <a:pt x="0" y="127127"/>
                  </a:lnTo>
                  <a:lnTo>
                    <a:pt x="19050" y="127127"/>
                  </a:lnTo>
                  <a:lnTo>
                    <a:pt x="0" y="127127"/>
                  </a:lnTo>
                  <a:moveTo>
                    <a:pt x="38100" y="127127"/>
                  </a:moveTo>
                  <a:lnTo>
                    <a:pt x="38100" y="1984248"/>
                  </a:lnTo>
                  <a:lnTo>
                    <a:pt x="19050" y="1984248"/>
                  </a:lnTo>
                  <a:lnTo>
                    <a:pt x="38100" y="1984248"/>
                  </a:lnTo>
                  <a:cubicBezTo>
                    <a:pt x="38100" y="2033143"/>
                    <a:pt x="78359" y="2073275"/>
                    <a:pt x="128397" y="2073275"/>
                  </a:cubicBezTo>
                  <a:lnTo>
                    <a:pt x="6315583" y="2073275"/>
                  </a:lnTo>
                  <a:cubicBezTo>
                    <a:pt x="6365748" y="2073275"/>
                    <a:pt x="6405880" y="2033143"/>
                    <a:pt x="6405880" y="1984248"/>
                  </a:cubicBezTo>
                  <a:lnTo>
                    <a:pt x="6405880" y="127127"/>
                  </a:lnTo>
                  <a:cubicBezTo>
                    <a:pt x="6405880" y="78232"/>
                    <a:pt x="6365621" y="38100"/>
                    <a:pt x="6315583" y="38100"/>
                  </a:cubicBezTo>
                  <a:lnTo>
                    <a:pt x="128397" y="38100"/>
                  </a:lnTo>
                  <a:lnTo>
                    <a:pt x="128397" y="19050"/>
                  </a:lnTo>
                  <a:lnTo>
                    <a:pt x="128397" y="38100"/>
                  </a:lnTo>
                  <a:cubicBezTo>
                    <a:pt x="78359" y="38100"/>
                    <a:pt x="38100" y="78232"/>
                    <a:pt x="38100" y="127127"/>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74" name="Google Shape;274;p19"/>
          <p:cNvSpPr txBox="1"/>
          <p:nvPr/>
        </p:nvSpPr>
        <p:spPr>
          <a:xfrm>
            <a:off x="13039279" y="3908971"/>
            <a:ext cx="2411909" cy="311051"/>
          </a:xfrm>
          <a:prstGeom prst="rect">
            <a:avLst/>
          </a:prstGeom>
          <a:noFill/>
          <a:ln>
            <a:noFill/>
          </a:ln>
        </p:spPr>
        <p:txBody>
          <a:bodyPr spcFirstLastPara="1" wrap="square" lIns="0" tIns="0" rIns="0" bIns="0" anchor="t" anchorCtr="0">
            <a:spAutoFit/>
          </a:bodyPr>
          <a:lstStyle/>
          <a:p>
            <a:pPr marL="0" marR="0" lvl="0" indent="0" algn="l" rtl="0">
              <a:lnSpc>
                <a:spcPct val="123372"/>
              </a:lnSpc>
              <a:spcBef>
                <a:spcPts val="0"/>
              </a:spcBef>
              <a:spcAft>
                <a:spcPts val="0"/>
              </a:spcAft>
              <a:buNone/>
            </a:pPr>
            <a:r>
              <a:rPr lang="en-US" sz="1874" b="1" dirty="0">
                <a:solidFill>
                  <a:srgbClr val="272525"/>
                </a:solidFill>
                <a:latin typeface="Inter"/>
                <a:ea typeface="Inter"/>
                <a:cs typeface="Inter"/>
                <a:sym typeface="Inter"/>
              </a:rPr>
              <a:t>ML Models</a:t>
            </a:r>
            <a:endParaRPr dirty="0"/>
          </a:p>
        </p:txBody>
      </p:sp>
      <p:sp>
        <p:nvSpPr>
          <p:cNvPr id="275" name="Google Shape;275;p19"/>
          <p:cNvSpPr txBox="1"/>
          <p:nvPr/>
        </p:nvSpPr>
        <p:spPr>
          <a:xfrm>
            <a:off x="13039279" y="4355752"/>
            <a:ext cx="4361558" cy="674786"/>
          </a:xfrm>
          <a:prstGeom prst="rect">
            <a:avLst/>
          </a:prstGeom>
          <a:noFill/>
          <a:ln>
            <a:noFill/>
          </a:ln>
        </p:spPr>
        <p:txBody>
          <a:bodyPr spcFirstLastPara="1" wrap="square" lIns="0" tIns="0" rIns="0" bIns="0" anchor="t" anchorCtr="0">
            <a:spAutoFit/>
          </a:bodyPr>
          <a:lstStyle/>
          <a:p>
            <a:pPr marL="0" marR="0" lvl="0" indent="0" algn="l" rtl="0">
              <a:lnSpc>
                <a:spcPct val="158333"/>
              </a:lnSpc>
              <a:spcBef>
                <a:spcPts val="0"/>
              </a:spcBef>
              <a:spcAft>
                <a:spcPts val="0"/>
              </a:spcAft>
              <a:buNone/>
            </a:pPr>
            <a:r>
              <a:rPr lang="en-US" sz="1500" dirty="0">
                <a:solidFill>
                  <a:srgbClr val="272525"/>
                </a:solidFill>
                <a:latin typeface="Inter"/>
                <a:ea typeface="Inter"/>
                <a:cs typeface="Inter"/>
                <a:sym typeface="Inter"/>
              </a:rPr>
              <a:t>Trained on historical grid data to predict outcomes and identify patterns</a:t>
            </a:r>
            <a:endParaRPr dirty="0"/>
          </a:p>
        </p:txBody>
      </p:sp>
      <p:grpSp>
        <p:nvGrpSpPr>
          <p:cNvPr id="276" name="Google Shape;276;p19"/>
          <p:cNvGrpSpPr/>
          <p:nvPr/>
        </p:nvGrpSpPr>
        <p:grpSpPr>
          <a:xfrm>
            <a:off x="12803535" y="5430590"/>
            <a:ext cx="4832985" cy="1583531"/>
            <a:chOff x="0" y="0"/>
            <a:chExt cx="6443980" cy="2111375"/>
          </a:xfrm>
        </p:grpSpPr>
        <p:sp>
          <p:nvSpPr>
            <p:cNvPr id="277" name="Google Shape;277;p19"/>
            <p:cNvSpPr/>
            <p:nvPr/>
          </p:nvSpPr>
          <p:spPr>
            <a:xfrm>
              <a:off x="19050" y="19050"/>
              <a:ext cx="6405880" cy="2073275"/>
            </a:xfrm>
            <a:custGeom>
              <a:avLst/>
              <a:gdLst/>
              <a:ahLst/>
              <a:cxnLst/>
              <a:rect l="l" t="t" r="r" b="b"/>
              <a:pathLst>
                <a:path w="6405880" h="2073275" extrusionOk="0">
                  <a:moveTo>
                    <a:pt x="0" y="108077"/>
                  </a:moveTo>
                  <a:cubicBezTo>
                    <a:pt x="0" y="48387"/>
                    <a:pt x="49022" y="0"/>
                    <a:pt x="109347" y="0"/>
                  </a:cubicBezTo>
                  <a:lnTo>
                    <a:pt x="6296533" y="0"/>
                  </a:lnTo>
                  <a:cubicBezTo>
                    <a:pt x="6356985" y="0"/>
                    <a:pt x="6405880" y="48387"/>
                    <a:pt x="6405880" y="108077"/>
                  </a:cubicBezTo>
                  <a:lnTo>
                    <a:pt x="6405880" y="1965198"/>
                  </a:lnTo>
                  <a:cubicBezTo>
                    <a:pt x="6405880" y="2024888"/>
                    <a:pt x="6356858" y="2073275"/>
                    <a:pt x="6296533" y="2073275"/>
                  </a:cubicBezTo>
                  <a:lnTo>
                    <a:pt x="109347" y="2073275"/>
                  </a:lnTo>
                  <a:cubicBezTo>
                    <a:pt x="48895" y="2073275"/>
                    <a:pt x="0" y="2024888"/>
                    <a:pt x="0" y="196519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8" name="Google Shape;278;p19"/>
            <p:cNvSpPr/>
            <p:nvPr/>
          </p:nvSpPr>
          <p:spPr>
            <a:xfrm>
              <a:off x="0" y="0"/>
              <a:ext cx="6443980" cy="2111375"/>
            </a:xfrm>
            <a:custGeom>
              <a:avLst/>
              <a:gdLst/>
              <a:ahLst/>
              <a:cxnLst/>
              <a:rect l="l" t="t" r="r" b="b"/>
              <a:pathLst>
                <a:path w="6443980" h="2111375" extrusionOk="0">
                  <a:moveTo>
                    <a:pt x="0" y="127127"/>
                  </a:moveTo>
                  <a:cubicBezTo>
                    <a:pt x="0" y="56642"/>
                    <a:pt x="57785" y="0"/>
                    <a:pt x="128397" y="0"/>
                  </a:cubicBezTo>
                  <a:lnTo>
                    <a:pt x="6315583" y="0"/>
                  </a:lnTo>
                  <a:lnTo>
                    <a:pt x="6315583" y="19050"/>
                  </a:lnTo>
                  <a:lnTo>
                    <a:pt x="6315583" y="0"/>
                  </a:lnTo>
                  <a:cubicBezTo>
                    <a:pt x="6386322" y="0"/>
                    <a:pt x="6443980" y="56642"/>
                    <a:pt x="6443980" y="127127"/>
                  </a:cubicBezTo>
                  <a:lnTo>
                    <a:pt x="6424930" y="127127"/>
                  </a:lnTo>
                  <a:lnTo>
                    <a:pt x="6443980" y="127127"/>
                  </a:lnTo>
                  <a:lnTo>
                    <a:pt x="6443980" y="1984248"/>
                  </a:lnTo>
                  <a:lnTo>
                    <a:pt x="6424930" y="1984248"/>
                  </a:lnTo>
                  <a:lnTo>
                    <a:pt x="6443980" y="1984248"/>
                  </a:lnTo>
                  <a:cubicBezTo>
                    <a:pt x="6443980" y="2054606"/>
                    <a:pt x="6386195" y="2111375"/>
                    <a:pt x="6315583" y="2111375"/>
                  </a:cubicBezTo>
                  <a:lnTo>
                    <a:pt x="6315583" y="2092325"/>
                  </a:lnTo>
                  <a:lnTo>
                    <a:pt x="6315583" y="2111375"/>
                  </a:lnTo>
                  <a:lnTo>
                    <a:pt x="128397" y="2111375"/>
                  </a:lnTo>
                  <a:lnTo>
                    <a:pt x="128397" y="2092325"/>
                  </a:lnTo>
                  <a:lnTo>
                    <a:pt x="128397" y="2111375"/>
                  </a:lnTo>
                  <a:cubicBezTo>
                    <a:pt x="57785" y="2111375"/>
                    <a:pt x="0" y="2054733"/>
                    <a:pt x="0" y="1984248"/>
                  </a:cubicBezTo>
                  <a:lnTo>
                    <a:pt x="0" y="127127"/>
                  </a:lnTo>
                  <a:lnTo>
                    <a:pt x="19050" y="127127"/>
                  </a:lnTo>
                  <a:lnTo>
                    <a:pt x="0" y="127127"/>
                  </a:lnTo>
                  <a:moveTo>
                    <a:pt x="38100" y="127127"/>
                  </a:moveTo>
                  <a:lnTo>
                    <a:pt x="38100" y="1984248"/>
                  </a:lnTo>
                  <a:lnTo>
                    <a:pt x="19050" y="1984248"/>
                  </a:lnTo>
                  <a:lnTo>
                    <a:pt x="38100" y="1984248"/>
                  </a:lnTo>
                  <a:cubicBezTo>
                    <a:pt x="38100" y="2033143"/>
                    <a:pt x="78359" y="2073275"/>
                    <a:pt x="128397" y="2073275"/>
                  </a:cubicBezTo>
                  <a:lnTo>
                    <a:pt x="6315583" y="2073275"/>
                  </a:lnTo>
                  <a:cubicBezTo>
                    <a:pt x="6365748" y="2073275"/>
                    <a:pt x="6405880" y="2033143"/>
                    <a:pt x="6405880" y="1984248"/>
                  </a:cubicBezTo>
                  <a:lnTo>
                    <a:pt x="6405880" y="127127"/>
                  </a:lnTo>
                  <a:cubicBezTo>
                    <a:pt x="6405880" y="78232"/>
                    <a:pt x="6365621" y="38100"/>
                    <a:pt x="6315583" y="38100"/>
                  </a:cubicBezTo>
                  <a:lnTo>
                    <a:pt x="128397" y="38100"/>
                  </a:lnTo>
                  <a:lnTo>
                    <a:pt x="128397" y="19050"/>
                  </a:lnTo>
                  <a:lnTo>
                    <a:pt x="128397" y="38100"/>
                  </a:lnTo>
                  <a:cubicBezTo>
                    <a:pt x="78359" y="38100"/>
                    <a:pt x="38100" y="78232"/>
                    <a:pt x="38100" y="127127"/>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79" name="Google Shape;279;p19"/>
          <p:cNvSpPr txBox="1"/>
          <p:nvPr/>
        </p:nvSpPr>
        <p:spPr>
          <a:xfrm>
            <a:off x="13039279" y="5656809"/>
            <a:ext cx="2543473" cy="311051"/>
          </a:xfrm>
          <a:prstGeom prst="rect">
            <a:avLst/>
          </a:prstGeom>
          <a:noFill/>
          <a:ln>
            <a:noFill/>
          </a:ln>
        </p:spPr>
        <p:txBody>
          <a:bodyPr spcFirstLastPara="1" wrap="square" lIns="0" tIns="0" rIns="0" bIns="0" anchor="t" anchorCtr="0">
            <a:spAutoFit/>
          </a:bodyPr>
          <a:lstStyle/>
          <a:p>
            <a:pPr marL="0" marR="0" lvl="0" indent="0" algn="l" rtl="0">
              <a:lnSpc>
                <a:spcPct val="123372"/>
              </a:lnSpc>
              <a:spcBef>
                <a:spcPts val="0"/>
              </a:spcBef>
              <a:spcAft>
                <a:spcPts val="0"/>
              </a:spcAft>
              <a:buNone/>
            </a:pPr>
            <a:r>
              <a:rPr lang="en-US" sz="1874" b="1" dirty="0">
                <a:solidFill>
                  <a:srgbClr val="272525"/>
                </a:solidFill>
                <a:latin typeface="Inter"/>
                <a:ea typeface="Inter"/>
                <a:cs typeface="Inter"/>
                <a:sym typeface="Inter"/>
              </a:rPr>
              <a:t>Automated Scenarios</a:t>
            </a:r>
            <a:endParaRPr dirty="0"/>
          </a:p>
        </p:txBody>
      </p:sp>
      <p:sp>
        <p:nvSpPr>
          <p:cNvPr id="280" name="Google Shape;280;p19"/>
          <p:cNvSpPr txBox="1"/>
          <p:nvPr/>
        </p:nvSpPr>
        <p:spPr>
          <a:xfrm>
            <a:off x="13039279" y="6103590"/>
            <a:ext cx="4361558" cy="674786"/>
          </a:xfrm>
          <a:prstGeom prst="rect">
            <a:avLst/>
          </a:prstGeom>
          <a:noFill/>
          <a:ln>
            <a:noFill/>
          </a:ln>
        </p:spPr>
        <p:txBody>
          <a:bodyPr spcFirstLastPara="1" wrap="square" lIns="0" tIns="0" rIns="0" bIns="0" anchor="t" anchorCtr="0">
            <a:spAutoFit/>
          </a:bodyPr>
          <a:lstStyle/>
          <a:p>
            <a:pPr marL="0" marR="0" lvl="0" indent="0" algn="l" rtl="0">
              <a:lnSpc>
                <a:spcPct val="158333"/>
              </a:lnSpc>
              <a:spcBef>
                <a:spcPts val="0"/>
              </a:spcBef>
              <a:spcAft>
                <a:spcPts val="0"/>
              </a:spcAft>
              <a:buNone/>
            </a:pPr>
            <a:r>
              <a:rPr lang="en-US" sz="1500">
                <a:solidFill>
                  <a:srgbClr val="272525"/>
                </a:solidFill>
                <a:latin typeface="Inter"/>
                <a:ea typeface="Inter"/>
                <a:cs typeface="Inter"/>
                <a:sym typeface="Inter"/>
              </a:rPr>
              <a:t>Intelligent generation and simulation of edge cases and typical conditions</a:t>
            </a:r>
            <a:endParaRPr/>
          </a:p>
        </p:txBody>
      </p:sp>
      <p:grpSp>
        <p:nvGrpSpPr>
          <p:cNvPr id="281" name="Google Shape;281;p19"/>
          <p:cNvGrpSpPr/>
          <p:nvPr/>
        </p:nvGrpSpPr>
        <p:grpSpPr>
          <a:xfrm>
            <a:off x="12803535" y="7178428"/>
            <a:ext cx="4832985" cy="1583531"/>
            <a:chOff x="0" y="0"/>
            <a:chExt cx="6443980" cy="2111375"/>
          </a:xfrm>
        </p:grpSpPr>
        <p:sp>
          <p:nvSpPr>
            <p:cNvPr id="282" name="Google Shape;282;p19"/>
            <p:cNvSpPr/>
            <p:nvPr/>
          </p:nvSpPr>
          <p:spPr>
            <a:xfrm>
              <a:off x="19050" y="19050"/>
              <a:ext cx="6405880" cy="2073275"/>
            </a:xfrm>
            <a:custGeom>
              <a:avLst/>
              <a:gdLst/>
              <a:ahLst/>
              <a:cxnLst/>
              <a:rect l="l" t="t" r="r" b="b"/>
              <a:pathLst>
                <a:path w="6405880" h="2073275" extrusionOk="0">
                  <a:moveTo>
                    <a:pt x="0" y="108077"/>
                  </a:moveTo>
                  <a:cubicBezTo>
                    <a:pt x="0" y="48387"/>
                    <a:pt x="49022" y="0"/>
                    <a:pt x="109347" y="0"/>
                  </a:cubicBezTo>
                  <a:lnTo>
                    <a:pt x="6296533" y="0"/>
                  </a:lnTo>
                  <a:cubicBezTo>
                    <a:pt x="6356985" y="0"/>
                    <a:pt x="6405880" y="48387"/>
                    <a:pt x="6405880" y="108077"/>
                  </a:cubicBezTo>
                  <a:lnTo>
                    <a:pt x="6405880" y="1965198"/>
                  </a:lnTo>
                  <a:cubicBezTo>
                    <a:pt x="6405880" y="2024888"/>
                    <a:pt x="6356858" y="2073275"/>
                    <a:pt x="6296533" y="2073275"/>
                  </a:cubicBezTo>
                  <a:lnTo>
                    <a:pt x="109347" y="2073275"/>
                  </a:lnTo>
                  <a:cubicBezTo>
                    <a:pt x="48895" y="2073275"/>
                    <a:pt x="0" y="2024888"/>
                    <a:pt x="0" y="196519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3" name="Google Shape;283;p19"/>
            <p:cNvSpPr/>
            <p:nvPr/>
          </p:nvSpPr>
          <p:spPr>
            <a:xfrm>
              <a:off x="0" y="0"/>
              <a:ext cx="6443980" cy="2111375"/>
            </a:xfrm>
            <a:custGeom>
              <a:avLst/>
              <a:gdLst/>
              <a:ahLst/>
              <a:cxnLst/>
              <a:rect l="l" t="t" r="r" b="b"/>
              <a:pathLst>
                <a:path w="6443980" h="2111375" extrusionOk="0">
                  <a:moveTo>
                    <a:pt x="0" y="127127"/>
                  </a:moveTo>
                  <a:cubicBezTo>
                    <a:pt x="0" y="56642"/>
                    <a:pt x="57785" y="0"/>
                    <a:pt x="128397" y="0"/>
                  </a:cubicBezTo>
                  <a:lnTo>
                    <a:pt x="6315583" y="0"/>
                  </a:lnTo>
                  <a:lnTo>
                    <a:pt x="6315583" y="19050"/>
                  </a:lnTo>
                  <a:lnTo>
                    <a:pt x="6315583" y="0"/>
                  </a:lnTo>
                  <a:cubicBezTo>
                    <a:pt x="6386322" y="0"/>
                    <a:pt x="6443980" y="56642"/>
                    <a:pt x="6443980" y="127127"/>
                  </a:cubicBezTo>
                  <a:lnTo>
                    <a:pt x="6424930" y="127127"/>
                  </a:lnTo>
                  <a:lnTo>
                    <a:pt x="6443980" y="127127"/>
                  </a:lnTo>
                  <a:lnTo>
                    <a:pt x="6443980" y="1984248"/>
                  </a:lnTo>
                  <a:lnTo>
                    <a:pt x="6424930" y="1984248"/>
                  </a:lnTo>
                  <a:lnTo>
                    <a:pt x="6443980" y="1984248"/>
                  </a:lnTo>
                  <a:cubicBezTo>
                    <a:pt x="6443980" y="2054606"/>
                    <a:pt x="6386195" y="2111375"/>
                    <a:pt x="6315583" y="2111375"/>
                  </a:cubicBezTo>
                  <a:lnTo>
                    <a:pt x="6315583" y="2092325"/>
                  </a:lnTo>
                  <a:lnTo>
                    <a:pt x="6315583" y="2111375"/>
                  </a:lnTo>
                  <a:lnTo>
                    <a:pt x="128397" y="2111375"/>
                  </a:lnTo>
                  <a:lnTo>
                    <a:pt x="128397" y="2092325"/>
                  </a:lnTo>
                  <a:lnTo>
                    <a:pt x="128397" y="2111375"/>
                  </a:lnTo>
                  <a:cubicBezTo>
                    <a:pt x="57785" y="2111375"/>
                    <a:pt x="0" y="2054733"/>
                    <a:pt x="0" y="1984248"/>
                  </a:cubicBezTo>
                  <a:lnTo>
                    <a:pt x="0" y="127127"/>
                  </a:lnTo>
                  <a:lnTo>
                    <a:pt x="19050" y="127127"/>
                  </a:lnTo>
                  <a:lnTo>
                    <a:pt x="0" y="127127"/>
                  </a:lnTo>
                  <a:moveTo>
                    <a:pt x="38100" y="127127"/>
                  </a:moveTo>
                  <a:lnTo>
                    <a:pt x="38100" y="1984248"/>
                  </a:lnTo>
                  <a:lnTo>
                    <a:pt x="19050" y="1984248"/>
                  </a:lnTo>
                  <a:lnTo>
                    <a:pt x="38100" y="1984248"/>
                  </a:lnTo>
                  <a:cubicBezTo>
                    <a:pt x="38100" y="2033143"/>
                    <a:pt x="78359" y="2073275"/>
                    <a:pt x="128397" y="2073275"/>
                  </a:cubicBezTo>
                  <a:lnTo>
                    <a:pt x="6315583" y="2073275"/>
                  </a:lnTo>
                  <a:cubicBezTo>
                    <a:pt x="6365748" y="2073275"/>
                    <a:pt x="6405880" y="2033143"/>
                    <a:pt x="6405880" y="1984248"/>
                  </a:cubicBezTo>
                  <a:lnTo>
                    <a:pt x="6405880" y="127127"/>
                  </a:lnTo>
                  <a:cubicBezTo>
                    <a:pt x="6405880" y="78232"/>
                    <a:pt x="6365621" y="38100"/>
                    <a:pt x="6315583" y="38100"/>
                  </a:cubicBezTo>
                  <a:lnTo>
                    <a:pt x="128397" y="38100"/>
                  </a:lnTo>
                  <a:lnTo>
                    <a:pt x="128397" y="19050"/>
                  </a:lnTo>
                  <a:lnTo>
                    <a:pt x="128397" y="38100"/>
                  </a:lnTo>
                  <a:cubicBezTo>
                    <a:pt x="78359" y="38100"/>
                    <a:pt x="38100" y="78232"/>
                    <a:pt x="38100" y="127127"/>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84" name="Google Shape;284;p19"/>
          <p:cNvSpPr txBox="1"/>
          <p:nvPr/>
        </p:nvSpPr>
        <p:spPr>
          <a:xfrm>
            <a:off x="13039279" y="7404646"/>
            <a:ext cx="2749302" cy="311051"/>
          </a:xfrm>
          <a:prstGeom prst="rect">
            <a:avLst/>
          </a:prstGeom>
          <a:noFill/>
          <a:ln>
            <a:noFill/>
          </a:ln>
        </p:spPr>
        <p:txBody>
          <a:bodyPr spcFirstLastPara="1" wrap="square" lIns="0" tIns="0" rIns="0" bIns="0" anchor="t" anchorCtr="0">
            <a:spAutoFit/>
          </a:bodyPr>
          <a:lstStyle/>
          <a:p>
            <a:pPr marL="0" marR="0" lvl="0" indent="0" algn="l" rtl="0">
              <a:lnSpc>
                <a:spcPct val="123372"/>
              </a:lnSpc>
              <a:spcBef>
                <a:spcPts val="0"/>
              </a:spcBef>
              <a:spcAft>
                <a:spcPts val="0"/>
              </a:spcAft>
              <a:buNone/>
            </a:pPr>
            <a:r>
              <a:rPr lang="en-US" sz="1874" b="1" dirty="0">
                <a:solidFill>
                  <a:srgbClr val="272525"/>
                </a:solidFill>
                <a:latin typeface="Inter"/>
                <a:ea typeface="Inter"/>
                <a:cs typeface="Inter"/>
                <a:sym typeface="Inter"/>
              </a:rPr>
              <a:t>Predictive </a:t>
            </a:r>
            <a:r>
              <a:rPr lang="en-US" sz="1874" b="1" dirty="0" err="1">
                <a:solidFill>
                  <a:srgbClr val="272525"/>
                </a:solidFill>
                <a:latin typeface="Inter"/>
                <a:ea typeface="Inter"/>
                <a:cs typeface="Inter"/>
                <a:sym typeface="Inter"/>
              </a:rPr>
              <a:t>Optimisation</a:t>
            </a:r>
            <a:endParaRPr dirty="0"/>
          </a:p>
        </p:txBody>
      </p:sp>
      <p:sp>
        <p:nvSpPr>
          <p:cNvPr id="285" name="Google Shape;285;p19"/>
          <p:cNvSpPr txBox="1"/>
          <p:nvPr/>
        </p:nvSpPr>
        <p:spPr>
          <a:xfrm>
            <a:off x="13039279" y="7851427"/>
            <a:ext cx="4361558" cy="674786"/>
          </a:xfrm>
          <a:prstGeom prst="rect">
            <a:avLst/>
          </a:prstGeom>
          <a:noFill/>
          <a:ln>
            <a:noFill/>
          </a:ln>
        </p:spPr>
        <p:txBody>
          <a:bodyPr spcFirstLastPara="1" wrap="square" lIns="0" tIns="0" rIns="0" bIns="0" anchor="t" anchorCtr="0">
            <a:spAutoFit/>
          </a:bodyPr>
          <a:lstStyle/>
          <a:p>
            <a:pPr marL="0" marR="0" lvl="0" indent="0" algn="l" rtl="0">
              <a:lnSpc>
                <a:spcPct val="158333"/>
              </a:lnSpc>
              <a:spcBef>
                <a:spcPts val="0"/>
              </a:spcBef>
              <a:spcAft>
                <a:spcPts val="0"/>
              </a:spcAft>
              <a:buNone/>
            </a:pPr>
            <a:r>
              <a:rPr lang="en-US" sz="1500">
                <a:solidFill>
                  <a:srgbClr val="272525"/>
                </a:solidFill>
                <a:latin typeface="Inter"/>
                <a:ea typeface="Inter"/>
                <a:cs typeface="Inter"/>
                <a:sym typeface="Inter"/>
              </a:rPr>
              <a:t>Models identify optimal interconnection points and configurations</a:t>
            </a:r>
            <a:endParaRPr/>
          </a:p>
        </p:txBody>
      </p:sp>
      <p:sp>
        <p:nvSpPr>
          <p:cNvPr id="286" name="Google Shape;286;p19"/>
          <p:cNvSpPr txBox="1"/>
          <p:nvPr/>
        </p:nvSpPr>
        <p:spPr>
          <a:xfrm>
            <a:off x="12817822" y="8907512"/>
            <a:ext cx="4804470" cy="674786"/>
          </a:xfrm>
          <a:prstGeom prst="rect">
            <a:avLst/>
          </a:prstGeom>
          <a:noFill/>
          <a:ln>
            <a:noFill/>
          </a:ln>
        </p:spPr>
        <p:txBody>
          <a:bodyPr spcFirstLastPara="1" wrap="square" lIns="0" tIns="0" rIns="0" bIns="0" anchor="t" anchorCtr="0">
            <a:spAutoFit/>
          </a:bodyPr>
          <a:lstStyle/>
          <a:p>
            <a:pPr marL="0" marR="0" lvl="0" indent="0" algn="l" rtl="0">
              <a:lnSpc>
                <a:spcPct val="158333"/>
              </a:lnSpc>
              <a:spcBef>
                <a:spcPts val="0"/>
              </a:spcBef>
              <a:spcAft>
                <a:spcPts val="0"/>
              </a:spcAft>
              <a:buNone/>
            </a:pPr>
            <a:r>
              <a:rPr lang="en-US" sz="1500" b="1" dirty="0">
                <a:solidFill>
                  <a:srgbClr val="272525"/>
                </a:solidFill>
                <a:latin typeface="Inter"/>
                <a:ea typeface="Inter"/>
                <a:cs typeface="Inter"/>
                <a:sym typeface="Inter"/>
              </a:rPr>
              <a:t>Timeline:</a:t>
            </a:r>
            <a:r>
              <a:rPr lang="en-US" sz="1500" dirty="0">
                <a:solidFill>
                  <a:srgbClr val="272525"/>
                </a:solidFill>
                <a:latin typeface="Inter"/>
                <a:ea typeface="Inter"/>
                <a:cs typeface="Inter"/>
                <a:sym typeface="Inter"/>
              </a:rPr>
              <a:t> 12-18 months | </a:t>
            </a:r>
            <a:r>
              <a:rPr lang="en-US" sz="1500" b="1" dirty="0">
                <a:solidFill>
                  <a:srgbClr val="272525"/>
                </a:solidFill>
                <a:latin typeface="Inter"/>
                <a:ea typeface="Inter"/>
                <a:cs typeface="Inter"/>
                <a:sym typeface="Inter"/>
              </a:rPr>
              <a:t>Impact:</a:t>
            </a:r>
            <a:r>
              <a:rPr lang="en-US" sz="1500" dirty="0">
                <a:solidFill>
                  <a:srgbClr val="272525"/>
                </a:solidFill>
                <a:latin typeface="Inter"/>
                <a:ea typeface="Inter"/>
                <a:cs typeface="Inter"/>
                <a:sym typeface="Inter"/>
              </a:rPr>
              <a:t> 60-70% faster studies with better solution identification</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0"/>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6F4F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2" name="Google Shape;292;p20"/>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3" name="Google Shape;293;p20"/>
          <p:cNvSpPr txBox="1"/>
          <p:nvPr/>
        </p:nvSpPr>
        <p:spPr>
          <a:xfrm>
            <a:off x="809922" y="609600"/>
            <a:ext cx="11296501" cy="751582"/>
          </a:xfrm>
          <a:prstGeom prst="rect">
            <a:avLst/>
          </a:prstGeom>
          <a:noFill/>
          <a:ln>
            <a:noFill/>
          </a:ln>
        </p:spPr>
        <p:txBody>
          <a:bodyPr spcFirstLastPara="1" wrap="square" lIns="0" tIns="0" rIns="0" bIns="0" anchor="t" anchorCtr="0">
            <a:spAutoFit/>
          </a:bodyPr>
          <a:lstStyle/>
          <a:p>
            <a:pPr marL="0" marR="0" lvl="0" indent="0" algn="l" rtl="0">
              <a:lnSpc>
                <a:spcPct val="126405"/>
              </a:lnSpc>
              <a:spcBef>
                <a:spcPts val="0"/>
              </a:spcBef>
              <a:spcAft>
                <a:spcPts val="0"/>
              </a:spcAft>
              <a:buNone/>
            </a:pPr>
            <a:r>
              <a:rPr lang="en-US" sz="4499" b="1" dirty="0">
                <a:solidFill>
                  <a:srgbClr val="000000"/>
                </a:solidFill>
                <a:latin typeface="Inter"/>
                <a:ea typeface="Inter"/>
                <a:cs typeface="Inter"/>
                <a:sym typeface="Inter"/>
              </a:rPr>
              <a:t>AI Approach: Multi-Agent Study System</a:t>
            </a:r>
            <a:endParaRPr dirty="0"/>
          </a:p>
        </p:txBody>
      </p:sp>
      <p:sp>
        <p:nvSpPr>
          <p:cNvPr id="294" name="Google Shape;294;p20"/>
          <p:cNvSpPr txBox="1"/>
          <p:nvPr/>
        </p:nvSpPr>
        <p:spPr>
          <a:xfrm>
            <a:off x="809922" y="1444079"/>
            <a:ext cx="5772001" cy="443359"/>
          </a:xfrm>
          <a:prstGeom prst="rect">
            <a:avLst/>
          </a:prstGeom>
          <a:noFill/>
          <a:ln>
            <a:noFill/>
          </a:ln>
        </p:spPr>
        <p:txBody>
          <a:bodyPr spcFirstLastPara="1" wrap="square" lIns="0" tIns="0" rIns="0" bIns="0" anchor="t" anchorCtr="0">
            <a:spAutoFit/>
          </a:bodyPr>
          <a:lstStyle/>
          <a:p>
            <a:pPr marL="0" marR="0" lvl="0" indent="0" algn="l" rtl="0">
              <a:lnSpc>
                <a:spcPct val="125567"/>
              </a:lnSpc>
              <a:spcBef>
                <a:spcPts val="0"/>
              </a:spcBef>
              <a:spcAft>
                <a:spcPts val="0"/>
              </a:spcAft>
              <a:buNone/>
            </a:pPr>
            <a:r>
              <a:rPr lang="en-US" sz="2687" b="1" dirty="0">
                <a:solidFill>
                  <a:srgbClr val="000000"/>
                </a:solidFill>
                <a:latin typeface="Inter"/>
                <a:ea typeface="Inter"/>
                <a:cs typeface="Inter"/>
                <a:sym typeface="Inter"/>
              </a:rPr>
              <a:t>Agentic Workflow for Grid Studies</a:t>
            </a:r>
            <a:endParaRPr dirty="0"/>
          </a:p>
        </p:txBody>
      </p:sp>
      <p:sp>
        <p:nvSpPr>
          <p:cNvPr id="295" name="Google Shape;295;p20"/>
          <p:cNvSpPr txBox="1"/>
          <p:nvPr/>
        </p:nvSpPr>
        <p:spPr>
          <a:xfrm>
            <a:off x="809922" y="2167830"/>
            <a:ext cx="231279" cy="355847"/>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a:solidFill>
                  <a:srgbClr val="272525"/>
                </a:solidFill>
                <a:latin typeface="Inter Light"/>
                <a:ea typeface="Inter Light"/>
                <a:cs typeface="Inter Light"/>
                <a:sym typeface="Inter Light"/>
              </a:rPr>
              <a:t>01</a:t>
            </a:r>
            <a:endParaRPr/>
          </a:p>
        </p:txBody>
      </p:sp>
      <p:sp>
        <p:nvSpPr>
          <p:cNvPr id="296" name="Google Shape;296;p20"/>
          <p:cNvSpPr/>
          <p:nvPr/>
        </p:nvSpPr>
        <p:spPr>
          <a:xfrm>
            <a:off x="809922" y="2598985"/>
            <a:ext cx="8218455" cy="28575"/>
          </a:xfrm>
          <a:custGeom>
            <a:avLst/>
            <a:gdLst/>
            <a:ahLst/>
            <a:cxnLst/>
            <a:rect l="l" t="t" r="r" b="b"/>
            <a:pathLst>
              <a:path w="10957941" h="38100" extrusionOk="0">
                <a:moveTo>
                  <a:pt x="0" y="0"/>
                </a:moveTo>
                <a:lnTo>
                  <a:pt x="10957941" y="0"/>
                </a:lnTo>
                <a:lnTo>
                  <a:pt x="10957941" y="38100"/>
                </a:lnTo>
                <a:lnTo>
                  <a:pt x="0" y="38100"/>
                </a:lnTo>
                <a:close/>
              </a:path>
            </a:pathLst>
          </a:custGeom>
          <a:solidFill>
            <a:srgbClr val="4950B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7" name="Google Shape;297;p20"/>
          <p:cNvSpPr txBox="1"/>
          <p:nvPr/>
        </p:nvSpPr>
        <p:spPr>
          <a:xfrm>
            <a:off x="809922" y="2752725"/>
            <a:ext cx="2892475" cy="380702"/>
          </a:xfrm>
          <a:prstGeom prst="rect">
            <a:avLst/>
          </a:prstGeom>
          <a:noFill/>
          <a:ln>
            <a:noFill/>
          </a:ln>
        </p:spPr>
        <p:txBody>
          <a:bodyPr spcFirstLastPara="1" wrap="square" lIns="0" tIns="0" rIns="0" bIns="0" anchor="t" anchorCtr="0">
            <a:spAutoFit/>
          </a:bodyPr>
          <a:lstStyle/>
          <a:p>
            <a:pPr marL="0" marR="0" lvl="0" indent="0" algn="l" rtl="0">
              <a:lnSpc>
                <a:spcPct val="125033"/>
              </a:lnSpc>
              <a:spcBef>
                <a:spcPts val="0"/>
              </a:spcBef>
              <a:spcAft>
                <a:spcPts val="0"/>
              </a:spcAft>
              <a:buNone/>
            </a:pPr>
            <a:r>
              <a:rPr lang="en-US" sz="2249" b="1" dirty="0">
                <a:solidFill>
                  <a:srgbClr val="272525"/>
                </a:solidFill>
                <a:latin typeface="Inter"/>
                <a:ea typeface="Inter"/>
                <a:cs typeface="Inter"/>
                <a:sym typeface="Inter"/>
              </a:rPr>
              <a:t>Manager Agent</a:t>
            </a:r>
            <a:endParaRPr dirty="0"/>
          </a:p>
        </p:txBody>
      </p:sp>
      <p:sp>
        <p:nvSpPr>
          <p:cNvPr id="298" name="Google Shape;298;p20"/>
          <p:cNvSpPr txBox="1"/>
          <p:nvPr/>
        </p:nvSpPr>
        <p:spPr>
          <a:xfrm>
            <a:off x="809922" y="3205460"/>
            <a:ext cx="8218437" cy="807244"/>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a:solidFill>
                  <a:srgbClr val="272525"/>
                </a:solidFill>
                <a:latin typeface="Inter"/>
                <a:ea typeface="Inter"/>
                <a:cs typeface="Inter"/>
                <a:sym typeface="Inter"/>
              </a:rPr>
              <a:t>Analyses project requirements, decomposes into specific study tasks, coordinates specialist agents throughout workflow</a:t>
            </a:r>
            <a:endParaRPr/>
          </a:p>
        </p:txBody>
      </p:sp>
      <p:sp>
        <p:nvSpPr>
          <p:cNvPr id="299" name="Google Shape;299;p20"/>
          <p:cNvSpPr txBox="1"/>
          <p:nvPr/>
        </p:nvSpPr>
        <p:spPr>
          <a:xfrm>
            <a:off x="809922" y="4084736"/>
            <a:ext cx="8218437" cy="436960"/>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a:solidFill>
                  <a:srgbClr val="272525"/>
                </a:solidFill>
                <a:latin typeface="Inter"/>
                <a:ea typeface="Inter"/>
                <a:cs typeface="Inter"/>
                <a:sym typeface="Inter"/>
              </a:rPr>
              <a:t>Tech: LangGraph orchestration</a:t>
            </a:r>
            <a:endParaRPr/>
          </a:p>
        </p:txBody>
      </p:sp>
      <p:sp>
        <p:nvSpPr>
          <p:cNvPr id="300" name="Google Shape;300;p20"/>
          <p:cNvSpPr txBox="1"/>
          <p:nvPr/>
        </p:nvSpPr>
        <p:spPr>
          <a:xfrm>
            <a:off x="9259640" y="2167830"/>
            <a:ext cx="231279" cy="355847"/>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a:solidFill>
                  <a:srgbClr val="272525"/>
                </a:solidFill>
                <a:latin typeface="Inter Light"/>
                <a:ea typeface="Inter Light"/>
                <a:cs typeface="Inter Light"/>
                <a:sym typeface="Inter Light"/>
              </a:rPr>
              <a:t>02</a:t>
            </a:r>
            <a:endParaRPr/>
          </a:p>
        </p:txBody>
      </p:sp>
      <p:sp>
        <p:nvSpPr>
          <p:cNvPr id="301" name="Google Shape;301;p20"/>
          <p:cNvSpPr/>
          <p:nvPr/>
        </p:nvSpPr>
        <p:spPr>
          <a:xfrm>
            <a:off x="9259640" y="2598985"/>
            <a:ext cx="8218455" cy="28575"/>
          </a:xfrm>
          <a:custGeom>
            <a:avLst/>
            <a:gdLst/>
            <a:ahLst/>
            <a:cxnLst/>
            <a:rect l="l" t="t" r="r" b="b"/>
            <a:pathLst>
              <a:path w="10957941" h="38100" extrusionOk="0">
                <a:moveTo>
                  <a:pt x="0" y="0"/>
                </a:moveTo>
                <a:lnTo>
                  <a:pt x="10957941" y="0"/>
                </a:lnTo>
                <a:lnTo>
                  <a:pt x="10957941" y="38100"/>
                </a:lnTo>
                <a:lnTo>
                  <a:pt x="0" y="38100"/>
                </a:lnTo>
                <a:close/>
              </a:path>
            </a:pathLst>
          </a:custGeom>
          <a:solidFill>
            <a:srgbClr val="4950B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2" name="Google Shape;302;p20"/>
          <p:cNvSpPr txBox="1"/>
          <p:nvPr/>
        </p:nvSpPr>
        <p:spPr>
          <a:xfrm>
            <a:off x="9259640" y="2752725"/>
            <a:ext cx="2892475" cy="380702"/>
          </a:xfrm>
          <a:prstGeom prst="rect">
            <a:avLst/>
          </a:prstGeom>
          <a:noFill/>
          <a:ln>
            <a:noFill/>
          </a:ln>
        </p:spPr>
        <p:txBody>
          <a:bodyPr spcFirstLastPara="1" wrap="square" lIns="0" tIns="0" rIns="0" bIns="0" anchor="t" anchorCtr="0">
            <a:spAutoFit/>
          </a:bodyPr>
          <a:lstStyle/>
          <a:p>
            <a:pPr marL="0" marR="0" lvl="0" indent="0" algn="l" rtl="0">
              <a:lnSpc>
                <a:spcPct val="125033"/>
              </a:lnSpc>
              <a:spcBef>
                <a:spcPts val="0"/>
              </a:spcBef>
              <a:spcAft>
                <a:spcPts val="0"/>
              </a:spcAft>
              <a:buNone/>
            </a:pPr>
            <a:r>
              <a:rPr lang="en-US" sz="2249" b="1">
                <a:solidFill>
                  <a:srgbClr val="272525"/>
                </a:solidFill>
                <a:latin typeface="Inter"/>
                <a:ea typeface="Inter"/>
                <a:cs typeface="Inter"/>
                <a:sym typeface="Inter"/>
              </a:rPr>
              <a:t>Specialist Agents</a:t>
            </a:r>
            <a:endParaRPr/>
          </a:p>
        </p:txBody>
      </p:sp>
      <p:sp>
        <p:nvSpPr>
          <p:cNvPr id="303" name="Google Shape;303;p20"/>
          <p:cNvSpPr txBox="1"/>
          <p:nvPr/>
        </p:nvSpPr>
        <p:spPr>
          <a:xfrm>
            <a:off x="9259640" y="3205460"/>
            <a:ext cx="8218437" cy="436960"/>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a:solidFill>
                  <a:srgbClr val="272525"/>
                </a:solidFill>
                <a:latin typeface="Inter"/>
                <a:ea typeface="Inter"/>
                <a:cs typeface="Inter"/>
                <a:sym typeface="Inter"/>
              </a:rPr>
              <a:t>Voltage Stability Agent utilises ML models and power flow simulations</a:t>
            </a:r>
            <a:endParaRPr/>
          </a:p>
        </p:txBody>
      </p:sp>
      <p:sp>
        <p:nvSpPr>
          <p:cNvPr id="304" name="Google Shape;304;p20"/>
          <p:cNvSpPr txBox="1"/>
          <p:nvPr/>
        </p:nvSpPr>
        <p:spPr>
          <a:xfrm>
            <a:off x="9259640" y="3714453"/>
            <a:ext cx="8218437" cy="436960"/>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a:solidFill>
                  <a:srgbClr val="272525"/>
                </a:solidFill>
                <a:latin typeface="Inter"/>
                <a:ea typeface="Inter"/>
                <a:cs typeface="Inter"/>
                <a:sym typeface="Inter"/>
              </a:rPr>
              <a:t>Fault Analysis Agent leverages historical data with predictive models</a:t>
            </a:r>
            <a:endParaRPr/>
          </a:p>
        </p:txBody>
      </p:sp>
      <p:sp>
        <p:nvSpPr>
          <p:cNvPr id="305" name="Google Shape;305;p20"/>
          <p:cNvSpPr txBox="1"/>
          <p:nvPr/>
        </p:nvSpPr>
        <p:spPr>
          <a:xfrm>
            <a:off x="9259640" y="4223445"/>
            <a:ext cx="8218437" cy="436960"/>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a:solidFill>
                  <a:srgbClr val="272525"/>
                </a:solidFill>
                <a:latin typeface="Inter"/>
                <a:ea typeface="Inter"/>
                <a:cs typeface="Inter"/>
                <a:sym typeface="Inter"/>
              </a:rPr>
              <a:t>Capacity Agent applies dynamic line rating algorithms</a:t>
            </a:r>
            <a:endParaRPr/>
          </a:p>
        </p:txBody>
      </p:sp>
      <p:sp>
        <p:nvSpPr>
          <p:cNvPr id="306" name="Google Shape;306;p20"/>
          <p:cNvSpPr txBox="1"/>
          <p:nvPr/>
        </p:nvSpPr>
        <p:spPr>
          <a:xfrm>
            <a:off x="9259640" y="4732436"/>
            <a:ext cx="8218437" cy="436960"/>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a:solidFill>
                  <a:srgbClr val="272525"/>
                </a:solidFill>
                <a:latin typeface="Inter"/>
                <a:ea typeface="Inter"/>
                <a:cs typeface="Inter"/>
                <a:sym typeface="Inter"/>
              </a:rPr>
              <a:t>Tech: ReAct Agents + Tools</a:t>
            </a:r>
            <a:endParaRPr/>
          </a:p>
        </p:txBody>
      </p:sp>
      <p:sp>
        <p:nvSpPr>
          <p:cNvPr id="307" name="Google Shape;307;p20"/>
          <p:cNvSpPr txBox="1"/>
          <p:nvPr/>
        </p:nvSpPr>
        <p:spPr>
          <a:xfrm>
            <a:off x="809922" y="5507534"/>
            <a:ext cx="231279" cy="355847"/>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dirty="0">
                <a:solidFill>
                  <a:srgbClr val="272525"/>
                </a:solidFill>
                <a:latin typeface="Inter Light"/>
                <a:ea typeface="Inter Light"/>
                <a:cs typeface="Inter Light"/>
                <a:sym typeface="Inter Light"/>
              </a:rPr>
              <a:t>03</a:t>
            </a:r>
            <a:endParaRPr dirty="0"/>
          </a:p>
        </p:txBody>
      </p:sp>
      <p:sp>
        <p:nvSpPr>
          <p:cNvPr id="308" name="Google Shape;308;p20"/>
          <p:cNvSpPr/>
          <p:nvPr/>
        </p:nvSpPr>
        <p:spPr>
          <a:xfrm>
            <a:off x="809922" y="5938689"/>
            <a:ext cx="8218455" cy="28575"/>
          </a:xfrm>
          <a:custGeom>
            <a:avLst/>
            <a:gdLst/>
            <a:ahLst/>
            <a:cxnLst/>
            <a:rect l="l" t="t" r="r" b="b"/>
            <a:pathLst>
              <a:path w="10957941" h="38100" extrusionOk="0">
                <a:moveTo>
                  <a:pt x="0" y="0"/>
                </a:moveTo>
                <a:lnTo>
                  <a:pt x="10957941" y="0"/>
                </a:lnTo>
                <a:lnTo>
                  <a:pt x="10957941" y="38100"/>
                </a:lnTo>
                <a:lnTo>
                  <a:pt x="0" y="38100"/>
                </a:lnTo>
                <a:close/>
              </a:path>
            </a:pathLst>
          </a:custGeom>
          <a:solidFill>
            <a:srgbClr val="4950B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9" name="Google Shape;309;p20"/>
          <p:cNvSpPr txBox="1"/>
          <p:nvPr/>
        </p:nvSpPr>
        <p:spPr>
          <a:xfrm>
            <a:off x="809922" y="6092427"/>
            <a:ext cx="2892475" cy="380703"/>
          </a:xfrm>
          <a:prstGeom prst="rect">
            <a:avLst/>
          </a:prstGeom>
          <a:noFill/>
          <a:ln>
            <a:noFill/>
          </a:ln>
        </p:spPr>
        <p:txBody>
          <a:bodyPr spcFirstLastPara="1" wrap="square" lIns="0" tIns="0" rIns="0" bIns="0" anchor="t" anchorCtr="0">
            <a:spAutoFit/>
          </a:bodyPr>
          <a:lstStyle/>
          <a:p>
            <a:pPr marL="0" marR="0" lvl="0" indent="0" algn="l" rtl="0">
              <a:lnSpc>
                <a:spcPct val="125033"/>
              </a:lnSpc>
              <a:spcBef>
                <a:spcPts val="0"/>
              </a:spcBef>
              <a:spcAft>
                <a:spcPts val="0"/>
              </a:spcAft>
              <a:buNone/>
            </a:pPr>
            <a:r>
              <a:rPr lang="en-US" sz="2249" b="1" dirty="0">
                <a:solidFill>
                  <a:srgbClr val="272525"/>
                </a:solidFill>
                <a:latin typeface="Inter"/>
                <a:ea typeface="Inter"/>
                <a:cs typeface="Inter"/>
                <a:sym typeface="Inter"/>
              </a:rPr>
              <a:t>Synthesis Agent</a:t>
            </a:r>
            <a:endParaRPr dirty="0"/>
          </a:p>
        </p:txBody>
      </p:sp>
      <p:sp>
        <p:nvSpPr>
          <p:cNvPr id="310" name="Google Shape;310;p20"/>
          <p:cNvSpPr txBox="1"/>
          <p:nvPr/>
        </p:nvSpPr>
        <p:spPr>
          <a:xfrm>
            <a:off x="809922" y="6545164"/>
            <a:ext cx="8218437" cy="807244"/>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dirty="0">
                <a:solidFill>
                  <a:srgbClr val="272525"/>
                </a:solidFill>
                <a:latin typeface="Inter"/>
                <a:ea typeface="Inter"/>
                <a:cs typeface="Inter"/>
                <a:sym typeface="Inter"/>
              </a:rPr>
              <a:t>Combines all study results, identifies conflicts and dependencies, recommends optimal configuration, generates comprehensive report</a:t>
            </a:r>
            <a:endParaRPr dirty="0"/>
          </a:p>
        </p:txBody>
      </p:sp>
      <p:sp>
        <p:nvSpPr>
          <p:cNvPr id="311" name="Google Shape;311;p20"/>
          <p:cNvSpPr txBox="1"/>
          <p:nvPr/>
        </p:nvSpPr>
        <p:spPr>
          <a:xfrm>
            <a:off x="809922" y="7424440"/>
            <a:ext cx="8218437" cy="436960"/>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a:solidFill>
                  <a:srgbClr val="272525"/>
                </a:solidFill>
                <a:latin typeface="Inter"/>
                <a:ea typeface="Inter"/>
                <a:cs typeface="Inter"/>
                <a:sym typeface="Inter"/>
              </a:rPr>
              <a:t>Tech: LLM with structured output</a:t>
            </a:r>
            <a:endParaRPr/>
          </a:p>
        </p:txBody>
      </p:sp>
      <p:sp>
        <p:nvSpPr>
          <p:cNvPr id="312" name="Google Shape;312;p20"/>
          <p:cNvSpPr txBox="1"/>
          <p:nvPr/>
        </p:nvSpPr>
        <p:spPr>
          <a:xfrm>
            <a:off x="9259640" y="5507534"/>
            <a:ext cx="231279" cy="355847"/>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a:solidFill>
                  <a:srgbClr val="272525"/>
                </a:solidFill>
                <a:latin typeface="Inter Light"/>
                <a:ea typeface="Inter Light"/>
                <a:cs typeface="Inter Light"/>
                <a:sym typeface="Inter Light"/>
              </a:rPr>
              <a:t>04</a:t>
            </a:r>
            <a:endParaRPr/>
          </a:p>
        </p:txBody>
      </p:sp>
      <p:sp>
        <p:nvSpPr>
          <p:cNvPr id="313" name="Google Shape;313;p20"/>
          <p:cNvSpPr/>
          <p:nvPr/>
        </p:nvSpPr>
        <p:spPr>
          <a:xfrm>
            <a:off x="9259640" y="5938689"/>
            <a:ext cx="8218455" cy="28575"/>
          </a:xfrm>
          <a:custGeom>
            <a:avLst/>
            <a:gdLst/>
            <a:ahLst/>
            <a:cxnLst/>
            <a:rect l="l" t="t" r="r" b="b"/>
            <a:pathLst>
              <a:path w="10957941" h="38100" extrusionOk="0">
                <a:moveTo>
                  <a:pt x="0" y="0"/>
                </a:moveTo>
                <a:lnTo>
                  <a:pt x="10957941" y="0"/>
                </a:lnTo>
                <a:lnTo>
                  <a:pt x="10957941" y="38100"/>
                </a:lnTo>
                <a:lnTo>
                  <a:pt x="0" y="38100"/>
                </a:lnTo>
                <a:close/>
              </a:path>
            </a:pathLst>
          </a:custGeom>
          <a:solidFill>
            <a:srgbClr val="4950B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p20"/>
          <p:cNvSpPr txBox="1"/>
          <p:nvPr/>
        </p:nvSpPr>
        <p:spPr>
          <a:xfrm>
            <a:off x="9259640" y="6092427"/>
            <a:ext cx="2892475" cy="380703"/>
          </a:xfrm>
          <a:prstGeom prst="rect">
            <a:avLst/>
          </a:prstGeom>
          <a:noFill/>
          <a:ln>
            <a:noFill/>
          </a:ln>
        </p:spPr>
        <p:txBody>
          <a:bodyPr spcFirstLastPara="1" wrap="square" lIns="0" tIns="0" rIns="0" bIns="0" anchor="t" anchorCtr="0">
            <a:spAutoFit/>
          </a:bodyPr>
          <a:lstStyle/>
          <a:p>
            <a:pPr marL="0" marR="0" lvl="0" indent="0" algn="l" rtl="0">
              <a:lnSpc>
                <a:spcPct val="125033"/>
              </a:lnSpc>
              <a:spcBef>
                <a:spcPts val="0"/>
              </a:spcBef>
              <a:spcAft>
                <a:spcPts val="0"/>
              </a:spcAft>
              <a:buNone/>
            </a:pPr>
            <a:r>
              <a:rPr lang="en-US" sz="2249" b="1" dirty="0">
                <a:solidFill>
                  <a:srgbClr val="272525"/>
                </a:solidFill>
                <a:latin typeface="Inter"/>
                <a:ea typeface="Inter"/>
                <a:cs typeface="Inter"/>
                <a:sym typeface="Inter"/>
              </a:rPr>
              <a:t>Human Review</a:t>
            </a:r>
            <a:endParaRPr dirty="0"/>
          </a:p>
        </p:txBody>
      </p:sp>
      <p:sp>
        <p:nvSpPr>
          <p:cNvPr id="315" name="Google Shape;315;p20"/>
          <p:cNvSpPr txBox="1"/>
          <p:nvPr/>
        </p:nvSpPr>
        <p:spPr>
          <a:xfrm>
            <a:off x="9259640" y="6545164"/>
            <a:ext cx="8218437" cy="807244"/>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dirty="0">
                <a:solidFill>
                  <a:srgbClr val="272525"/>
                </a:solidFill>
                <a:latin typeface="Inter"/>
                <a:ea typeface="Inter"/>
                <a:cs typeface="Inter"/>
                <a:sym typeface="Inter"/>
              </a:rPr>
              <a:t>Engineer validates AI findings, approves recommendations, provides final sign-off via intuitive dashboard interface</a:t>
            </a:r>
            <a:endParaRPr dirty="0"/>
          </a:p>
        </p:txBody>
      </p:sp>
      <p:sp>
        <p:nvSpPr>
          <p:cNvPr id="316" name="Google Shape;316;p20"/>
          <p:cNvSpPr txBox="1"/>
          <p:nvPr/>
        </p:nvSpPr>
        <p:spPr>
          <a:xfrm>
            <a:off x="9259640" y="7424440"/>
            <a:ext cx="8218437" cy="436960"/>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a:solidFill>
                  <a:srgbClr val="272525"/>
                </a:solidFill>
                <a:latin typeface="Inter"/>
                <a:ea typeface="Inter"/>
                <a:cs typeface="Inter"/>
                <a:sym typeface="Inter"/>
              </a:rPr>
              <a:t>Tech: Interactive dashboard</a:t>
            </a:r>
            <a:endParaRPr/>
          </a:p>
        </p:txBody>
      </p:sp>
      <p:sp>
        <p:nvSpPr>
          <p:cNvPr id="317" name="Google Shape;317;p20"/>
          <p:cNvSpPr/>
          <p:nvPr/>
        </p:nvSpPr>
        <p:spPr>
          <a:xfrm>
            <a:off x="809922" y="8295234"/>
            <a:ext cx="16668082" cy="1353407"/>
          </a:xfrm>
          <a:custGeom>
            <a:avLst/>
            <a:gdLst/>
            <a:ahLst/>
            <a:cxnLst/>
            <a:rect l="l" t="t" r="r" b="b"/>
            <a:pathLst>
              <a:path w="22224110" h="1804543" extrusionOk="0">
                <a:moveTo>
                  <a:pt x="0" y="129540"/>
                </a:moveTo>
                <a:cubicBezTo>
                  <a:pt x="0" y="58039"/>
                  <a:pt x="58039" y="0"/>
                  <a:pt x="129540" y="0"/>
                </a:cubicBezTo>
                <a:lnTo>
                  <a:pt x="22094571" y="0"/>
                </a:lnTo>
                <a:cubicBezTo>
                  <a:pt x="22166199" y="0"/>
                  <a:pt x="22224110" y="58039"/>
                  <a:pt x="22224110" y="129540"/>
                </a:cubicBezTo>
                <a:lnTo>
                  <a:pt x="22224110" y="1675003"/>
                </a:lnTo>
                <a:cubicBezTo>
                  <a:pt x="22224110" y="1746631"/>
                  <a:pt x="22166072" y="1804543"/>
                  <a:pt x="22094571" y="1804543"/>
                </a:cubicBezTo>
                <a:lnTo>
                  <a:pt x="129540" y="1804543"/>
                </a:lnTo>
                <a:cubicBezTo>
                  <a:pt x="57912" y="1804543"/>
                  <a:pt x="0" y="1746504"/>
                  <a:pt x="0" y="1675003"/>
                </a:cubicBezTo>
                <a:close/>
              </a:path>
            </a:pathLst>
          </a:custGeom>
          <a:solidFill>
            <a:srgbClr val="C7C9E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8" name="Google Shape;318;p20" descr="preencoded.png"/>
          <p:cNvSpPr/>
          <p:nvPr/>
        </p:nvSpPr>
        <p:spPr>
          <a:xfrm>
            <a:off x="1041201" y="8648551"/>
            <a:ext cx="289179" cy="231267"/>
          </a:xfrm>
          <a:custGeom>
            <a:avLst/>
            <a:gdLst/>
            <a:ahLst/>
            <a:cxnLst/>
            <a:rect l="l" t="t" r="r" b="b"/>
            <a:pathLst>
              <a:path w="385572" h="308356" extrusionOk="0">
                <a:moveTo>
                  <a:pt x="0" y="0"/>
                </a:moveTo>
                <a:lnTo>
                  <a:pt x="385572" y="0"/>
                </a:lnTo>
                <a:lnTo>
                  <a:pt x="385572" y="308356"/>
                </a:lnTo>
                <a:lnTo>
                  <a:pt x="0" y="308356"/>
                </a:lnTo>
                <a:lnTo>
                  <a:pt x="0" y="0"/>
                </a:lnTo>
                <a:close/>
              </a:path>
            </a:pathLst>
          </a:custGeom>
          <a:blipFill rotWithShape="1">
            <a:blip r:embed="rId3">
              <a:alphaModFix/>
            </a:blip>
            <a:stretch>
              <a:fillRect t="-11" r="1" b="-1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9" name="Google Shape;319;p20"/>
          <p:cNvSpPr txBox="1"/>
          <p:nvPr/>
        </p:nvSpPr>
        <p:spPr>
          <a:xfrm>
            <a:off x="1561654" y="8517582"/>
            <a:ext cx="15685145" cy="807244"/>
          </a:xfrm>
          <a:prstGeom prst="rect">
            <a:avLst/>
          </a:prstGeom>
          <a:noFill/>
          <a:ln>
            <a:noFill/>
          </a:ln>
        </p:spPr>
        <p:txBody>
          <a:bodyPr spcFirstLastPara="1" wrap="square" lIns="0" tIns="0" rIns="0" bIns="0" anchor="t" anchorCtr="0">
            <a:spAutoFit/>
          </a:bodyPr>
          <a:lstStyle/>
          <a:p>
            <a:pPr marL="0" marR="0" lvl="0" indent="0" algn="l" rtl="0">
              <a:lnSpc>
                <a:spcPct val="158664"/>
              </a:lnSpc>
              <a:spcBef>
                <a:spcPts val="0"/>
              </a:spcBef>
              <a:spcAft>
                <a:spcPts val="0"/>
              </a:spcAft>
              <a:buNone/>
            </a:pPr>
            <a:r>
              <a:rPr lang="en-US" sz="1812" dirty="0">
                <a:solidFill>
                  <a:srgbClr val="000000"/>
                </a:solidFill>
                <a:latin typeface="Inter"/>
                <a:ea typeface="Inter"/>
                <a:cs typeface="Inter"/>
                <a:sym typeface="Inter"/>
              </a:rPr>
              <a:t>This approach enables parallel processing, ensures consistent methodology across projects, and allows for faster iteration cycles when refinements are needed.</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1"/>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6F4F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5" name="Google Shape;325;p21"/>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6" name="Google Shape;326;p21"/>
          <p:cNvSpPr txBox="1"/>
          <p:nvPr/>
        </p:nvSpPr>
        <p:spPr>
          <a:xfrm>
            <a:off x="553194" y="415529"/>
            <a:ext cx="8186738" cy="512861"/>
          </a:xfrm>
          <a:prstGeom prst="rect">
            <a:avLst/>
          </a:prstGeom>
          <a:noFill/>
          <a:ln>
            <a:noFill/>
          </a:ln>
        </p:spPr>
        <p:txBody>
          <a:bodyPr spcFirstLastPara="1" wrap="square" lIns="0" tIns="0" rIns="0" bIns="0" anchor="t" anchorCtr="0">
            <a:spAutoFit/>
          </a:bodyPr>
          <a:lstStyle/>
          <a:p>
            <a:pPr marL="0" marR="0" lvl="0" indent="0" algn="l" rtl="0">
              <a:lnSpc>
                <a:spcPct val="126551"/>
              </a:lnSpc>
              <a:spcBef>
                <a:spcPts val="0"/>
              </a:spcBef>
              <a:spcAft>
                <a:spcPts val="0"/>
              </a:spcAft>
              <a:buNone/>
            </a:pPr>
            <a:r>
              <a:rPr lang="en-US" sz="3062" b="1" dirty="0">
                <a:solidFill>
                  <a:srgbClr val="000000"/>
                </a:solidFill>
                <a:latin typeface="Inter"/>
                <a:ea typeface="Inter"/>
                <a:cs typeface="Inter"/>
                <a:sym typeface="Inter"/>
              </a:rPr>
              <a:t>Challenge 3: Dynamic Capacity &amp; Planning</a:t>
            </a:r>
            <a:endParaRPr dirty="0"/>
          </a:p>
        </p:txBody>
      </p:sp>
      <p:sp>
        <p:nvSpPr>
          <p:cNvPr id="327" name="Google Shape;327;p21"/>
          <p:cNvSpPr txBox="1"/>
          <p:nvPr/>
        </p:nvSpPr>
        <p:spPr>
          <a:xfrm>
            <a:off x="553194" y="1304479"/>
            <a:ext cx="2370981" cy="315366"/>
          </a:xfrm>
          <a:prstGeom prst="rect">
            <a:avLst/>
          </a:prstGeom>
          <a:noFill/>
          <a:ln>
            <a:noFill/>
          </a:ln>
        </p:spPr>
        <p:txBody>
          <a:bodyPr spcFirstLastPara="1" wrap="square" lIns="0" tIns="0" rIns="0" bIns="0" anchor="t" anchorCtr="0">
            <a:spAutoFit/>
          </a:bodyPr>
          <a:lstStyle/>
          <a:p>
            <a:pPr marL="0" marR="0" lvl="0" indent="0" algn="l" rtl="0">
              <a:lnSpc>
                <a:spcPct val="127593"/>
              </a:lnSpc>
              <a:spcBef>
                <a:spcPts val="0"/>
              </a:spcBef>
              <a:spcAft>
                <a:spcPts val="0"/>
              </a:spcAft>
              <a:buNone/>
            </a:pPr>
            <a:r>
              <a:rPr lang="en-US" sz="1812" b="1" dirty="0">
                <a:solidFill>
                  <a:srgbClr val="000000"/>
                </a:solidFill>
                <a:latin typeface="Inter"/>
                <a:ea typeface="Inter"/>
                <a:cs typeface="Inter"/>
                <a:sym typeface="Inter"/>
              </a:rPr>
              <a:t>The Problem</a:t>
            </a:r>
            <a:endParaRPr dirty="0"/>
          </a:p>
        </p:txBody>
      </p:sp>
      <p:sp>
        <p:nvSpPr>
          <p:cNvPr id="328" name="Google Shape;328;p21"/>
          <p:cNvSpPr txBox="1"/>
          <p:nvPr/>
        </p:nvSpPr>
        <p:spPr>
          <a:xfrm>
            <a:off x="553194" y="1720751"/>
            <a:ext cx="7519690" cy="562868"/>
          </a:xfrm>
          <a:prstGeom prst="rect">
            <a:avLst/>
          </a:prstGeom>
          <a:noFill/>
          <a:ln>
            <a:noFill/>
          </a:ln>
        </p:spPr>
        <p:txBody>
          <a:bodyPr spcFirstLastPara="1" wrap="square" lIns="0" tIns="0" rIns="0" bIns="0" anchor="t" anchorCtr="0">
            <a:spAutoFit/>
          </a:bodyPr>
          <a:lstStyle/>
          <a:p>
            <a:pPr marL="0" marR="0" lvl="0" indent="0" algn="l" rtl="0">
              <a:lnSpc>
                <a:spcPct val="163184"/>
              </a:lnSpc>
              <a:spcBef>
                <a:spcPts val="0"/>
              </a:spcBef>
              <a:spcAft>
                <a:spcPts val="0"/>
              </a:spcAft>
              <a:buNone/>
            </a:pPr>
            <a:r>
              <a:rPr lang="en-US" sz="1187" dirty="0">
                <a:solidFill>
                  <a:srgbClr val="272525"/>
                </a:solidFill>
                <a:latin typeface="Inter"/>
                <a:ea typeface="Inter"/>
                <a:cs typeface="Inter"/>
                <a:sym typeface="Inter"/>
              </a:rPr>
              <a:t>Static ratings severely </a:t>
            </a:r>
            <a:r>
              <a:rPr lang="en-US" sz="1187" dirty="0" err="1">
                <a:solidFill>
                  <a:srgbClr val="272525"/>
                </a:solidFill>
                <a:latin typeface="Inter"/>
                <a:ea typeface="Inter"/>
                <a:cs typeface="Inter"/>
                <a:sym typeface="Inter"/>
              </a:rPr>
              <a:t>underutilise</a:t>
            </a:r>
            <a:r>
              <a:rPr lang="en-US" sz="1187" dirty="0">
                <a:solidFill>
                  <a:srgbClr val="272525"/>
                </a:solidFill>
                <a:latin typeface="Inter"/>
                <a:ea typeface="Inter"/>
                <a:cs typeface="Inter"/>
                <a:sym typeface="Inter"/>
              </a:rPr>
              <a:t> grid capacity. Weather conditions, load patterns, and renewable generation create opportunities for dynamic </a:t>
            </a:r>
            <a:r>
              <a:rPr lang="en-US" sz="1187" dirty="0" err="1">
                <a:solidFill>
                  <a:srgbClr val="272525"/>
                </a:solidFill>
                <a:latin typeface="Inter"/>
                <a:ea typeface="Inter"/>
                <a:cs typeface="Inter"/>
                <a:sym typeface="Inter"/>
              </a:rPr>
              <a:t>optimisation</a:t>
            </a:r>
            <a:r>
              <a:rPr lang="en-US" sz="1187" dirty="0">
                <a:solidFill>
                  <a:srgbClr val="272525"/>
                </a:solidFill>
                <a:latin typeface="Inter"/>
                <a:ea typeface="Inter"/>
                <a:cs typeface="Inter"/>
                <a:sym typeface="Inter"/>
              </a:rPr>
              <a:t> that traditional systems cannot exploit.</a:t>
            </a:r>
            <a:endParaRPr dirty="0"/>
          </a:p>
        </p:txBody>
      </p:sp>
      <p:sp>
        <p:nvSpPr>
          <p:cNvPr id="329" name="Google Shape;329;p21"/>
          <p:cNvSpPr txBox="1"/>
          <p:nvPr/>
        </p:nvSpPr>
        <p:spPr>
          <a:xfrm>
            <a:off x="553194" y="2422624"/>
            <a:ext cx="2370981" cy="315366"/>
          </a:xfrm>
          <a:prstGeom prst="rect">
            <a:avLst/>
          </a:prstGeom>
          <a:noFill/>
          <a:ln>
            <a:noFill/>
          </a:ln>
        </p:spPr>
        <p:txBody>
          <a:bodyPr spcFirstLastPara="1" wrap="square" lIns="0" tIns="0" rIns="0" bIns="0" anchor="t" anchorCtr="0">
            <a:spAutoFit/>
          </a:bodyPr>
          <a:lstStyle/>
          <a:p>
            <a:pPr marL="0" marR="0" lvl="0" indent="0" algn="l" rtl="0">
              <a:lnSpc>
                <a:spcPct val="127593"/>
              </a:lnSpc>
              <a:spcBef>
                <a:spcPts val="0"/>
              </a:spcBef>
              <a:spcAft>
                <a:spcPts val="0"/>
              </a:spcAft>
              <a:buNone/>
            </a:pPr>
            <a:r>
              <a:rPr lang="en-US" sz="1812" b="1" dirty="0">
                <a:solidFill>
                  <a:srgbClr val="000000"/>
                </a:solidFill>
                <a:latin typeface="Inter"/>
                <a:ea typeface="Inter"/>
                <a:cs typeface="Inter"/>
                <a:sym typeface="Inter"/>
              </a:rPr>
              <a:t>Current State</a:t>
            </a:r>
            <a:endParaRPr dirty="0"/>
          </a:p>
        </p:txBody>
      </p:sp>
      <p:sp>
        <p:nvSpPr>
          <p:cNvPr id="330" name="Google Shape;330;p21"/>
          <p:cNvSpPr txBox="1"/>
          <p:nvPr/>
        </p:nvSpPr>
        <p:spPr>
          <a:xfrm>
            <a:off x="553194" y="2838896"/>
            <a:ext cx="7519690" cy="562868"/>
          </a:xfrm>
          <a:prstGeom prst="rect">
            <a:avLst/>
          </a:prstGeom>
          <a:noFill/>
          <a:ln>
            <a:noFill/>
          </a:ln>
        </p:spPr>
        <p:txBody>
          <a:bodyPr spcFirstLastPara="1" wrap="square" lIns="0" tIns="0" rIns="0" bIns="0" anchor="t" anchorCtr="0">
            <a:spAutoFit/>
          </a:bodyPr>
          <a:lstStyle/>
          <a:p>
            <a:pPr marL="0" marR="0" lvl="0" indent="0" algn="l" rtl="0">
              <a:lnSpc>
                <a:spcPct val="163184"/>
              </a:lnSpc>
              <a:spcBef>
                <a:spcPts val="0"/>
              </a:spcBef>
              <a:spcAft>
                <a:spcPts val="0"/>
              </a:spcAft>
              <a:buNone/>
            </a:pPr>
            <a:r>
              <a:rPr lang="en-US" sz="1187" dirty="0">
                <a:solidFill>
                  <a:srgbClr val="272525"/>
                </a:solidFill>
                <a:latin typeface="Inter"/>
                <a:ea typeface="Inter"/>
                <a:cs typeface="Inter"/>
                <a:sym typeface="Inter"/>
              </a:rPr>
              <a:t>Conservative static limits, manual adjustments requiring human intervention, and reactive planning that responds to problems rather than preventing them.</a:t>
            </a:r>
            <a:endParaRPr dirty="0"/>
          </a:p>
        </p:txBody>
      </p:sp>
      <p:sp>
        <p:nvSpPr>
          <p:cNvPr id="331" name="Google Shape;331;p21" descr="preencoded.png"/>
          <p:cNvSpPr/>
          <p:nvPr/>
        </p:nvSpPr>
        <p:spPr>
          <a:xfrm>
            <a:off x="553194" y="3579465"/>
            <a:ext cx="7519702" cy="7519702"/>
          </a:xfrm>
          <a:custGeom>
            <a:avLst/>
            <a:gdLst/>
            <a:ahLst/>
            <a:cxnLst/>
            <a:rect l="l" t="t" r="r" b="b"/>
            <a:pathLst>
              <a:path w="10026269" h="10026269" extrusionOk="0">
                <a:moveTo>
                  <a:pt x="0" y="0"/>
                </a:moveTo>
                <a:lnTo>
                  <a:pt x="10026269" y="0"/>
                </a:lnTo>
                <a:lnTo>
                  <a:pt x="10026269" y="10026269"/>
                </a:lnTo>
                <a:lnTo>
                  <a:pt x="0" y="1002626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21"/>
          <p:cNvSpPr txBox="1"/>
          <p:nvPr/>
        </p:nvSpPr>
        <p:spPr>
          <a:xfrm>
            <a:off x="8467874" y="1304479"/>
            <a:ext cx="4675585" cy="315366"/>
          </a:xfrm>
          <a:prstGeom prst="rect">
            <a:avLst/>
          </a:prstGeom>
          <a:noFill/>
          <a:ln>
            <a:noFill/>
          </a:ln>
        </p:spPr>
        <p:txBody>
          <a:bodyPr spcFirstLastPara="1" wrap="square" lIns="0" tIns="0" rIns="0" bIns="0" anchor="t" anchorCtr="0">
            <a:spAutoFit/>
          </a:bodyPr>
          <a:lstStyle/>
          <a:p>
            <a:pPr marL="0" marR="0" lvl="0" indent="0" algn="l" rtl="0">
              <a:lnSpc>
                <a:spcPct val="127593"/>
              </a:lnSpc>
              <a:spcBef>
                <a:spcPts val="0"/>
              </a:spcBef>
              <a:spcAft>
                <a:spcPts val="0"/>
              </a:spcAft>
              <a:buNone/>
            </a:pPr>
            <a:r>
              <a:rPr lang="en-US" sz="1812" b="1" dirty="0">
                <a:solidFill>
                  <a:srgbClr val="000000"/>
                </a:solidFill>
                <a:latin typeface="Inter"/>
                <a:ea typeface="Inter"/>
                <a:cs typeface="Inter"/>
                <a:sym typeface="Inter"/>
              </a:rPr>
              <a:t>Predictive ML + Agentic Control Solution</a:t>
            </a:r>
            <a:endParaRPr dirty="0"/>
          </a:p>
        </p:txBody>
      </p:sp>
      <p:sp>
        <p:nvSpPr>
          <p:cNvPr id="333" name="Google Shape;333;p21" descr="preencoded.png"/>
          <p:cNvSpPr/>
          <p:nvPr/>
        </p:nvSpPr>
        <p:spPr>
          <a:xfrm>
            <a:off x="8467874" y="1797546"/>
            <a:ext cx="395139" cy="395139"/>
          </a:xfrm>
          <a:custGeom>
            <a:avLst/>
            <a:gdLst/>
            <a:ahLst/>
            <a:cxnLst/>
            <a:rect l="l" t="t" r="r" b="b"/>
            <a:pathLst>
              <a:path w="395139" h="395139" extrusionOk="0">
                <a:moveTo>
                  <a:pt x="0" y="0"/>
                </a:moveTo>
                <a:lnTo>
                  <a:pt x="395138" y="0"/>
                </a:lnTo>
                <a:lnTo>
                  <a:pt x="395138" y="395139"/>
                </a:lnTo>
                <a:lnTo>
                  <a:pt x="0" y="395139"/>
                </a:lnTo>
                <a:lnTo>
                  <a:pt x="0" y="0"/>
                </a:lnTo>
                <a:close/>
              </a:path>
            </a:pathLst>
          </a:custGeom>
          <a:blipFill rotWithShape="1">
            <a:blip r:embed="rId4">
              <a:alphaModFix/>
            </a:blip>
            <a:stretch>
              <a:fillRect l="-15475" r="-1547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4" name="Google Shape;334;p21"/>
          <p:cNvSpPr txBox="1"/>
          <p:nvPr/>
        </p:nvSpPr>
        <p:spPr>
          <a:xfrm>
            <a:off x="8467874" y="2371130"/>
            <a:ext cx="2011561" cy="266105"/>
          </a:xfrm>
          <a:prstGeom prst="rect">
            <a:avLst/>
          </a:prstGeom>
          <a:noFill/>
          <a:ln>
            <a:noFill/>
          </a:ln>
        </p:spPr>
        <p:txBody>
          <a:bodyPr spcFirstLastPara="1" wrap="square" lIns="0" tIns="0" rIns="0" bIns="0" anchor="t" anchorCtr="0">
            <a:spAutoFit/>
          </a:bodyPr>
          <a:lstStyle/>
          <a:p>
            <a:pPr marL="0" marR="0" lvl="0" indent="0" algn="l" rtl="0">
              <a:lnSpc>
                <a:spcPct val="129133"/>
              </a:lnSpc>
              <a:spcBef>
                <a:spcPts val="0"/>
              </a:spcBef>
              <a:spcAft>
                <a:spcPts val="0"/>
              </a:spcAft>
              <a:buNone/>
            </a:pPr>
            <a:r>
              <a:rPr lang="en-US" sz="1500" b="1" dirty="0">
                <a:solidFill>
                  <a:srgbClr val="272525"/>
                </a:solidFill>
                <a:latin typeface="Inter"/>
                <a:ea typeface="Inter"/>
                <a:cs typeface="Inter"/>
                <a:sym typeface="Inter"/>
              </a:rPr>
              <a:t>Weather Forecasting</a:t>
            </a:r>
            <a:endParaRPr dirty="0"/>
          </a:p>
        </p:txBody>
      </p:sp>
      <p:sp>
        <p:nvSpPr>
          <p:cNvPr id="335" name="Google Shape;335;p21"/>
          <p:cNvSpPr txBox="1"/>
          <p:nvPr/>
        </p:nvSpPr>
        <p:spPr>
          <a:xfrm>
            <a:off x="8467874" y="2738140"/>
            <a:ext cx="9276309" cy="310009"/>
          </a:xfrm>
          <a:prstGeom prst="rect">
            <a:avLst/>
          </a:prstGeom>
          <a:noFill/>
          <a:ln>
            <a:noFill/>
          </a:ln>
        </p:spPr>
        <p:txBody>
          <a:bodyPr spcFirstLastPara="1" wrap="square" lIns="0" tIns="0" rIns="0" bIns="0" anchor="t" anchorCtr="0">
            <a:spAutoFit/>
          </a:bodyPr>
          <a:lstStyle/>
          <a:p>
            <a:pPr marL="0" marR="0" lvl="0" indent="0" algn="l" rtl="0">
              <a:lnSpc>
                <a:spcPct val="163184"/>
              </a:lnSpc>
              <a:spcBef>
                <a:spcPts val="0"/>
              </a:spcBef>
              <a:spcAft>
                <a:spcPts val="0"/>
              </a:spcAft>
              <a:buNone/>
            </a:pPr>
            <a:r>
              <a:rPr lang="en-US" sz="1187" dirty="0">
                <a:solidFill>
                  <a:srgbClr val="272525"/>
                </a:solidFill>
                <a:latin typeface="Inter"/>
                <a:ea typeface="Inter"/>
                <a:cs typeface="Inter"/>
                <a:sym typeface="Inter"/>
              </a:rPr>
              <a:t>ML models predict capacity based on temperature, wind, and precipitation patterns</a:t>
            </a:r>
            <a:endParaRPr dirty="0"/>
          </a:p>
        </p:txBody>
      </p:sp>
      <p:sp>
        <p:nvSpPr>
          <p:cNvPr id="336" name="Google Shape;336;p21" descr="preencoded.png"/>
          <p:cNvSpPr/>
          <p:nvPr/>
        </p:nvSpPr>
        <p:spPr>
          <a:xfrm>
            <a:off x="8467874" y="3364260"/>
            <a:ext cx="395139" cy="395139"/>
          </a:xfrm>
          <a:custGeom>
            <a:avLst/>
            <a:gdLst/>
            <a:ahLst/>
            <a:cxnLst/>
            <a:rect l="l" t="t" r="r" b="b"/>
            <a:pathLst>
              <a:path w="395139" h="395139" extrusionOk="0">
                <a:moveTo>
                  <a:pt x="0" y="0"/>
                </a:moveTo>
                <a:lnTo>
                  <a:pt x="395138" y="0"/>
                </a:lnTo>
                <a:lnTo>
                  <a:pt x="395138" y="395139"/>
                </a:lnTo>
                <a:lnTo>
                  <a:pt x="0" y="395139"/>
                </a:lnTo>
                <a:lnTo>
                  <a:pt x="0" y="0"/>
                </a:lnTo>
                <a:close/>
              </a:path>
            </a:pathLst>
          </a:custGeom>
          <a:blipFill rotWithShape="1">
            <a:blip r:embed="rId5">
              <a:alphaModFix/>
            </a:blip>
            <a:stretch>
              <a:fillRect l="-1189" r="-118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7" name="Google Shape;337;p21"/>
          <p:cNvSpPr txBox="1"/>
          <p:nvPr/>
        </p:nvSpPr>
        <p:spPr>
          <a:xfrm>
            <a:off x="8467874" y="3937844"/>
            <a:ext cx="1975842" cy="266105"/>
          </a:xfrm>
          <a:prstGeom prst="rect">
            <a:avLst/>
          </a:prstGeom>
          <a:noFill/>
          <a:ln>
            <a:noFill/>
          </a:ln>
        </p:spPr>
        <p:txBody>
          <a:bodyPr spcFirstLastPara="1" wrap="square" lIns="0" tIns="0" rIns="0" bIns="0" anchor="t" anchorCtr="0">
            <a:spAutoFit/>
          </a:bodyPr>
          <a:lstStyle/>
          <a:p>
            <a:pPr marL="0" marR="0" lvl="0" indent="0" algn="l" rtl="0">
              <a:lnSpc>
                <a:spcPct val="129133"/>
              </a:lnSpc>
              <a:spcBef>
                <a:spcPts val="0"/>
              </a:spcBef>
              <a:spcAft>
                <a:spcPts val="0"/>
              </a:spcAft>
              <a:buNone/>
            </a:pPr>
            <a:r>
              <a:rPr lang="en-US" sz="1500" b="1" dirty="0">
                <a:solidFill>
                  <a:srgbClr val="272525"/>
                </a:solidFill>
                <a:latin typeface="Inter"/>
                <a:ea typeface="Inter"/>
                <a:cs typeface="Inter"/>
                <a:sym typeface="Inter"/>
              </a:rPr>
              <a:t>Load Prediction</a:t>
            </a:r>
            <a:endParaRPr dirty="0"/>
          </a:p>
        </p:txBody>
      </p:sp>
      <p:sp>
        <p:nvSpPr>
          <p:cNvPr id="338" name="Google Shape;338;p21"/>
          <p:cNvSpPr txBox="1"/>
          <p:nvPr/>
        </p:nvSpPr>
        <p:spPr>
          <a:xfrm>
            <a:off x="8467874" y="4304854"/>
            <a:ext cx="9276309" cy="310009"/>
          </a:xfrm>
          <a:prstGeom prst="rect">
            <a:avLst/>
          </a:prstGeom>
          <a:noFill/>
          <a:ln>
            <a:noFill/>
          </a:ln>
        </p:spPr>
        <p:txBody>
          <a:bodyPr spcFirstLastPara="1" wrap="square" lIns="0" tIns="0" rIns="0" bIns="0" anchor="t" anchorCtr="0">
            <a:spAutoFit/>
          </a:bodyPr>
          <a:lstStyle/>
          <a:p>
            <a:pPr marL="0" marR="0" lvl="0" indent="0" algn="l" rtl="0">
              <a:lnSpc>
                <a:spcPct val="163184"/>
              </a:lnSpc>
              <a:spcBef>
                <a:spcPts val="0"/>
              </a:spcBef>
              <a:spcAft>
                <a:spcPts val="0"/>
              </a:spcAft>
              <a:buNone/>
            </a:pPr>
            <a:r>
              <a:rPr lang="en-US" sz="1187" dirty="0">
                <a:solidFill>
                  <a:srgbClr val="272525"/>
                </a:solidFill>
                <a:latin typeface="Inter"/>
                <a:ea typeface="Inter"/>
                <a:cs typeface="Inter"/>
                <a:sym typeface="Inter"/>
              </a:rPr>
              <a:t>Transformer models with attention mechanisms forecast demand patterns</a:t>
            </a:r>
            <a:endParaRPr dirty="0"/>
          </a:p>
        </p:txBody>
      </p:sp>
      <p:sp>
        <p:nvSpPr>
          <p:cNvPr id="339" name="Google Shape;339;p21" descr="preencoded.png"/>
          <p:cNvSpPr/>
          <p:nvPr/>
        </p:nvSpPr>
        <p:spPr>
          <a:xfrm>
            <a:off x="8467874" y="4930974"/>
            <a:ext cx="395139" cy="395139"/>
          </a:xfrm>
          <a:custGeom>
            <a:avLst/>
            <a:gdLst/>
            <a:ahLst/>
            <a:cxnLst/>
            <a:rect l="l" t="t" r="r" b="b"/>
            <a:pathLst>
              <a:path w="395139" h="395139" extrusionOk="0">
                <a:moveTo>
                  <a:pt x="0" y="0"/>
                </a:moveTo>
                <a:lnTo>
                  <a:pt x="395138" y="0"/>
                </a:lnTo>
                <a:lnTo>
                  <a:pt x="395138" y="395138"/>
                </a:lnTo>
                <a:lnTo>
                  <a:pt x="0" y="395138"/>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0" name="Google Shape;340;p21"/>
          <p:cNvSpPr txBox="1"/>
          <p:nvPr/>
        </p:nvSpPr>
        <p:spPr>
          <a:xfrm>
            <a:off x="8467874" y="5504558"/>
            <a:ext cx="1975842" cy="266105"/>
          </a:xfrm>
          <a:prstGeom prst="rect">
            <a:avLst/>
          </a:prstGeom>
          <a:noFill/>
          <a:ln>
            <a:noFill/>
          </a:ln>
        </p:spPr>
        <p:txBody>
          <a:bodyPr spcFirstLastPara="1" wrap="square" lIns="0" tIns="0" rIns="0" bIns="0" anchor="t" anchorCtr="0">
            <a:spAutoFit/>
          </a:bodyPr>
          <a:lstStyle/>
          <a:p>
            <a:pPr marL="0" marR="0" lvl="0" indent="0" algn="l" rtl="0">
              <a:lnSpc>
                <a:spcPct val="129133"/>
              </a:lnSpc>
              <a:spcBef>
                <a:spcPts val="0"/>
              </a:spcBef>
              <a:spcAft>
                <a:spcPts val="0"/>
              </a:spcAft>
              <a:buNone/>
            </a:pPr>
            <a:r>
              <a:rPr lang="en-US" sz="1500" b="1" dirty="0">
                <a:solidFill>
                  <a:srgbClr val="272525"/>
                </a:solidFill>
                <a:latin typeface="Inter"/>
                <a:ea typeface="Inter"/>
                <a:cs typeface="Inter"/>
                <a:sym typeface="Inter"/>
              </a:rPr>
              <a:t>RL </a:t>
            </a:r>
            <a:r>
              <a:rPr lang="en-US" sz="1500" b="1" dirty="0" err="1">
                <a:solidFill>
                  <a:srgbClr val="272525"/>
                </a:solidFill>
                <a:latin typeface="Inter"/>
                <a:ea typeface="Inter"/>
                <a:cs typeface="Inter"/>
                <a:sym typeface="Inter"/>
              </a:rPr>
              <a:t>Optimisation</a:t>
            </a:r>
            <a:endParaRPr dirty="0"/>
          </a:p>
        </p:txBody>
      </p:sp>
      <p:sp>
        <p:nvSpPr>
          <p:cNvPr id="341" name="Google Shape;341;p21"/>
          <p:cNvSpPr txBox="1"/>
          <p:nvPr/>
        </p:nvSpPr>
        <p:spPr>
          <a:xfrm>
            <a:off x="8467874" y="5871567"/>
            <a:ext cx="9276309" cy="310009"/>
          </a:xfrm>
          <a:prstGeom prst="rect">
            <a:avLst/>
          </a:prstGeom>
          <a:noFill/>
          <a:ln>
            <a:noFill/>
          </a:ln>
        </p:spPr>
        <p:txBody>
          <a:bodyPr spcFirstLastPara="1" wrap="square" lIns="0" tIns="0" rIns="0" bIns="0" anchor="t" anchorCtr="0">
            <a:spAutoFit/>
          </a:bodyPr>
          <a:lstStyle/>
          <a:p>
            <a:pPr marL="0" marR="0" lvl="0" indent="0" algn="l" rtl="0">
              <a:lnSpc>
                <a:spcPct val="163184"/>
              </a:lnSpc>
              <a:spcBef>
                <a:spcPts val="0"/>
              </a:spcBef>
              <a:spcAft>
                <a:spcPts val="0"/>
              </a:spcAft>
              <a:buNone/>
            </a:pPr>
            <a:r>
              <a:rPr lang="en-US" sz="1187" dirty="0">
                <a:solidFill>
                  <a:srgbClr val="272525"/>
                </a:solidFill>
                <a:latin typeface="Inter"/>
                <a:ea typeface="Inter"/>
                <a:cs typeface="Inter"/>
                <a:sym typeface="Inter"/>
              </a:rPr>
              <a:t>Reinforcement learning algorithms </a:t>
            </a:r>
            <a:r>
              <a:rPr lang="en-US" sz="1187" dirty="0" err="1">
                <a:solidFill>
                  <a:srgbClr val="272525"/>
                </a:solidFill>
                <a:latin typeface="Inter"/>
                <a:ea typeface="Inter"/>
                <a:cs typeface="Inter"/>
                <a:sym typeface="Inter"/>
              </a:rPr>
              <a:t>optimise</a:t>
            </a:r>
            <a:r>
              <a:rPr lang="en-US" sz="1187" dirty="0">
                <a:solidFill>
                  <a:srgbClr val="272525"/>
                </a:solidFill>
                <a:latin typeface="Inter"/>
                <a:ea typeface="Inter"/>
                <a:cs typeface="Inter"/>
                <a:sym typeface="Inter"/>
              </a:rPr>
              <a:t> dispatch decisions in real-time</a:t>
            </a:r>
            <a:endParaRPr dirty="0"/>
          </a:p>
        </p:txBody>
      </p:sp>
      <p:sp>
        <p:nvSpPr>
          <p:cNvPr id="342" name="Google Shape;342;p21" descr="preencoded.png"/>
          <p:cNvSpPr/>
          <p:nvPr/>
        </p:nvSpPr>
        <p:spPr>
          <a:xfrm>
            <a:off x="8467874" y="6497688"/>
            <a:ext cx="395139" cy="395139"/>
          </a:xfrm>
          <a:custGeom>
            <a:avLst/>
            <a:gdLst/>
            <a:ahLst/>
            <a:cxnLst/>
            <a:rect l="l" t="t" r="r" b="b"/>
            <a:pathLst>
              <a:path w="395139" h="395139" extrusionOk="0">
                <a:moveTo>
                  <a:pt x="0" y="0"/>
                </a:moveTo>
                <a:lnTo>
                  <a:pt x="395138" y="0"/>
                </a:lnTo>
                <a:lnTo>
                  <a:pt x="395138" y="395138"/>
                </a:lnTo>
                <a:lnTo>
                  <a:pt x="0" y="395138"/>
                </a:lnTo>
                <a:lnTo>
                  <a:pt x="0" y="0"/>
                </a:lnTo>
                <a:close/>
              </a:path>
            </a:pathLst>
          </a:custGeom>
          <a:blipFill rotWithShape="1">
            <a:blip r:embed="rId7">
              <a:alphaModFix/>
            </a:blip>
            <a:stretch>
              <a:fillRect t="-30950" b="-3094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3" name="Google Shape;343;p21"/>
          <p:cNvSpPr txBox="1"/>
          <p:nvPr/>
        </p:nvSpPr>
        <p:spPr>
          <a:xfrm>
            <a:off x="8467874" y="7071271"/>
            <a:ext cx="1975842" cy="266105"/>
          </a:xfrm>
          <a:prstGeom prst="rect">
            <a:avLst/>
          </a:prstGeom>
          <a:noFill/>
          <a:ln>
            <a:noFill/>
          </a:ln>
        </p:spPr>
        <p:txBody>
          <a:bodyPr spcFirstLastPara="1" wrap="square" lIns="0" tIns="0" rIns="0" bIns="0" anchor="t" anchorCtr="0">
            <a:spAutoFit/>
          </a:bodyPr>
          <a:lstStyle/>
          <a:p>
            <a:pPr marL="0" marR="0" lvl="0" indent="0" algn="l" rtl="0">
              <a:lnSpc>
                <a:spcPct val="129133"/>
              </a:lnSpc>
              <a:spcBef>
                <a:spcPts val="0"/>
              </a:spcBef>
              <a:spcAft>
                <a:spcPts val="0"/>
              </a:spcAft>
              <a:buNone/>
            </a:pPr>
            <a:r>
              <a:rPr lang="en-US" sz="1500" b="1" dirty="0">
                <a:solidFill>
                  <a:srgbClr val="272525"/>
                </a:solidFill>
                <a:latin typeface="Inter"/>
                <a:ea typeface="Inter"/>
                <a:cs typeface="Inter"/>
                <a:sym typeface="Inter"/>
              </a:rPr>
              <a:t>VPP Coordination</a:t>
            </a:r>
            <a:endParaRPr dirty="0"/>
          </a:p>
        </p:txBody>
      </p:sp>
      <p:sp>
        <p:nvSpPr>
          <p:cNvPr id="344" name="Google Shape;344;p21"/>
          <p:cNvSpPr txBox="1"/>
          <p:nvPr/>
        </p:nvSpPr>
        <p:spPr>
          <a:xfrm>
            <a:off x="8467874" y="7438281"/>
            <a:ext cx="9276309" cy="310009"/>
          </a:xfrm>
          <a:prstGeom prst="rect">
            <a:avLst/>
          </a:prstGeom>
          <a:noFill/>
          <a:ln>
            <a:noFill/>
          </a:ln>
        </p:spPr>
        <p:txBody>
          <a:bodyPr spcFirstLastPara="1" wrap="square" lIns="0" tIns="0" rIns="0" bIns="0" anchor="t" anchorCtr="0">
            <a:spAutoFit/>
          </a:bodyPr>
          <a:lstStyle/>
          <a:p>
            <a:pPr marL="0" marR="0" lvl="0" indent="0" algn="l" rtl="0">
              <a:lnSpc>
                <a:spcPct val="163184"/>
              </a:lnSpc>
              <a:spcBef>
                <a:spcPts val="0"/>
              </a:spcBef>
              <a:spcAft>
                <a:spcPts val="0"/>
              </a:spcAft>
              <a:buNone/>
            </a:pPr>
            <a:r>
              <a:rPr lang="en-US" sz="1187" dirty="0">
                <a:solidFill>
                  <a:srgbClr val="272525"/>
                </a:solidFill>
                <a:latin typeface="Inter"/>
                <a:ea typeface="Inter"/>
                <a:cs typeface="Inter"/>
                <a:sym typeface="Inter"/>
              </a:rPr>
              <a:t>Agent-based systems coordinate distributed energy resources efficiently</a:t>
            </a:r>
            <a:endParaRPr dirty="0"/>
          </a:p>
        </p:txBody>
      </p:sp>
      <p:sp>
        <p:nvSpPr>
          <p:cNvPr id="345" name="Google Shape;345;p21"/>
          <p:cNvSpPr txBox="1"/>
          <p:nvPr/>
        </p:nvSpPr>
        <p:spPr>
          <a:xfrm>
            <a:off x="8467874" y="7868841"/>
            <a:ext cx="9276309" cy="310009"/>
          </a:xfrm>
          <a:prstGeom prst="rect">
            <a:avLst/>
          </a:prstGeom>
          <a:noFill/>
          <a:ln>
            <a:noFill/>
          </a:ln>
        </p:spPr>
        <p:txBody>
          <a:bodyPr spcFirstLastPara="1" wrap="square" lIns="0" tIns="0" rIns="0" bIns="0" anchor="t" anchorCtr="0">
            <a:spAutoFit/>
          </a:bodyPr>
          <a:lstStyle/>
          <a:p>
            <a:pPr marL="0" marR="0" lvl="0" indent="0" algn="l" rtl="0">
              <a:lnSpc>
                <a:spcPct val="163184"/>
              </a:lnSpc>
              <a:spcBef>
                <a:spcPts val="0"/>
              </a:spcBef>
              <a:spcAft>
                <a:spcPts val="0"/>
              </a:spcAft>
              <a:buNone/>
            </a:pPr>
            <a:r>
              <a:rPr lang="en-US" sz="1187" b="1" dirty="0">
                <a:solidFill>
                  <a:srgbClr val="272525"/>
                </a:solidFill>
                <a:latin typeface="Inter"/>
                <a:ea typeface="Inter"/>
                <a:cs typeface="Inter"/>
                <a:sym typeface="Inter"/>
              </a:rPr>
              <a:t>Timeline:</a:t>
            </a:r>
            <a:r>
              <a:rPr lang="en-US" sz="1187" dirty="0">
                <a:solidFill>
                  <a:srgbClr val="272525"/>
                </a:solidFill>
                <a:latin typeface="Inter"/>
                <a:ea typeface="Inter"/>
                <a:cs typeface="Inter"/>
                <a:sym typeface="Inter"/>
              </a:rPr>
              <a:t> 12-24 months</a:t>
            </a:r>
            <a:endParaRPr dirty="0"/>
          </a:p>
        </p:txBody>
      </p:sp>
      <p:sp>
        <p:nvSpPr>
          <p:cNvPr id="346" name="Google Shape;346;p21"/>
          <p:cNvSpPr txBox="1"/>
          <p:nvPr/>
        </p:nvSpPr>
        <p:spPr>
          <a:xfrm>
            <a:off x="8467874" y="8263830"/>
            <a:ext cx="9276309" cy="310009"/>
          </a:xfrm>
          <a:prstGeom prst="rect">
            <a:avLst/>
          </a:prstGeom>
          <a:noFill/>
          <a:ln>
            <a:noFill/>
          </a:ln>
        </p:spPr>
        <p:txBody>
          <a:bodyPr spcFirstLastPara="1" wrap="square" lIns="0" tIns="0" rIns="0" bIns="0" anchor="t" anchorCtr="0">
            <a:spAutoFit/>
          </a:bodyPr>
          <a:lstStyle/>
          <a:p>
            <a:pPr marL="0" marR="0" lvl="0" indent="0" algn="l" rtl="0">
              <a:lnSpc>
                <a:spcPct val="163184"/>
              </a:lnSpc>
              <a:spcBef>
                <a:spcPts val="0"/>
              </a:spcBef>
              <a:spcAft>
                <a:spcPts val="0"/>
              </a:spcAft>
              <a:buNone/>
            </a:pPr>
            <a:r>
              <a:rPr lang="en-US" sz="1187" b="1">
                <a:solidFill>
                  <a:srgbClr val="272525"/>
                </a:solidFill>
                <a:latin typeface="Inter"/>
                <a:ea typeface="Inter"/>
                <a:cs typeface="Inter"/>
                <a:sym typeface="Inter"/>
              </a:rPr>
              <a:t>Impact:</a:t>
            </a:r>
            <a:r>
              <a:rPr lang="en-US" sz="1187">
                <a:solidFill>
                  <a:srgbClr val="272525"/>
                </a:solidFill>
                <a:latin typeface="Inter"/>
                <a:ea typeface="Inter"/>
                <a:cs typeface="Inter"/>
                <a:sym typeface="Inter"/>
              </a:rPr>
              <a:t> 20-40% capacity increase, reducing congestion costs by over $20 billion annually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2"/>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6F4F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2" name="Google Shape;352;p22"/>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3" name="Google Shape;353;p22"/>
          <p:cNvSpPr txBox="1"/>
          <p:nvPr/>
        </p:nvSpPr>
        <p:spPr>
          <a:xfrm>
            <a:off x="631031" y="476696"/>
            <a:ext cx="10577364" cy="582514"/>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sz="3500" b="1" dirty="0">
                <a:solidFill>
                  <a:srgbClr val="000000"/>
                </a:solidFill>
                <a:latin typeface="Inter"/>
                <a:ea typeface="Inter"/>
                <a:cs typeface="Inter"/>
                <a:sym typeface="Inter"/>
              </a:rPr>
              <a:t>Implementation Roadmap &amp; Expected Outcomes</a:t>
            </a:r>
            <a:endParaRPr dirty="0"/>
          </a:p>
        </p:txBody>
      </p:sp>
      <p:sp>
        <p:nvSpPr>
          <p:cNvPr id="354" name="Google Shape;354;p22"/>
          <p:cNvSpPr/>
          <p:nvPr/>
        </p:nvSpPr>
        <p:spPr>
          <a:xfrm>
            <a:off x="631031" y="4315866"/>
            <a:ext cx="17025937" cy="19050"/>
          </a:xfrm>
          <a:custGeom>
            <a:avLst/>
            <a:gdLst/>
            <a:ahLst/>
            <a:cxnLst/>
            <a:rect l="l" t="t" r="r" b="b"/>
            <a:pathLst>
              <a:path w="22701250" h="25400" extrusionOk="0">
                <a:moveTo>
                  <a:pt x="0" y="12700"/>
                </a:moveTo>
                <a:cubicBezTo>
                  <a:pt x="0" y="5715"/>
                  <a:pt x="5715" y="0"/>
                  <a:pt x="12700" y="0"/>
                </a:cubicBezTo>
                <a:lnTo>
                  <a:pt x="22688550" y="0"/>
                </a:lnTo>
                <a:cubicBezTo>
                  <a:pt x="22695536" y="0"/>
                  <a:pt x="22701250" y="5715"/>
                  <a:pt x="22701250" y="12700"/>
                </a:cubicBezTo>
                <a:cubicBezTo>
                  <a:pt x="22701250" y="19685"/>
                  <a:pt x="22695536" y="25400"/>
                  <a:pt x="22688550" y="25400"/>
                </a:cubicBezTo>
                <a:lnTo>
                  <a:pt x="12700" y="25400"/>
                </a:lnTo>
                <a:cubicBezTo>
                  <a:pt x="5715" y="25400"/>
                  <a:pt x="0" y="19685"/>
                  <a:pt x="0" y="12700"/>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5" name="Google Shape;355;p22"/>
          <p:cNvSpPr/>
          <p:nvPr/>
        </p:nvSpPr>
        <p:spPr>
          <a:xfrm>
            <a:off x="4821436" y="3775100"/>
            <a:ext cx="19050" cy="540829"/>
          </a:xfrm>
          <a:custGeom>
            <a:avLst/>
            <a:gdLst/>
            <a:ahLst/>
            <a:cxnLst/>
            <a:rect l="l" t="t" r="r" b="b"/>
            <a:pathLst>
              <a:path w="25400" h="721106" extrusionOk="0">
                <a:moveTo>
                  <a:pt x="0" y="12700"/>
                </a:moveTo>
                <a:cubicBezTo>
                  <a:pt x="0" y="5715"/>
                  <a:pt x="5715" y="0"/>
                  <a:pt x="12700" y="0"/>
                </a:cubicBezTo>
                <a:cubicBezTo>
                  <a:pt x="19685" y="0"/>
                  <a:pt x="25400" y="5715"/>
                  <a:pt x="25400" y="12700"/>
                </a:cubicBezTo>
                <a:lnTo>
                  <a:pt x="25400" y="708406"/>
                </a:lnTo>
                <a:cubicBezTo>
                  <a:pt x="25400" y="715391"/>
                  <a:pt x="19685" y="721106"/>
                  <a:pt x="12700" y="721106"/>
                </a:cubicBezTo>
                <a:cubicBezTo>
                  <a:pt x="5715" y="721106"/>
                  <a:pt x="0" y="715391"/>
                  <a:pt x="0" y="708406"/>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56" name="Google Shape;356;p22"/>
          <p:cNvGrpSpPr/>
          <p:nvPr/>
        </p:nvGrpSpPr>
        <p:grpSpPr>
          <a:xfrm>
            <a:off x="4623495" y="4108326"/>
            <a:ext cx="415099" cy="415099"/>
            <a:chOff x="0" y="0"/>
            <a:chExt cx="553466" cy="553466"/>
          </a:xfrm>
        </p:grpSpPr>
        <p:sp>
          <p:nvSpPr>
            <p:cNvPr id="357" name="Google Shape;357;p22"/>
            <p:cNvSpPr/>
            <p:nvPr/>
          </p:nvSpPr>
          <p:spPr>
            <a:xfrm>
              <a:off x="6350" y="6350"/>
              <a:ext cx="540766" cy="540766"/>
            </a:xfrm>
            <a:custGeom>
              <a:avLst/>
              <a:gdLst/>
              <a:ahLst/>
              <a:cxnLst/>
              <a:rect l="l" t="t" r="r" b="b"/>
              <a:pathLst>
                <a:path w="540766" h="540766" extrusionOk="0">
                  <a:moveTo>
                    <a:pt x="0" y="100965"/>
                  </a:moveTo>
                  <a:cubicBezTo>
                    <a:pt x="0" y="45212"/>
                    <a:pt x="45212" y="0"/>
                    <a:pt x="100965" y="0"/>
                  </a:cubicBezTo>
                  <a:lnTo>
                    <a:pt x="439801" y="0"/>
                  </a:lnTo>
                  <a:cubicBezTo>
                    <a:pt x="495554" y="0"/>
                    <a:pt x="540766" y="45212"/>
                    <a:pt x="540766" y="100965"/>
                  </a:cubicBezTo>
                  <a:lnTo>
                    <a:pt x="540766" y="439801"/>
                  </a:lnTo>
                  <a:cubicBezTo>
                    <a:pt x="540766" y="495554"/>
                    <a:pt x="495554" y="540766"/>
                    <a:pt x="439801" y="540766"/>
                  </a:cubicBezTo>
                  <a:lnTo>
                    <a:pt x="100965" y="540766"/>
                  </a:lnTo>
                  <a:cubicBezTo>
                    <a:pt x="45212" y="540766"/>
                    <a:pt x="0" y="495554"/>
                    <a:pt x="0" y="439801"/>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8" name="Google Shape;358;p22"/>
            <p:cNvSpPr/>
            <p:nvPr/>
          </p:nvSpPr>
          <p:spPr>
            <a:xfrm>
              <a:off x="0" y="0"/>
              <a:ext cx="553466" cy="553466"/>
            </a:xfrm>
            <a:custGeom>
              <a:avLst/>
              <a:gdLst/>
              <a:ahLst/>
              <a:cxnLst/>
              <a:rect l="l" t="t" r="r" b="b"/>
              <a:pathLst>
                <a:path w="553466" h="553466" extrusionOk="0">
                  <a:moveTo>
                    <a:pt x="0" y="107315"/>
                  </a:moveTo>
                  <a:cubicBezTo>
                    <a:pt x="0" y="48006"/>
                    <a:pt x="48006" y="0"/>
                    <a:pt x="107315" y="0"/>
                  </a:cubicBezTo>
                  <a:lnTo>
                    <a:pt x="446151" y="0"/>
                  </a:lnTo>
                  <a:lnTo>
                    <a:pt x="446151" y="6350"/>
                  </a:lnTo>
                  <a:lnTo>
                    <a:pt x="446151" y="0"/>
                  </a:lnTo>
                  <a:lnTo>
                    <a:pt x="446151" y="6350"/>
                  </a:lnTo>
                  <a:lnTo>
                    <a:pt x="446151" y="0"/>
                  </a:lnTo>
                  <a:cubicBezTo>
                    <a:pt x="505460" y="0"/>
                    <a:pt x="553466" y="48006"/>
                    <a:pt x="553466" y="107315"/>
                  </a:cubicBezTo>
                  <a:lnTo>
                    <a:pt x="547116" y="107315"/>
                  </a:lnTo>
                  <a:lnTo>
                    <a:pt x="553466" y="107315"/>
                  </a:lnTo>
                  <a:lnTo>
                    <a:pt x="553466" y="446151"/>
                  </a:lnTo>
                  <a:lnTo>
                    <a:pt x="547116" y="446151"/>
                  </a:lnTo>
                  <a:lnTo>
                    <a:pt x="553466" y="446151"/>
                  </a:lnTo>
                  <a:cubicBezTo>
                    <a:pt x="553466" y="505460"/>
                    <a:pt x="505460" y="553466"/>
                    <a:pt x="446151" y="553466"/>
                  </a:cubicBezTo>
                  <a:lnTo>
                    <a:pt x="446151" y="547116"/>
                  </a:lnTo>
                  <a:lnTo>
                    <a:pt x="446151" y="553466"/>
                  </a:lnTo>
                  <a:lnTo>
                    <a:pt x="107315" y="553466"/>
                  </a:lnTo>
                  <a:lnTo>
                    <a:pt x="107315" y="547116"/>
                  </a:lnTo>
                  <a:lnTo>
                    <a:pt x="107315" y="553466"/>
                  </a:lnTo>
                  <a:cubicBezTo>
                    <a:pt x="48006" y="553466"/>
                    <a:pt x="0" y="505333"/>
                    <a:pt x="0" y="446151"/>
                  </a:cubicBezTo>
                  <a:lnTo>
                    <a:pt x="0" y="107315"/>
                  </a:lnTo>
                  <a:lnTo>
                    <a:pt x="6350" y="107315"/>
                  </a:lnTo>
                  <a:lnTo>
                    <a:pt x="0" y="107315"/>
                  </a:lnTo>
                  <a:moveTo>
                    <a:pt x="12700" y="107315"/>
                  </a:moveTo>
                  <a:lnTo>
                    <a:pt x="12700" y="446151"/>
                  </a:lnTo>
                  <a:lnTo>
                    <a:pt x="6350" y="446151"/>
                  </a:lnTo>
                  <a:lnTo>
                    <a:pt x="12700" y="446151"/>
                  </a:lnTo>
                  <a:cubicBezTo>
                    <a:pt x="12700" y="498348"/>
                    <a:pt x="55118" y="540766"/>
                    <a:pt x="107315" y="540766"/>
                  </a:cubicBezTo>
                  <a:lnTo>
                    <a:pt x="446151" y="540766"/>
                  </a:lnTo>
                  <a:cubicBezTo>
                    <a:pt x="498348" y="540766"/>
                    <a:pt x="540766" y="498348"/>
                    <a:pt x="540766" y="446151"/>
                  </a:cubicBezTo>
                  <a:lnTo>
                    <a:pt x="540766" y="107315"/>
                  </a:lnTo>
                  <a:cubicBezTo>
                    <a:pt x="540766" y="55118"/>
                    <a:pt x="498348" y="12700"/>
                    <a:pt x="446151" y="12700"/>
                  </a:cubicBezTo>
                  <a:lnTo>
                    <a:pt x="107315" y="12700"/>
                  </a:lnTo>
                  <a:lnTo>
                    <a:pt x="107315" y="6350"/>
                  </a:lnTo>
                  <a:lnTo>
                    <a:pt x="107315" y="12700"/>
                  </a:lnTo>
                  <a:cubicBezTo>
                    <a:pt x="55118" y="12700"/>
                    <a:pt x="12700" y="55118"/>
                    <a:pt x="12700" y="107315"/>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59" name="Google Shape;359;p22"/>
          <p:cNvSpPr txBox="1"/>
          <p:nvPr/>
        </p:nvSpPr>
        <p:spPr>
          <a:xfrm>
            <a:off x="4695750" y="4184897"/>
            <a:ext cx="270421" cy="29988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125" b="1">
                <a:solidFill>
                  <a:srgbClr val="272525"/>
                </a:solidFill>
                <a:latin typeface="Inter"/>
                <a:ea typeface="Inter"/>
                <a:cs typeface="Inter"/>
                <a:sym typeface="Inter"/>
              </a:rPr>
              <a:t>1</a:t>
            </a:r>
            <a:endParaRPr/>
          </a:p>
        </p:txBody>
      </p:sp>
      <p:sp>
        <p:nvSpPr>
          <p:cNvPr id="360" name="Google Shape;360;p22"/>
          <p:cNvSpPr txBox="1"/>
          <p:nvPr/>
        </p:nvSpPr>
        <p:spPr>
          <a:xfrm>
            <a:off x="3661022" y="1410295"/>
            <a:ext cx="2340174" cy="336631"/>
          </a:xfrm>
          <a:prstGeom prst="rect">
            <a:avLst/>
          </a:prstGeom>
          <a:noFill/>
          <a:ln>
            <a:noFill/>
          </a:ln>
        </p:spPr>
        <p:txBody>
          <a:bodyPr spcFirstLastPara="1" wrap="square" lIns="0" tIns="0" rIns="0" bIns="0" anchor="t" anchorCtr="0">
            <a:spAutoFit/>
          </a:bodyPr>
          <a:lstStyle/>
          <a:p>
            <a:pPr marL="0" marR="0" lvl="0" indent="0" algn="ctr" rtl="0">
              <a:lnSpc>
                <a:spcPct val="124971"/>
              </a:lnSpc>
              <a:spcBef>
                <a:spcPts val="0"/>
              </a:spcBef>
              <a:spcAft>
                <a:spcPts val="0"/>
              </a:spcAft>
              <a:buNone/>
            </a:pPr>
            <a:r>
              <a:rPr lang="en-US" sz="1750" b="1" dirty="0">
                <a:solidFill>
                  <a:srgbClr val="272525"/>
                </a:solidFill>
                <a:latin typeface="Inter"/>
                <a:ea typeface="Inter"/>
                <a:cs typeface="Inter"/>
                <a:sym typeface="Inter"/>
              </a:rPr>
              <a:t>Phase 1:  </a:t>
            </a:r>
            <a:endParaRPr dirty="0"/>
          </a:p>
        </p:txBody>
      </p:sp>
      <p:sp>
        <p:nvSpPr>
          <p:cNvPr id="361" name="Google Shape;361;p22"/>
          <p:cNvSpPr txBox="1"/>
          <p:nvPr/>
        </p:nvSpPr>
        <p:spPr>
          <a:xfrm>
            <a:off x="811262" y="1752303"/>
            <a:ext cx="8039844" cy="345728"/>
          </a:xfrm>
          <a:prstGeom prst="rect">
            <a:avLst/>
          </a:prstGeom>
          <a:noFill/>
          <a:ln>
            <a:noFill/>
          </a:ln>
        </p:spPr>
        <p:txBody>
          <a:bodyPr spcFirstLastPara="1" wrap="square" lIns="0" tIns="0" rIns="0" bIns="0" anchor="t" anchorCtr="0">
            <a:spAutoFit/>
          </a:bodyPr>
          <a:lstStyle/>
          <a:p>
            <a:pPr marL="0" marR="0" lvl="0" indent="0" algn="ctr" rtl="0">
              <a:lnSpc>
                <a:spcPct val="163636"/>
              </a:lnSpc>
              <a:spcBef>
                <a:spcPts val="0"/>
              </a:spcBef>
              <a:spcAft>
                <a:spcPts val="0"/>
              </a:spcAft>
              <a:buNone/>
            </a:pPr>
            <a:r>
              <a:rPr lang="en-US" sz="1375" b="1">
                <a:solidFill>
                  <a:srgbClr val="272525"/>
                </a:solidFill>
                <a:latin typeface="Inter"/>
                <a:ea typeface="Inter"/>
                <a:cs typeface="Inter"/>
                <a:sym typeface="Inter"/>
              </a:rPr>
              <a:t>Focus:</a:t>
            </a:r>
            <a:r>
              <a:rPr lang="en-US" sz="1375">
                <a:solidFill>
                  <a:srgbClr val="272525"/>
                </a:solidFill>
                <a:latin typeface="Inter"/>
                <a:ea typeface="Inter"/>
                <a:cs typeface="Inter"/>
                <a:sym typeface="Inter"/>
              </a:rPr>
              <a:t> Document Processing</a:t>
            </a:r>
            <a:endParaRPr/>
          </a:p>
        </p:txBody>
      </p:sp>
      <p:sp>
        <p:nvSpPr>
          <p:cNvPr id="362" name="Google Shape;362;p22"/>
          <p:cNvSpPr txBox="1"/>
          <p:nvPr/>
        </p:nvSpPr>
        <p:spPr>
          <a:xfrm>
            <a:off x="811262" y="2148929"/>
            <a:ext cx="8039844" cy="345728"/>
          </a:xfrm>
          <a:prstGeom prst="rect">
            <a:avLst/>
          </a:prstGeom>
          <a:noFill/>
          <a:ln>
            <a:noFill/>
          </a:ln>
        </p:spPr>
        <p:txBody>
          <a:bodyPr spcFirstLastPara="1" wrap="square" lIns="0" tIns="0" rIns="0" bIns="0" anchor="t" anchorCtr="0">
            <a:spAutoFit/>
          </a:bodyPr>
          <a:lstStyle/>
          <a:p>
            <a:pPr marL="207367" marR="0" lvl="1" indent="-103683" algn="l" rtl="0">
              <a:lnSpc>
                <a:spcPct val="163636"/>
              </a:lnSpc>
              <a:spcBef>
                <a:spcPts val="0"/>
              </a:spcBef>
              <a:spcAft>
                <a:spcPts val="0"/>
              </a:spcAft>
              <a:buClr>
                <a:srgbClr val="272525"/>
              </a:buClr>
              <a:buSzPts val="1375"/>
              <a:buFont typeface="Arial"/>
              <a:buChar char="•"/>
            </a:pPr>
            <a:r>
              <a:rPr lang="en-US" sz="1375" b="0" i="0" u="none" strike="noStrike" cap="none">
                <a:solidFill>
                  <a:srgbClr val="272525"/>
                </a:solidFill>
                <a:latin typeface="Inter"/>
                <a:ea typeface="Inter"/>
                <a:cs typeface="Inter"/>
                <a:sym typeface="Inter"/>
              </a:rPr>
              <a:t>RAG system for application review</a:t>
            </a:r>
            <a:endParaRPr/>
          </a:p>
        </p:txBody>
      </p:sp>
      <p:sp>
        <p:nvSpPr>
          <p:cNvPr id="363" name="Google Shape;363;p22"/>
          <p:cNvSpPr txBox="1"/>
          <p:nvPr/>
        </p:nvSpPr>
        <p:spPr>
          <a:xfrm>
            <a:off x="811262" y="2500610"/>
            <a:ext cx="8039844" cy="345727"/>
          </a:xfrm>
          <a:prstGeom prst="rect">
            <a:avLst/>
          </a:prstGeom>
          <a:noFill/>
          <a:ln>
            <a:noFill/>
          </a:ln>
        </p:spPr>
        <p:txBody>
          <a:bodyPr spcFirstLastPara="1" wrap="square" lIns="0" tIns="0" rIns="0" bIns="0" anchor="t" anchorCtr="0">
            <a:spAutoFit/>
          </a:bodyPr>
          <a:lstStyle/>
          <a:p>
            <a:pPr marL="207367" marR="0" lvl="1" indent="-103683" algn="l" rtl="0">
              <a:lnSpc>
                <a:spcPct val="163636"/>
              </a:lnSpc>
              <a:spcBef>
                <a:spcPts val="0"/>
              </a:spcBef>
              <a:spcAft>
                <a:spcPts val="0"/>
              </a:spcAft>
              <a:buClr>
                <a:srgbClr val="272525"/>
              </a:buClr>
              <a:buSzPts val="1375"/>
              <a:buFont typeface="Arial"/>
              <a:buChar char="•"/>
            </a:pPr>
            <a:r>
              <a:rPr lang="en-US" sz="1375" b="0" i="0" u="none" strike="noStrike" cap="none">
                <a:solidFill>
                  <a:srgbClr val="272525"/>
                </a:solidFill>
                <a:latin typeface="Inter"/>
                <a:ea typeface="Inter"/>
                <a:cs typeface="Inter"/>
                <a:sym typeface="Inter"/>
              </a:rPr>
              <a:t>LLM-powered compliance checker</a:t>
            </a:r>
            <a:endParaRPr/>
          </a:p>
        </p:txBody>
      </p:sp>
      <p:sp>
        <p:nvSpPr>
          <p:cNvPr id="364" name="Google Shape;364;p22"/>
          <p:cNvSpPr txBox="1"/>
          <p:nvPr/>
        </p:nvSpPr>
        <p:spPr>
          <a:xfrm>
            <a:off x="811262" y="2852291"/>
            <a:ext cx="8039844" cy="345727"/>
          </a:xfrm>
          <a:prstGeom prst="rect">
            <a:avLst/>
          </a:prstGeom>
          <a:noFill/>
          <a:ln>
            <a:noFill/>
          </a:ln>
        </p:spPr>
        <p:txBody>
          <a:bodyPr spcFirstLastPara="1" wrap="square" lIns="0" tIns="0" rIns="0" bIns="0" anchor="t" anchorCtr="0">
            <a:spAutoFit/>
          </a:bodyPr>
          <a:lstStyle/>
          <a:p>
            <a:pPr marL="207367" marR="0" lvl="1" indent="-103683" algn="l" rtl="0">
              <a:lnSpc>
                <a:spcPct val="163636"/>
              </a:lnSpc>
              <a:spcBef>
                <a:spcPts val="0"/>
              </a:spcBef>
              <a:spcAft>
                <a:spcPts val="0"/>
              </a:spcAft>
              <a:buClr>
                <a:srgbClr val="272525"/>
              </a:buClr>
              <a:buSzPts val="1375"/>
              <a:buFont typeface="Arial"/>
              <a:buChar char="•"/>
            </a:pPr>
            <a:r>
              <a:rPr lang="en-US" sz="1375" b="0" i="0" u="none" strike="noStrike" cap="none">
                <a:solidFill>
                  <a:srgbClr val="272525"/>
                </a:solidFill>
                <a:latin typeface="Inter"/>
                <a:ea typeface="Inter"/>
                <a:cs typeface="Inter"/>
                <a:sym typeface="Inter"/>
              </a:rPr>
              <a:t>Automated reporting pipeline</a:t>
            </a:r>
            <a:endParaRPr/>
          </a:p>
        </p:txBody>
      </p:sp>
      <p:sp>
        <p:nvSpPr>
          <p:cNvPr id="365" name="Google Shape;365;p22"/>
          <p:cNvSpPr txBox="1"/>
          <p:nvPr/>
        </p:nvSpPr>
        <p:spPr>
          <a:xfrm>
            <a:off x="811262" y="3248918"/>
            <a:ext cx="8039844" cy="345727"/>
          </a:xfrm>
          <a:prstGeom prst="rect">
            <a:avLst/>
          </a:prstGeom>
          <a:noFill/>
          <a:ln>
            <a:noFill/>
          </a:ln>
        </p:spPr>
        <p:txBody>
          <a:bodyPr spcFirstLastPara="1" wrap="square" lIns="0" tIns="0" rIns="0" bIns="0" anchor="t" anchorCtr="0">
            <a:spAutoFit/>
          </a:bodyPr>
          <a:lstStyle/>
          <a:p>
            <a:pPr marL="0" marR="0" lvl="0" indent="0" algn="ctr" rtl="0">
              <a:lnSpc>
                <a:spcPct val="163636"/>
              </a:lnSpc>
              <a:spcBef>
                <a:spcPts val="0"/>
              </a:spcBef>
              <a:spcAft>
                <a:spcPts val="0"/>
              </a:spcAft>
              <a:buNone/>
            </a:pPr>
            <a:r>
              <a:rPr lang="en-US" sz="1375" b="1">
                <a:solidFill>
                  <a:srgbClr val="272525"/>
                </a:solidFill>
                <a:latin typeface="Inter"/>
                <a:ea typeface="Inter"/>
                <a:cs typeface="Inter"/>
                <a:sym typeface="Inter"/>
              </a:rPr>
              <a:t>Outcome:</a:t>
            </a:r>
            <a:r>
              <a:rPr lang="en-US" sz="1375">
                <a:solidFill>
                  <a:srgbClr val="272525"/>
                </a:solidFill>
                <a:latin typeface="Inter"/>
                <a:ea typeface="Inter"/>
                <a:cs typeface="Inter"/>
                <a:sym typeface="Inter"/>
              </a:rPr>
              <a:t> 70% faster initial review</a:t>
            </a:r>
            <a:endParaRPr/>
          </a:p>
        </p:txBody>
      </p:sp>
      <p:sp>
        <p:nvSpPr>
          <p:cNvPr id="366" name="Google Shape;366;p22"/>
          <p:cNvSpPr/>
          <p:nvPr/>
        </p:nvSpPr>
        <p:spPr>
          <a:xfrm>
            <a:off x="9134178" y="4315792"/>
            <a:ext cx="19050" cy="540829"/>
          </a:xfrm>
          <a:custGeom>
            <a:avLst/>
            <a:gdLst/>
            <a:ahLst/>
            <a:cxnLst/>
            <a:rect l="l" t="t" r="r" b="b"/>
            <a:pathLst>
              <a:path w="25400" h="721106" extrusionOk="0">
                <a:moveTo>
                  <a:pt x="0" y="12700"/>
                </a:moveTo>
                <a:cubicBezTo>
                  <a:pt x="0" y="5715"/>
                  <a:pt x="5715" y="0"/>
                  <a:pt x="12700" y="0"/>
                </a:cubicBezTo>
                <a:cubicBezTo>
                  <a:pt x="19685" y="0"/>
                  <a:pt x="25400" y="5715"/>
                  <a:pt x="25400" y="12700"/>
                </a:cubicBezTo>
                <a:lnTo>
                  <a:pt x="25400" y="708406"/>
                </a:lnTo>
                <a:cubicBezTo>
                  <a:pt x="25400" y="715391"/>
                  <a:pt x="19685" y="721106"/>
                  <a:pt x="12700" y="721106"/>
                </a:cubicBezTo>
                <a:cubicBezTo>
                  <a:pt x="5715" y="721106"/>
                  <a:pt x="0" y="715391"/>
                  <a:pt x="0" y="708406"/>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67" name="Google Shape;367;p22"/>
          <p:cNvGrpSpPr/>
          <p:nvPr/>
        </p:nvGrpSpPr>
        <p:grpSpPr>
          <a:xfrm>
            <a:off x="8936236" y="4108326"/>
            <a:ext cx="415099" cy="415099"/>
            <a:chOff x="0" y="0"/>
            <a:chExt cx="553466" cy="553466"/>
          </a:xfrm>
        </p:grpSpPr>
        <p:sp>
          <p:nvSpPr>
            <p:cNvPr id="368" name="Google Shape;368;p22"/>
            <p:cNvSpPr/>
            <p:nvPr/>
          </p:nvSpPr>
          <p:spPr>
            <a:xfrm>
              <a:off x="6350" y="6350"/>
              <a:ext cx="540766" cy="540766"/>
            </a:xfrm>
            <a:custGeom>
              <a:avLst/>
              <a:gdLst/>
              <a:ahLst/>
              <a:cxnLst/>
              <a:rect l="l" t="t" r="r" b="b"/>
              <a:pathLst>
                <a:path w="540766" h="540766" extrusionOk="0">
                  <a:moveTo>
                    <a:pt x="0" y="100965"/>
                  </a:moveTo>
                  <a:cubicBezTo>
                    <a:pt x="0" y="45212"/>
                    <a:pt x="45212" y="0"/>
                    <a:pt x="100965" y="0"/>
                  </a:cubicBezTo>
                  <a:lnTo>
                    <a:pt x="439801" y="0"/>
                  </a:lnTo>
                  <a:cubicBezTo>
                    <a:pt x="495554" y="0"/>
                    <a:pt x="540766" y="45212"/>
                    <a:pt x="540766" y="100965"/>
                  </a:cubicBezTo>
                  <a:lnTo>
                    <a:pt x="540766" y="439801"/>
                  </a:lnTo>
                  <a:cubicBezTo>
                    <a:pt x="540766" y="495554"/>
                    <a:pt x="495554" y="540766"/>
                    <a:pt x="439801" y="540766"/>
                  </a:cubicBezTo>
                  <a:lnTo>
                    <a:pt x="100965" y="540766"/>
                  </a:lnTo>
                  <a:cubicBezTo>
                    <a:pt x="45212" y="540766"/>
                    <a:pt x="0" y="495554"/>
                    <a:pt x="0" y="439801"/>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9" name="Google Shape;369;p22"/>
            <p:cNvSpPr/>
            <p:nvPr/>
          </p:nvSpPr>
          <p:spPr>
            <a:xfrm>
              <a:off x="0" y="0"/>
              <a:ext cx="553466" cy="553466"/>
            </a:xfrm>
            <a:custGeom>
              <a:avLst/>
              <a:gdLst/>
              <a:ahLst/>
              <a:cxnLst/>
              <a:rect l="l" t="t" r="r" b="b"/>
              <a:pathLst>
                <a:path w="553466" h="553466" extrusionOk="0">
                  <a:moveTo>
                    <a:pt x="0" y="107315"/>
                  </a:moveTo>
                  <a:cubicBezTo>
                    <a:pt x="0" y="48006"/>
                    <a:pt x="48006" y="0"/>
                    <a:pt x="107315" y="0"/>
                  </a:cubicBezTo>
                  <a:lnTo>
                    <a:pt x="446151" y="0"/>
                  </a:lnTo>
                  <a:lnTo>
                    <a:pt x="446151" y="6350"/>
                  </a:lnTo>
                  <a:lnTo>
                    <a:pt x="446151" y="0"/>
                  </a:lnTo>
                  <a:lnTo>
                    <a:pt x="446151" y="6350"/>
                  </a:lnTo>
                  <a:lnTo>
                    <a:pt x="446151" y="0"/>
                  </a:lnTo>
                  <a:cubicBezTo>
                    <a:pt x="505460" y="0"/>
                    <a:pt x="553466" y="48006"/>
                    <a:pt x="553466" y="107315"/>
                  </a:cubicBezTo>
                  <a:lnTo>
                    <a:pt x="547116" y="107315"/>
                  </a:lnTo>
                  <a:lnTo>
                    <a:pt x="553466" y="107315"/>
                  </a:lnTo>
                  <a:lnTo>
                    <a:pt x="553466" y="446151"/>
                  </a:lnTo>
                  <a:lnTo>
                    <a:pt x="547116" y="446151"/>
                  </a:lnTo>
                  <a:lnTo>
                    <a:pt x="553466" y="446151"/>
                  </a:lnTo>
                  <a:cubicBezTo>
                    <a:pt x="553466" y="505460"/>
                    <a:pt x="505460" y="553466"/>
                    <a:pt x="446151" y="553466"/>
                  </a:cubicBezTo>
                  <a:lnTo>
                    <a:pt x="446151" y="547116"/>
                  </a:lnTo>
                  <a:lnTo>
                    <a:pt x="446151" y="553466"/>
                  </a:lnTo>
                  <a:lnTo>
                    <a:pt x="107315" y="553466"/>
                  </a:lnTo>
                  <a:lnTo>
                    <a:pt x="107315" y="547116"/>
                  </a:lnTo>
                  <a:lnTo>
                    <a:pt x="107315" y="553466"/>
                  </a:lnTo>
                  <a:cubicBezTo>
                    <a:pt x="48006" y="553466"/>
                    <a:pt x="0" y="505333"/>
                    <a:pt x="0" y="446151"/>
                  </a:cubicBezTo>
                  <a:lnTo>
                    <a:pt x="0" y="107315"/>
                  </a:lnTo>
                  <a:lnTo>
                    <a:pt x="6350" y="107315"/>
                  </a:lnTo>
                  <a:lnTo>
                    <a:pt x="0" y="107315"/>
                  </a:lnTo>
                  <a:moveTo>
                    <a:pt x="12700" y="107315"/>
                  </a:moveTo>
                  <a:lnTo>
                    <a:pt x="12700" y="446151"/>
                  </a:lnTo>
                  <a:lnTo>
                    <a:pt x="6350" y="446151"/>
                  </a:lnTo>
                  <a:lnTo>
                    <a:pt x="12700" y="446151"/>
                  </a:lnTo>
                  <a:cubicBezTo>
                    <a:pt x="12700" y="498348"/>
                    <a:pt x="55118" y="540766"/>
                    <a:pt x="107315" y="540766"/>
                  </a:cubicBezTo>
                  <a:lnTo>
                    <a:pt x="446151" y="540766"/>
                  </a:lnTo>
                  <a:cubicBezTo>
                    <a:pt x="498348" y="540766"/>
                    <a:pt x="540766" y="498348"/>
                    <a:pt x="540766" y="446151"/>
                  </a:cubicBezTo>
                  <a:lnTo>
                    <a:pt x="540766" y="107315"/>
                  </a:lnTo>
                  <a:cubicBezTo>
                    <a:pt x="540766" y="55118"/>
                    <a:pt x="498348" y="12700"/>
                    <a:pt x="446151" y="12700"/>
                  </a:cubicBezTo>
                  <a:lnTo>
                    <a:pt x="107315" y="12700"/>
                  </a:lnTo>
                  <a:lnTo>
                    <a:pt x="107315" y="6350"/>
                  </a:lnTo>
                  <a:lnTo>
                    <a:pt x="107315" y="12700"/>
                  </a:lnTo>
                  <a:cubicBezTo>
                    <a:pt x="55118" y="12700"/>
                    <a:pt x="12700" y="55118"/>
                    <a:pt x="12700" y="107315"/>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70" name="Google Shape;370;p22"/>
          <p:cNvSpPr txBox="1"/>
          <p:nvPr/>
        </p:nvSpPr>
        <p:spPr>
          <a:xfrm>
            <a:off x="9008492" y="4184897"/>
            <a:ext cx="270421" cy="29988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125" b="1">
                <a:solidFill>
                  <a:srgbClr val="272525"/>
                </a:solidFill>
                <a:latin typeface="Inter"/>
                <a:ea typeface="Inter"/>
                <a:cs typeface="Inter"/>
                <a:sym typeface="Inter"/>
              </a:rPr>
              <a:t>2</a:t>
            </a:r>
            <a:endParaRPr/>
          </a:p>
        </p:txBody>
      </p:sp>
      <p:sp>
        <p:nvSpPr>
          <p:cNvPr id="371" name="Google Shape;371;p22"/>
          <p:cNvSpPr txBox="1"/>
          <p:nvPr/>
        </p:nvSpPr>
        <p:spPr>
          <a:xfrm>
            <a:off x="7905452" y="5027562"/>
            <a:ext cx="2476798" cy="336631"/>
          </a:xfrm>
          <a:prstGeom prst="rect">
            <a:avLst/>
          </a:prstGeom>
          <a:noFill/>
          <a:ln>
            <a:noFill/>
          </a:ln>
        </p:spPr>
        <p:txBody>
          <a:bodyPr spcFirstLastPara="1" wrap="square" lIns="0" tIns="0" rIns="0" bIns="0" anchor="t" anchorCtr="0">
            <a:spAutoFit/>
          </a:bodyPr>
          <a:lstStyle/>
          <a:p>
            <a:pPr marL="0" marR="0" lvl="0" indent="0" algn="ctr" rtl="0">
              <a:lnSpc>
                <a:spcPct val="124971"/>
              </a:lnSpc>
              <a:spcBef>
                <a:spcPts val="0"/>
              </a:spcBef>
              <a:spcAft>
                <a:spcPts val="0"/>
              </a:spcAft>
              <a:buNone/>
            </a:pPr>
            <a:r>
              <a:rPr lang="en-US" sz="1750" b="1" dirty="0">
                <a:solidFill>
                  <a:srgbClr val="272525"/>
                </a:solidFill>
                <a:latin typeface="Inter"/>
                <a:ea typeface="Inter"/>
                <a:cs typeface="Inter"/>
                <a:sym typeface="Inter"/>
              </a:rPr>
              <a:t>Phase 2:  </a:t>
            </a:r>
            <a:endParaRPr dirty="0"/>
          </a:p>
        </p:txBody>
      </p:sp>
      <p:sp>
        <p:nvSpPr>
          <p:cNvPr id="372" name="Google Shape;372;p22"/>
          <p:cNvSpPr txBox="1"/>
          <p:nvPr/>
        </p:nvSpPr>
        <p:spPr>
          <a:xfrm>
            <a:off x="5124004" y="5369570"/>
            <a:ext cx="8039844" cy="345727"/>
          </a:xfrm>
          <a:prstGeom prst="rect">
            <a:avLst/>
          </a:prstGeom>
          <a:noFill/>
          <a:ln>
            <a:noFill/>
          </a:ln>
        </p:spPr>
        <p:txBody>
          <a:bodyPr spcFirstLastPara="1" wrap="square" lIns="0" tIns="0" rIns="0" bIns="0" anchor="t" anchorCtr="0">
            <a:spAutoFit/>
          </a:bodyPr>
          <a:lstStyle/>
          <a:p>
            <a:pPr marL="0" marR="0" lvl="0" indent="0" algn="ctr" rtl="0">
              <a:lnSpc>
                <a:spcPct val="163636"/>
              </a:lnSpc>
              <a:spcBef>
                <a:spcPts val="0"/>
              </a:spcBef>
              <a:spcAft>
                <a:spcPts val="0"/>
              </a:spcAft>
              <a:buNone/>
            </a:pPr>
            <a:r>
              <a:rPr lang="en-US" sz="1375" b="1">
                <a:solidFill>
                  <a:srgbClr val="272525"/>
                </a:solidFill>
                <a:latin typeface="Inter"/>
                <a:ea typeface="Inter"/>
                <a:cs typeface="Inter"/>
                <a:sym typeface="Inter"/>
              </a:rPr>
              <a:t>Focus:</a:t>
            </a:r>
            <a:r>
              <a:rPr lang="en-US" sz="1375">
                <a:solidFill>
                  <a:srgbClr val="272525"/>
                </a:solidFill>
                <a:latin typeface="Inter"/>
                <a:ea typeface="Inter"/>
                <a:cs typeface="Inter"/>
                <a:sym typeface="Inter"/>
              </a:rPr>
              <a:t> Technical Studies Automation</a:t>
            </a:r>
            <a:endParaRPr/>
          </a:p>
        </p:txBody>
      </p:sp>
      <p:sp>
        <p:nvSpPr>
          <p:cNvPr id="373" name="Google Shape;373;p22"/>
          <p:cNvSpPr txBox="1"/>
          <p:nvPr/>
        </p:nvSpPr>
        <p:spPr>
          <a:xfrm>
            <a:off x="5124004" y="5766198"/>
            <a:ext cx="8039844" cy="345727"/>
          </a:xfrm>
          <a:prstGeom prst="rect">
            <a:avLst/>
          </a:prstGeom>
          <a:noFill/>
          <a:ln>
            <a:noFill/>
          </a:ln>
        </p:spPr>
        <p:txBody>
          <a:bodyPr spcFirstLastPara="1" wrap="square" lIns="0" tIns="0" rIns="0" bIns="0" anchor="t" anchorCtr="0">
            <a:spAutoFit/>
          </a:bodyPr>
          <a:lstStyle/>
          <a:p>
            <a:pPr marL="207367" marR="0" lvl="1" indent="-103683" algn="l" rtl="0">
              <a:lnSpc>
                <a:spcPct val="163636"/>
              </a:lnSpc>
              <a:spcBef>
                <a:spcPts val="0"/>
              </a:spcBef>
              <a:spcAft>
                <a:spcPts val="0"/>
              </a:spcAft>
              <a:buClr>
                <a:srgbClr val="272525"/>
              </a:buClr>
              <a:buSzPts val="1375"/>
              <a:buFont typeface="Arial"/>
              <a:buChar char="•"/>
            </a:pPr>
            <a:r>
              <a:rPr lang="en-US" sz="1375" b="0" i="0" u="none" strike="noStrike" cap="none">
                <a:solidFill>
                  <a:srgbClr val="272525"/>
                </a:solidFill>
                <a:latin typeface="Inter"/>
                <a:ea typeface="Inter"/>
                <a:cs typeface="Inter"/>
                <a:sym typeface="Inter"/>
              </a:rPr>
              <a:t>Multi-agent study system</a:t>
            </a:r>
            <a:endParaRPr/>
          </a:p>
        </p:txBody>
      </p:sp>
      <p:sp>
        <p:nvSpPr>
          <p:cNvPr id="374" name="Google Shape;374;p22"/>
          <p:cNvSpPr txBox="1"/>
          <p:nvPr/>
        </p:nvSpPr>
        <p:spPr>
          <a:xfrm>
            <a:off x="5124004" y="6117877"/>
            <a:ext cx="8039844" cy="345727"/>
          </a:xfrm>
          <a:prstGeom prst="rect">
            <a:avLst/>
          </a:prstGeom>
          <a:noFill/>
          <a:ln>
            <a:noFill/>
          </a:ln>
        </p:spPr>
        <p:txBody>
          <a:bodyPr spcFirstLastPara="1" wrap="square" lIns="0" tIns="0" rIns="0" bIns="0" anchor="t" anchorCtr="0">
            <a:spAutoFit/>
          </a:bodyPr>
          <a:lstStyle/>
          <a:p>
            <a:pPr marL="207367" marR="0" lvl="1" indent="-103683" algn="l" rtl="0">
              <a:lnSpc>
                <a:spcPct val="163636"/>
              </a:lnSpc>
              <a:spcBef>
                <a:spcPts val="0"/>
              </a:spcBef>
              <a:spcAft>
                <a:spcPts val="0"/>
              </a:spcAft>
              <a:buClr>
                <a:srgbClr val="272525"/>
              </a:buClr>
              <a:buSzPts val="1375"/>
              <a:buFont typeface="Arial"/>
              <a:buChar char="•"/>
            </a:pPr>
            <a:r>
              <a:rPr lang="en-US" sz="1375" b="0" i="0" u="none" strike="noStrike" cap="none">
                <a:solidFill>
                  <a:srgbClr val="272525"/>
                </a:solidFill>
                <a:latin typeface="Inter"/>
                <a:ea typeface="Inter"/>
                <a:cs typeface="Inter"/>
                <a:sym typeface="Inter"/>
              </a:rPr>
              <a:t>ML models for impact analysis</a:t>
            </a:r>
            <a:endParaRPr/>
          </a:p>
        </p:txBody>
      </p:sp>
      <p:sp>
        <p:nvSpPr>
          <p:cNvPr id="375" name="Google Shape;375;p22"/>
          <p:cNvSpPr txBox="1"/>
          <p:nvPr/>
        </p:nvSpPr>
        <p:spPr>
          <a:xfrm>
            <a:off x="5124004" y="6469559"/>
            <a:ext cx="8039844" cy="345727"/>
          </a:xfrm>
          <a:prstGeom prst="rect">
            <a:avLst/>
          </a:prstGeom>
          <a:noFill/>
          <a:ln>
            <a:noFill/>
          </a:ln>
        </p:spPr>
        <p:txBody>
          <a:bodyPr spcFirstLastPara="1" wrap="square" lIns="0" tIns="0" rIns="0" bIns="0" anchor="t" anchorCtr="0">
            <a:spAutoFit/>
          </a:bodyPr>
          <a:lstStyle/>
          <a:p>
            <a:pPr marL="207367" marR="0" lvl="1" indent="-103683" algn="l" rtl="0">
              <a:lnSpc>
                <a:spcPct val="163636"/>
              </a:lnSpc>
              <a:spcBef>
                <a:spcPts val="0"/>
              </a:spcBef>
              <a:spcAft>
                <a:spcPts val="0"/>
              </a:spcAft>
              <a:buClr>
                <a:srgbClr val="272525"/>
              </a:buClr>
              <a:buSzPts val="1375"/>
              <a:buFont typeface="Arial"/>
              <a:buChar char="•"/>
            </a:pPr>
            <a:r>
              <a:rPr lang="en-US" sz="1375" b="0" i="0" u="none" strike="noStrike" cap="none">
                <a:solidFill>
                  <a:srgbClr val="272525"/>
                </a:solidFill>
                <a:latin typeface="Inter"/>
                <a:ea typeface="Inter"/>
                <a:cs typeface="Inter"/>
                <a:sym typeface="Inter"/>
              </a:rPr>
              <a:t>Scenario generation engine</a:t>
            </a:r>
            <a:endParaRPr/>
          </a:p>
        </p:txBody>
      </p:sp>
      <p:sp>
        <p:nvSpPr>
          <p:cNvPr id="376" name="Google Shape;376;p22"/>
          <p:cNvSpPr txBox="1"/>
          <p:nvPr/>
        </p:nvSpPr>
        <p:spPr>
          <a:xfrm>
            <a:off x="5124004" y="6866185"/>
            <a:ext cx="8039844" cy="345727"/>
          </a:xfrm>
          <a:prstGeom prst="rect">
            <a:avLst/>
          </a:prstGeom>
          <a:noFill/>
          <a:ln>
            <a:noFill/>
          </a:ln>
        </p:spPr>
        <p:txBody>
          <a:bodyPr spcFirstLastPara="1" wrap="square" lIns="0" tIns="0" rIns="0" bIns="0" anchor="t" anchorCtr="0">
            <a:spAutoFit/>
          </a:bodyPr>
          <a:lstStyle/>
          <a:p>
            <a:pPr marL="0" marR="0" lvl="0" indent="0" algn="ctr" rtl="0">
              <a:lnSpc>
                <a:spcPct val="163636"/>
              </a:lnSpc>
              <a:spcBef>
                <a:spcPts val="0"/>
              </a:spcBef>
              <a:spcAft>
                <a:spcPts val="0"/>
              </a:spcAft>
              <a:buNone/>
            </a:pPr>
            <a:r>
              <a:rPr lang="en-US" sz="1375" b="1">
                <a:solidFill>
                  <a:srgbClr val="272525"/>
                </a:solidFill>
                <a:latin typeface="Inter"/>
                <a:ea typeface="Inter"/>
                <a:cs typeface="Inter"/>
                <a:sym typeface="Inter"/>
              </a:rPr>
              <a:t>Outcome:</a:t>
            </a:r>
            <a:r>
              <a:rPr lang="en-US" sz="1375">
                <a:solidFill>
                  <a:srgbClr val="272525"/>
                </a:solidFill>
                <a:latin typeface="Inter"/>
                <a:ea typeface="Inter"/>
                <a:cs typeface="Inter"/>
                <a:sym typeface="Inter"/>
              </a:rPr>
              <a:t> 60% reduction in study time</a:t>
            </a:r>
            <a:endParaRPr/>
          </a:p>
        </p:txBody>
      </p:sp>
      <p:sp>
        <p:nvSpPr>
          <p:cNvPr id="377" name="Google Shape;377;p22"/>
          <p:cNvSpPr/>
          <p:nvPr/>
        </p:nvSpPr>
        <p:spPr>
          <a:xfrm>
            <a:off x="13447067" y="3775100"/>
            <a:ext cx="19050" cy="540829"/>
          </a:xfrm>
          <a:custGeom>
            <a:avLst/>
            <a:gdLst/>
            <a:ahLst/>
            <a:cxnLst/>
            <a:rect l="l" t="t" r="r" b="b"/>
            <a:pathLst>
              <a:path w="25400" h="721106" extrusionOk="0">
                <a:moveTo>
                  <a:pt x="0" y="12700"/>
                </a:moveTo>
                <a:cubicBezTo>
                  <a:pt x="0" y="5715"/>
                  <a:pt x="5715" y="0"/>
                  <a:pt x="12700" y="0"/>
                </a:cubicBezTo>
                <a:cubicBezTo>
                  <a:pt x="19685" y="0"/>
                  <a:pt x="25400" y="5715"/>
                  <a:pt x="25400" y="12700"/>
                </a:cubicBezTo>
                <a:lnTo>
                  <a:pt x="25400" y="708406"/>
                </a:lnTo>
                <a:cubicBezTo>
                  <a:pt x="25400" y="715391"/>
                  <a:pt x="19685" y="721106"/>
                  <a:pt x="12700" y="721106"/>
                </a:cubicBezTo>
                <a:cubicBezTo>
                  <a:pt x="5715" y="721106"/>
                  <a:pt x="0" y="715391"/>
                  <a:pt x="0" y="708406"/>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78" name="Google Shape;378;p22"/>
          <p:cNvGrpSpPr/>
          <p:nvPr/>
        </p:nvGrpSpPr>
        <p:grpSpPr>
          <a:xfrm>
            <a:off x="13249126" y="4108326"/>
            <a:ext cx="415099" cy="415099"/>
            <a:chOff x="0" y="0"/>
            <a:chExt cx="553466" cy="553466"/>
          </a:xfrm>
        </p:grpSpPr>
        <p:sp>
          <p:nvSpPr>
            <p:cNvPr id="379" name="Google Shape;379;p22"/>
            <p:cNvSpPr/>
            <p:nvPr/>
          </p:nvSpPr>
          <p:spPr>
            <a:xfrm>
              <a:off x="6350" y="6350"/>
              <a:ext cx="540766" cy="540766"/>
            </a:xfrm>
            <a:custGeom>
              <a:avLst/>
              <a:gdLst/>
              <a:ahLst/>
              <a:cxnLst/>
              <a:rect l="l" t="t" r="r" b="b"/>
              <a:pathLst>
                <a:path w="540766" h="540766" extrusionOk="0">
                  <a:moveTo>
                    <a:pt x="0" y="100965"/>
                  </a:moveTo>
                  <a:cubicBezTo>
                    <a:pt x="0" y="45212"/>
                    <a:pt x="45212" y="0"/>
                    <a:pt x="100965" y="0"/>
                  </a:cubicBezTo>
                  <a:lnTo>
                    <a:pt x="439801" y="0"/>
                  </a:lnTo>
                  <a:cubicBezTo>
                    <a:pt x="495554" y="0"/>
                    <a:pt x="540766" y="45212"/>
                    <a:pt x="540766" y="100965"/>
                  </a:cubicBezTo>
                  <a:lnTo>
                    <a:pt x="540766" y="439801"/>
                  </a:lnTo>
                  <a:cubicBezTo>
                    <a:pt x="540766" y="495554"/>
                    <a:pt x="495554" y="540766"/>
                    <a:pt x="439801" y="540766"/>
                  </a:cubicBezTo>
                  <a:lnTo>
                    <a:pt x="100965" y="540766"/>
                  </a:lnTo>
                  <a:cubicBezTo>
                    <a:pt x="45212" y="540766"/>
                    <a:pt x="0" y="495554"/>
                    <a:pt x="0" y="439801"/>
                  </a:cubicBezTo>
                  <a:close/>
                </a:path>
              </a:pathLst>
            </a:custGeom>
            <a:solidFill>
              <a:srgbClr val="DADB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0" name="Google Shape;380;p22"/>
            <p:cNvSpPr/>
            <p:nvPr/>
          </p:nvSpPr>
          <p:spPr>
            <a:xfrm>
              <a:off x="0" y="0"/>
              <a:ext cx="553466" cy="553466"/>
            </a:xfrm>
            <a:custGeom>
              <a:avLst/>
              <a:gdLst/>
              <a:ahLst/>
              <a:cxnLst/>
              <a:rect l="l" t="t" r="r" b="b"/>
              <a:pathLst>
                <a:path w="553466" h="553466" extrusionOk="0">
                  <a:moveTo>
                    <a:pt x="0" y="107315"/>
                  </a:moveTo>
                  <a:cubicBezTo>
                    <a:pt x="0" y="48006"/>
                    <a:pt x="48006" y="0"/>
                    <a:pt x="107315" y="0"/>
                  </a:cubicBezTo>
                  <a:lnTo>
                    <a:pt x="446151" y="0"/>
                  </a:lnTo>
                  <a:lnTo>
                    <a:pt x="446151" y="6350"/>
                  </a:lnTo>
                  <a:lnTo>
                    <a:pt x="446151" y="0"/>
                  </a:lnTo>
                  <a:lnTo>
                    <a:pt x="446151" y="6350"/>
                  </a:lnTo>
                  <a:lnTo>
                    <a:pt x="446151" y="0"/>
                  </a:lnTo>
                  <a:cubicBezTo>
                    <a:pt x="505460" y="0"/>
                    <a:pt x="553466" y="48006"/>
                    <a:pt x="553466" y="107315"/>
                  </a:cubicBezTo>
                  <a:lnTo>
                    <a:pt x="547116" y="107315"/>
                  </a:lnTo>
                  <a:lnTo>
                    <a:pt x="553466" y="107315"/>
                  </a:lnTo>
                  <a:lnTo>
                    <a:pt x="553466" y="446151"/>
                  </a:lnTo>
                  <a:lnTo>
                    <a:pt x="547116" y="446151"/>
                  </a:lnTo>
                  <a:lnTo>
                    <a:pt x="553466" y="446151"/>
                  </a:lnTo>
                  <a:cubicBezTo>
                    <a:pt x="553466" y="505460"/>
                    <a:pt x="505460" y="553466"/>
                    <a:pt x="446151" y="553466"/>
                  </a:cubicBezTo>
                  <a:lnTo>
                    <a:pt x="446151" y="547116"/>
                  </a:lnTo>
                  <a:lnTo>
                    <a:pt x="446151" y="553466"/>
                  </a:lnTo>
                  <a:lnTo>
                    <a:pt x="107315" y="553466"/>
                  </a:lnTo>
                  <a:lnTo>
                    <a:pt x="107315" y="547116"/>
                  </a:lnTo>
                  <a:lnTo>
                    <a:pt x="107315" y="553466"/>
                  </a:lnTo>
                  <a:cubicBezTo>
                    <a:pt x="48006" y="553466"/>
                    <a:pt x="0" y="505333"/>
                    <a:pt x="0" y="446151"/>
                  </a:cubicBezTo>
                  <a:lnTo>
                    <a:pt x="0" y="107315"/>
                  </a:lnTo>
                  <a:lnTo>
                    <a:pt x="6350" y="107315"/>
                  </a:lnTo>
                  <a:lnTo>
                    <a:pt x="0" y="107315"/>
                  </a:lnTo>
                  <a:moveTo>
                    <a:pt x="12700" y="107315"/>
                  </a:moveTo>
                  <a:lnTo>
                    <a:pt x="12700" y="446151"/>
                  </a:lnTo>
                  <a:lnTo>
                    <a:pt x="6350" y="446151"/>
                  </a:lnTo>
                  <a:lnTo>
                    <a:pt x="12700" y="446151"/>
                  </a:lnTo>
                  <a:cubicBezTo>
                    <a:pt x="12700" y="498348"/>
                    <a:pt x="55118" y="540766"/>
                    <a:pt x="107315" y="540766"/>
                  </a:cubicBezTo>
                  <a:lnTo>
                    <a:pt x="446151" y="540766"/>
                  </a:lnTo>
                  <a:cubicBezTo>
                    <a:pt x="498348" y="540766"/>
                    <a:pt x="540766" y="498348"/>
                    <a:pt x="540766" y="446151"/>
                  </a:cubicBezTo>
                  <a:lnTo>
                    <a:pt x="540766" y="107315"/>
                  </a:lnTo>
                  <a:cubicBezTo>
                    <a:pt x="540766" y="55118"/>
                    <a:pt x="498348" y="12700"/>
                    <a:pt x="446151" y="12700"/>
                  </a:cubicBezTo>
                  <a:lnTo>
                    <a:pt x="107315" y="12700"/>
                  </a:lnTo>
                  <a:lnTo>
                    <a:pt x="107315" y="6350"/>
                  </a:lnTo>
                  <a:lnTo>
                    <a:pt x="107315" y="12700"/>
                  </a:lnTo>
                  <a:cubicBezTo>
                    <a:pt x="55118" y="12700"/>
                    <a:pt x="12700" y="55118"/>
                    <a:pt x="12700" y="107315"/>
                  </a:cubicBezTo>
                  <a:close/>
                </a:path>
              </a:pathLst>
            </a:custGeom>
            <a:solidFill>
              <a:srgbClr val="C0C1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81" name="Google Shape;381;p22"/>
          <p:cNvSpPr txBox="1"/>
          <p:nvPr/>
        </p:nvSpPr>
        <p:spPr>
          <a:xfrm>
            <a:off x="13321382" y="4184897"/>
            <a:ext cx="270421" cy="29988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125" b="1">
                <a:solidFill>
                  <a:srgbClr val="272525"/>
                </a:solidFill>
                <a:latin typeface="Inter"/>
                <a:ea typeface="Inter"/>
                <a:cs typeface="Inter"/>
                <a:sym typeface="Inter"/>
              </a:rPr>
              <a:t>3</a:t>
            </a:r>
            <a:endParaRPr/>
          </a:p>
        </p:txBody>
      </p:sp>
      <p:sp>
        <p:nvSpPr>
          <p:cNvPr id="382" name="Google Shape;382;p22"/>
          <p:cNvSpPr txBox="1"/>
          <p:nvPr/>
        </p:nvSpPr>
        <p:spPr>
          <a:xfrm>
            <a:off x="12193190" y="1410295"/>
            <a:ext cx="2527250" cy="336631"/>
          </a:xfrm>
          <a:prstGeom prst="rect">
            <a:avLst/>
          </a:prstGeom>
          <a:noFill/>
          <a:ln>
            <a:noFill/>
          </a:ln>
        </p:spPr>
        <p:txBody>
          <a:bodyPr spcFirstLastPara="1" wrap="square" lIns="0" tIns="0" rIns="0" bIns="0" anchor="t" anchorCtr="0">
            <a:spAutoFit/>
          </a:bodyPr>
          <a:lstStyle/>
          <a:p>
            <a:pPr marL="0" marR="0" lvl="0" indent="0" algn="ctr" rtl="0">
              <a:lnSpc>
                <a:spcPct val="124971"/>
              </a:lnSpc>
              <a:spcBef>
                <a:spcPts val="0"/>
              </a:spcBef>
              <a:spcAft>
                <a:spcPts val="0"/>
              </a:spcAft>
              <a:buNone/>
            </a:pPr>
            <a:r>
              <a:rPr lang="en-US" sz="1750" b="1" dirty="0">
                <a:solidFill>
                  <a:srgbClr val="272525"/>
                </a:solidFill>
                <a:latin typeface="Inter"/>
                <a:ea typeface="Inter"/>
                <a:cs typeface="Inter"/>
                <a:sym typeface="Inter"/>
              </a:rPr>
              <a:t>Phase 3:</a:t>
            </a:r>
            <a:endParaRPr dirty="0"/>
          </a:p>
        </p:txBody>
      </p:sp>
      <p:sp>
        <p:nvSpPr>
          <p:cNvPr id="383" name="Google Shape;383;p22"/>
          <p:cNvSpPr txBox="1"/>
          <p:nvPr/>
        </p:nvSpPr>
        <p:spPr>
          <a:xfrm>
            <a:off x="9436894" y="1752303"/>
            <a:ext cx="8039844" cy="345728"/>
          </a:xfrm>
          <a:prstGeom prst="rect">
            <a:avLst/>
          </a:prstGeom>
          <a:noFill/>
          <a:ln>
            <a:noFill/>
          </a:ln>
        </p:spPr>
        <p:txBody>
          <a:bodyPr spcFirstLastPara="1" wrap="square" lIns="0" tIns="0" rIns="0" bIns="0" anchor="t" anchorCtr="0">
            <a:spAutoFit/>
          </a:bodyPr>
          <a:lstStyle/>
          <a:p>
            <a:pPr marL="0" marR="0" lvl="0" indent="0" algn="ctr" rtl="0">
              <a:lnSpc>
                <a:spcPct val="163636"/>
              </a:lnSpc>
              <a:spcBef>
                <a:spcPts val="0"/>
              </a:spcBef>
              <a:spcAft>
                <a:spcPts val="0"/>
              </a:spcAft>
              <a:buNone/>
            </a:pPr>
            <a:r>
              <a:rPr lang="en-US" sz="1375" b="1">
                <a:solidFill>
                  <a:srgbClr val="272525"/>
                </a:solidFill>
                <a:latin typeface="Inter"/>
                <a:ea typeface="Inter"/>
                <a:cs typeface="Inter"/>
                <a:sym typeface="Inter"/>
              </a:rPr>
              <a:t>Focus:</a:t>
            </a:r>
            <a:r>
              <a:rPr lang="en-US" sz="1375">
                <a:solidFill>
                  <a:srgbClr val="272525"/>
                </a:solidFill>
                <a:latin typeface="Inter"/>
                <a:ea typeface="Inter"/>
                <a:cs typeface="Inter"/>
                <a:sym typeface="Inter"/>
              </a:rPr>
              <a:t> Real-time Optimisation</a:t>
            </a:r>
            <a:endParaRPr/>
          </a:p>
        </p:txBody>
      </p:sp>
      <p:sp>
        <p:nvSpPr>
          <p:cNvPr id="384" name="Google Shape;384;p22"/>
          <p:cNvSpPr txBox="1"/>
          <p:nvPr/>
        </p:nvSpPr>
        <p:spPr>
          <a:xfrm>
            <a:off x="9436894" y="2148929"/>
            <a:ext cx="8039844" cy="345728"/>
          </a:xfrm>
          <a:prstGeom prst="rect">
            <a:avLst/>
          </a:prstGeom>
          <a:noFill/>
          <a:ln>
            <a:noFill/>
          </a:ln>
        </p:spPr>
        <p:txBody>
          <a:bodyPr spcFirstLastPara="1" wrap="square" lIns="0" tIns="0" rIns="0" bIns="0" anchor="t" anchorCtr="0">
            <a:spAutoFit/>
          </a:bodyPr>
          <a:lstStyle/>
          <a:p>
            <a:pPr marL="207367" marR="0" lvl="1" indent="-103683" algn="l" rtl="0">
              <a:lnSpc>
                <a:spcPct val="163636"/>
              </a:lnSpc>
              <a:spcBef>
                <a:spcPts val="0"/>
              </a:spcBef>
              <a:spcAft>
                <a:spcPts val="0"/>
              </a:spcAft>
              <a:buClr>
                <a:srgbClr val="272525"/>
              </a:buClr>
              <a:buSzPts val="1375"/>
              <a:buFont typeface="Arial"/>
              <a:buChar char="•"/>
            </a:pPr>
            <a:r>
              <a:rPr lang="en-US" sz="1375" b="0" i="0" u="none" strike="noStrike" cap="none">
                <a:solidFill>
                  <a:srgbClr val="272525"/>
                </a:solidFill>
                <a:latin typeface="Inter"/>
                <a:ea typeface="Inter"/>
                <a:cs typeface="Inter"/>
                <a:sym typeface="Inter"/>
              </a:rPr>
              <a:t>Dynamic line rating system</a:t>
            </a:r>
            <a:endParaRPr/>
          </a:p>
        </p:txBody>
      </p:sp>
      <p:sp>
        <p:nvSpPr>
          <p:cNvPr id="385" name="Google Shape;385;p22"/>
          <p:cNvSpPr txBox="1"/>
          <p:nvPr/>
        </p:nvSpPr>
        <p:spPr>
          <a:xfrm>
            <a:off x="9436894" y="2500610"/>
            <a:ext cx="8039844" cy="345727"/>
          </a:xfrm>
          <a:prstGeom prst="rect">
            <a:avLst/>
          </a:prstGeom>
          <a:noFill/>
          <a:ln>
            <a:noFill/>
          </a:ln>
        </p:spPr>
        <p:txBody>
          <a:bodyPr spcFirstLastPara="1" wrap="square" lIns="0" tIns="0" rIns="0" bIns="0" anchor="t" anchorCtr="0">
            <a:spAutoFit/>
          </a:bodyPr>
          <a:lstStyle/>
          <a:p>
            <a:pPr marL="207367" marR="0" lvl="1" indent="-103683" algn="l" rtl="0">
              <a:lnSpc>
                <a:spcPct val="163636"/>
              </a:lnSpc>
              <a:spcBef>
                <a:spcPts val="0"/>
              </a:spcBef>
              <a:spcAft>
                <a:spcPts val="0"/>
              </a:spcAft>
              <a:buClr>
                <a:srgbClr val="272525"/>
              </a:buClr>
              <a:buSzPts val="1375"/>
              <a:buFont typeface="Arial"/>
              <a:buChar char="•"/>
            </a:pPr>
            <a:r>
              <a:rPr lang="en-US" sz="1375" b="0" i="0" u="none" strike="noStrike" cap="none">
                <a:solidFill>
                  <a:srgbClr val="272525"/>
                </a:solidFill>
                <a:latin typeface="Inter"/>
                <a:ea typeface="Inter"/>
                <a:cs typeface="Inter"/>
                <a:sym typeface="Inter"/>
              </a:rPr>
              <a:t>VPP coordination agents</a:t>
            </a:r>
            <a:endParaRPr/>
          </a:p>
        </p:txBody>
      </p:sp>
      <p:sp>
        <p:nvSpPr>
          <p:cNvPr id="386" name="Google Shape;386;p22"/>
          <p:cNvSpPr txBox="1"/>
          <p:nvPr/>
        </p:nvSpPr>
        <p:spPr>
          <a:xfrm>
            <a:off x="9436894" y="2852291"/>
            <a:ext cx="8039844" cy="345727"/>
          </a:xfrm>
          <a:prstGeom prst="rect">
            <a:avLst/>
          </a:prstGeom>
          <a:noFill/>
          <a:ln>
            <a:noFill/>
          </a:ln>
        </p:spPr>
        <p:txBody>
          <a:bodyPr spcFirstLastPara="1" wrap="square" lIns="0" tIns="0" rIns="0" bIns="0" anchor="t" anchorCtr="0">
            <a:spAutoFit/>
          </a:bodyPr>
          <a:lstStyle/>
          <a:p>
            <a:pPr marL="207367" marR="0" lvl="1" indent="-103683" algn="l" rtl="0">
              <a:lnSpc>
                <a:spcPct val="163636"/>
              </a:lnSpc>
              <a:spcBef>
                <a:spcPts val="0"/>
              </a:spcBef>
              <a:spcAft>
                <a:spcPts val="0"/>
              </a:spcAft>
              <a:buClr>
                <a:srgbClr val="272525"/>
              </a:buClr>
              <a:buSzPts val="1375"/>
              <a:buFont typeface="Arial"/>
              <a:buChar char="•"/>
            </a:pPr>
            <a:r>
              <a:rPr lang="en-US" sz="1375" b="0" i="0" u="none" strike="noStrike" cap="none">
                <a:solidFill>
                  <a:srgbClr val="272525"/>
                </a:solidFill>
                <a:latin typeface="Inter"/>
                <a:ea typeface="Inter"/>
                <a:cs typeface="Inter"/>
                <a:sym typeface="Inter"/>
              </a:rPr>
              <a:t>Predictive capacity planning</a:t>
            </a:r>
            <a:endParaRPr/>
          </a:p>
        </p:txBody>
      </p:sp>
      <p:sp>
        <p:nvSpPr>
          <p:cNvPr id="387" name="Google Shape;387;p22"/>
          <p:cNvSpPr txBox="1"/>
          <p:nvPr/>
        </p:nvSpPr>
        <p:spPr>
          <a:xfrm>
            <a:off x="9436894" y="3248918"/>
            <a:ext cx="8039844" cy="345727"/>
          </a:xfrm>
          <a:prstGeom prst="rect">
            <a:avLst/>
          </a:prstGeom>
          <a:noFill/>
          <a:ln>
            <a:noFill/>
          </a:ln>
        </p:spPr>
        <p:txBody>
          <a:bodyPr spcFirstLastPara="1" wrap="square" lIns="0" tIns="0" rIns="0" bIns="0" anchor="t" anchorCtr="0">
            <a:spAutoFit/>
          </a:bodyPr>
          <a:lstStyle/>
          <a:p>
            <a:pPr marL="0" marR="0" lvl="0" indent="0" algn="ctr" rtl="0">
              <a:lnSpc>
                <a:spcPct val="163636"/>
              </a:lnSpc>
              <a:spcBef>
                <a:spcPts val="0"/>
              </a:spcBef>
              <a:spcAft>
                <a:spcPts val="0"/>
              </a:spcAft>
              <a:buNone/>
            </a:pPr>
            <a:r>
              <a:rPr lang="en-US" sz="1375" b="1">
                <a:solidFill>
                  <a:srgbClr val="272525"/>
                </a:solidFill>
                <a:latin typeface="Inter"/>
                <a:ea typeface="Inter"/>
                <a:cs typeface="Inter"/>
                <a:sym typeface="Inter"/>
              </a:rPr>
              <a:t>Outcome:</a:t>
            </a:r>
            <a:r>
              <a:rPr lang="en-US" sz="1375">
                <a:solidFill>
                  <a:srgbClr val="272525"/>
                </a:solidFill>
                <a:latin typeface="Inter"/>
                <a:ea typeface="Inter"/>
                <a:cs typeface="Inter"/>
                <a:sym typeface="Inter"/>
              </a:rPr>
              <a:t> 30% capacity increase</a:t>
            </a:r>
            <a:endParaRPr/>
          </a:p>
        </p:txBody>
      </p:sp>
      <p:sp>
        <p:nvSpPr>
          <p:cNvPr id="388" name="Google Shape;388;p22"/>
          <p:cNvSpPr txBox="1"/>
          <p:nvPr/>
        </p:nvSpPr>
        <p:spPr>
          <a:xfrm>
            <a:off x="631031" y="7472809"/>
            <a:ext cx="3606105" cy="460176"/>
          </a:xfrm>
          <a:prstGeom prst="rect">
            <a:avLst/>
          </a:prstGeom>
          <a:noFill/>
          <a:ln>
            <a:noFill/>
          </a:ln>
        </p:spPr>
        <p:txBody>
          <a:bodyPr spcFirstLastPara="1" wrap="square" lIns="0" tIns="0" rIns="0" bIns="0" anchor="t" anchorCtr="0">
            <a:spAutoFit/>
          </a:bodyPr>
          <a:lstStyle/>
          <a:p>
            <a:pPr marL="0" marR="0" lvl="0" indent="0" algn="l" rtl="0">
              <a:lnSpc>
                <a:spcPct val="124431"/>
              </a:lnSpc>
              <a:spcBef>
                <a:spcPts val="0"/>
              </a:spcBef>
              <a:spcAft>
                <a:spcPts val="0"/>
              </a:spcAft>
              <a:buNone/>
            </a:pPr>
            <a:r>
              <a:rPr lang="en-US" sz="2812" b="1">
                <a:solidFill>
                  <a:srgbClr val="000000"/>
                </a:solidFill>
                <a:latin typeface="Inter"/>
                <a:ea typeface="Inter"/>
                <a:cs typeface="Inter"/>
                <a:sym typeface="Inter"/>
              </a:rPr>
              <a:t>Overall Impact</a:t>
            </a:r>
            <a:endParaRPr/>
          </a:p>
        </p:txBody>
      </p:sp>
      <p:sp>
        <p:nvSpPr>
          <p:cNvPr id="389" name="Google Shape;389;p22"/>
          <p:cNvSpPr txBox="1"/>
          <p:nvPr/>
        </p:nvSpPr>
        <p:spPr>
          <a:xfrm>
            <a:off x="631031" y="8379172"/>
            <a:ext cx="5525095" cy="50929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625" b="1">
                <a:solidFill>
                  <a:srgbClr val="272525"/>
                </a:solidFill>
                <a:latin typeface="Inter"/>
                <a:ea typeface="Inter"/>
                <a:cs typeface="Inter"/>
                <a:sym typeface="Inter"/>
              </a:rPr>
              <a:t>80%</a:t>
            </a:r>
            <a:endParaRPr/>
          </a:p>
        </p:txBody>
      </p:sp>
      <p:sp>
        <p:nvSpPr>
          <p:cNvPr id="390" name="Google Shape;390;p22"/>
          <p:cNvSpPr txBox="1"/>
          <p:nvPr/>
        </p:nvSpPr>
        <p:spPr>
          <a:xfrm>
            <a:off x="2266652" y="9104114"/>
            <a:ext cx="2253854" cy="291108"/>
          </a:xfrm>
          <a:prstGeom prst="rect">
            <a:avLst/>
          </a:prstGeom>
          <a:noFill/>
          <a:ln>
            <a:noFill/>
          </a:ln>
        </p:spPr>
        <p:txBody>
          <a:bodyPr spcFirstLastPara="1" wrap="square" lIns="0" tIns="0" rIns="0" bIns="0" anchor="t" anchorCtr="0">
            <a:spAutoFit/>
          </a:bodyPr>
          <a:lstStyle/>
          <a:p>
            <a:pPr marL="0" marR="0" lvl="0" indent="0" algn="ctr" rtl="0">
              <a:lnSpc>
                <a:spcPct val="124971"/>
              </a:lnSpc>
              <a:spcBef>
                <a:spcPts val="0"/>
              </a:spcBef>
              <a:spcAft>
                <a:spcPts val="0"/>
              </a:spcAft>
              <a:buNone/>
            </a:pPr>
            <a:r>
              <a:rPr lang="en-US" sz="1750" b="1">
                <a:solidFill>
                  <a:srgbClr val="272525"/>
                </a:solidFill>
                <a:latin typeface="Inter"/>
                <a:ea typeface="Inter"/>
                <a:cs typeface="Inter"/>
                <a:sym typeface="Inter"/>
              </a:rPr>
              <a:t>Time Reduction</a:t>
            </a:r>
            <a:endParaRPr/>
          </a:p>
        </p:txBody>
      </p:sp>
      <p:sp>
        <p:nvSpPr>
          <p:cNvPr id="391" name="Google Shape;391;p22"/>
          <p:cNvSpPr txBox="1"/>
          <p:nvPr/>
        </p:nvSpPr>
        <p:spPr>
          <a:xfrm>
            <a:off x="631031" y="9446121"/>
            <a:ext cx="5525095" cy="345727"/>
          </a:xfrm>
          <a:prstGeom prst="rect">
            <a:avLst/>
          </a:prstGeom>
          <a:noFill/>
          <a:ln>
            <a:noFill/>
          </a:ln>
        </p:spPr>
        <p:txBody>
          <a:bodyPr spcFirstLastPara="1" wrap="square" lIns="0" tIns="0" rIns="0" bIns="0" anchor="t" anchorCtr="0">
            <a:spAutoFit/>
          </a:bodyPr>
          <a:lstStyle/>
          <a:p>
            <a:pPr marL="0" marR="0" lvl="0" indent="0" algn="ctr" rtl="0">
              <a:lnSpc>
                <a:spcPct val="163636"/>
              </a:lnSpc>
              <a:spcBef>
                <a:spcPts val="0"/>
              </a:spcBef>
              <a:spcAft>
                <a:spcPts val="0"/>
              </a:spcAft>
              <a:buNone/>
            </a:pPr>
            <a:r>
              <a:rPr lang="en-US" sz="1375">
                <a:solidFill>
                  <a:srgbClr val="272525"/>
                </a:solidFill>
                <a:latin typeface="Inter"/>
                <a:ea typeface="Inter"/>
                <a:cs typeface="Inter"/>
                <a:sym typeface="Inter"/>
              </a:rPr>
              <a:t>Queue time drops from 5 years to 1-2 years</a:t>
            </a:r>
            <a:endParaRPr/>
          </a:p>
        </p:txBody>
      </p:sp>
      <p:sp>
        <p:nvSpPr>
          <p:cNvPr id="392" name="Google Shape;392;p22"/>
          <p:cNvSpPr txBox="1"/>
          <p:nvPr/>
        </p:nvSpPr>
        <p:spPr>
          <a:xfrm>
            <a:off x="6381452" y="8379172"/>
            <a:ext cx="5525095" cy="50929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625" b="1">
                <a:solidFill>
                  <a:srgbClr val="272525"/>
                </a:solidFill>
                <a:latin typeface="Inter"/>
                <a:ea typeface="Inter"/>
                <a:cs typeface="Inter"/>
                <a:sym typeface="Inter"/>
              </a:rPr>
              <a:t>$20B+</a:t>
            </a:r>
            <a:endParaRPr/>
          </a:p>
        </p:txBody>
      </p:sp>
      <p:sp>
        <p:nvSpPr>
          <p:cNvPr id="393" name="Google Shape;393;p22"/>
          <p:cNvSpPr txBox="1"/>
          <p:nvPr/>
        </p:nvSpPr>
        <p:spPr>
          <a:xfrm>
            <a:off x="8017074" y="9104114"/>
            <a:ext cx="2253854" cy="291108"/>
          </a:xfrm>
          <a:prstGeom prst="rect">
            <a:avLst/>
          </a:prstGeom>
          <a:noFill/>
          <a:ln>
            <a:noFill/>
          </a:ln>
        </p:spPr>
        <p:txBody>
          <a:bodyPr spcFirstLastPara="1" wrap="square" lIns="0" tIns="0" rIns="0" bIns="0" anchor="t" anchorCtr="0">
            <a:spAutoFit/>
          </a:bodyPr>
          <a:lstStyle/>
          <a:p>
            <a:pPr marL="0" marR="0" lvl="0" indent="0" algn="ctr" rtl="0">
              <a:lnSpc>
                <a:spcPct val="124971"/>
              </a:lnSpc>
              <a:spcBef>
                <a:spcPts val="0"/>
              </a:spcBef>
              <a:spcAft>
                <a:spcPts val="0"/>
              </a:spcAft>
              <a:buNone/>
            </a:pPr>
            <a:r>
              <a:rPr lang="en-US" sz="1750" b="1">
                <a:solidFill>
                  <a:srgbClr val="272525"/>
                </a:solidFill>
                <a:latin typeface="Inter"/>
                <a:ea typeface="Inter"/>
                <a:cs typeface="Inter"/>
                <a:sym typeface="Inter"/>
              </a:rPr>
              <a:t>Cost Savings</a:t>
            </a:r>
            <a:endParaRPr/>
          </a:p>
        </p:txBody>
      </p:sp>
      <p:sp>
        <p:nvSpPr>
          <p:cNvPr id="394" name="Google Shape;394;p22"/>
          <p:cNvSpPr txBox="1"/>
          <p:nvPr/>
        </p:nvSpPr>
        <p:spPr>
          <a:xfrm>
            <a:off x="6381452" y="9446121"/>
            <a:ext cx="5525095" cy="345727"/>
          </a:xfrm>
          <a:prstGeom prst="rect">
            <a:avLst/>
          </a:prstGeom>
          <a:noFill/>
          <a:ln>
            <a:noFill/>
          </a:ln>
        </p:spPr>
        <p:txBody>
          <a:bodyPr spcFirstLastPara="1" wrap="square" lIns="0" tIns="0" rIns="0" bIns="0" anchor="t" anchorCtr="0">
            <a:spAutoFit/>
          </a:bodyPr>
          <a:lstStyle/>
          <a:p>
            <a:pPr marL="0" marR="0" lvl="0" indent="0" algn="ctr" rtl="0">
              <a:lnSpc>
                <a:spcPct val="163636"/>
              </a:lnSpc>
              <a:spcBef>
                <a:spcPts val="0"/>
              </a:spcBef>
              <a:spcAft>
                <a:spcPts val="0"/>
              </a:spcAft>
              <a:buNone/>
            </a:pPr>
            <a:r>
              <a:rPr lang="en-US" sz="1375">
                <a:solidFill>
                  <a:srgbClr val="272525"/>
                </a:solidFill>
                <a:latin typeface="Inter"/>
                <a:ea typeface="Inter"/>
                <a:cs typeface="Inter"/>
                <a:sym typeface="Inter"/>
              </a:rPr>
              <a:t>Annual reduction in delays and congestion costs</a:t>
            </a:r>
            <a:endParaRPr/>
          </a:p>
        </p:txBody>
      </p:sp>
      <p:sp>
        <p:nvSpPr>
          <p:cNvPr id="395" name="Google Shape;395;p22"/>
          <p:cNvSpPr txBox="1"/>
          <p:nvPr/>
        </p:nvSpPr>
        <p:spPr>
          <a:xfrm>
            <a:off x="12131874" y="8379172"/>
            <a:ext cx="5525095" cy="50929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625" b="1">
                <a:solidFill>
                  <a:srgbClr val="272525"/>
                </a:solidFill>
                <a:latin typeface="Inter"/>
                <a:ea typeface="Inter"/>
                <a:cs typeface="Inter"/>
                <a:sym typeface="Inter"/>
              </a:rPr>
              <a:t>6TW</a:t>
            </a:r>
            <a:endParaRPr/>
          </a:p>
        </p:txBody>
      </p:sp>
      <p:sp>
        <p:nvSpPr>
          <p:cNvPr id="396" name="Google Shape;396;p22"/>
          <p:cNvSpPr txBox="1"/>
          <p:nvPr/>
        </p:nvSpPr>
        <p:spPr>
          <a:xfrm>
            <a:off x="13767495" y="9104114"/>
            <a:ext cx="2253854" cy="291108"/>
          </a:xfrm>
          <a:prstGeom prst="rect">
            <a:avLst/>
          </a:prstGeom>
          <a:noFill/>
          <a:ln>
            <a:noFill/>
          </a:ln>
        </p:spPr>
        <p:txBody>
          <a:bodyPr spcFirstLastPara="1" wrap="square" lIns="0" tIns="0" rIns="0" bIns="0" anchor="t" anchorCtr="0">
            <a:spAutoFit/>
          </a:bodyPr>
          <a:lstStyle/>
          <a:p>
            <a:pPr marL="0" marR="0" lvl="0" indent="0" algn="ctr" rtl="0">
              <a:lnSpc>
                <a:spcPct val="124971"/>
              </a:lnSpc>
              <a:spcBef>
                <a:spcPts val="0"/>
              </a:spcBef>
              <a:spcAft>
                <a:spcPts val="0"/>
              </a:spcAft>
              <a:buNone/>
            </a:pPr>
            <a:r>
              <a:rPr lang="en-US" sz="1750" b="1">
                <a:solidFill>
                  <a:srgbClr val="272525"/>
                </a:solidFill>
                <a:latin typeface="Inter"/>
                <a:ea typeface="Inter"/>
                <a:cs typeface="Inter"/>
                <a:sym typeface="Inter"/>
              </a:rPr>
              <a:t>Clean Energy</a:t>
            </a:r>
            <a:endParaRPr/>
          </a:p>
        </p:txBody>
      </p:sp>
      <p:sp>
        <p:nvSpPr>
          <p:cNvPr id="397" name="Google Shape;397;p22"/>
          <p:cNvSpPr txBox="1"/>
          <p:nvPr/>
        </p:nvSpPr>
        <p:spPr>
          <a:xfrm>
            <a:off x="12131874" y="9446121"/>
            <a:ext cx="5525095" cy="345727"/>
          </a:xfrm>
          <a:prstGeom prst="rect">
            <a:avLst/>
          </a:prstGeom>
          <a:noFill/>
          <a:ln>
            <a:noFill/>
          </a:ln>
        </p:spPr>
        <p:txBody>
          <a:bodyPr spcFirstLastPara="1" wrap="square" lIns="0" tIns="0" rIns="0" bIns="0" anchor="t" anchorCtr="0">
            <a:spAutoFit/>
          </a:bodyPr>
          <a:lstStyle/>
          <a:p>
            <a:pPr marL="0" marR="0" lvl="0" indent="0" algn="ctr" rtl="0">
              <a:lnSpc>
                <a:spcPct val="163636"/>
              </a:lnSpc>
              <a:spcBef>
                <a:spcPts val="0"/>
              </a:spcBef>
              <a:spcAft>
                <a:spcPts val="0"/>
              </a:spcAft>
              <a:buNone/>
            </a:pPr>
            <a:r>
              <a:rPr lang="en-US" sz="1375">
                <a:solidFill>
                  <a:srgbClr val="272525"/>
                </a:solidFill>
                <a:latin typeface="Inter"/>
                <a:ea typeface="Inter"/>
                <a:cs typeface="Inter"/>
                <a:sym typeface="Inter"/>
              </a:rPr>
              <a:t>Accelerated deployment of renewable projects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1337</Words>
  <Application>Microsoft Office PowerPoint</Application>
  <PresentationFormat>Custom</PresentationFormat>
  <Paragraphs>245</Paragraphs>
  <Slides>30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Inter</vt:lpstr>
      <vt:lpstr>Calibri</vt:lpstr>
      <vt:lpstr>Inter Light</vt:lpstr>
      <vt:lpstr>Verdana</vt:lpstr>
      <vt:lpstr>-apple-system</vt:lpstr>
      <vt:lpstr>Arial</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RK</dc:creator>
  <cp:lastModifiedBy>RK Rao</cp:lastModifiedBy>
  <cp:revision>15</cp:revision>
  <dcterms:modified xsi:type="dcterms:W3CDTF">2025-11-03T08:31:20Z</dcterms:modified>
</cp:coreProperties>
</file>